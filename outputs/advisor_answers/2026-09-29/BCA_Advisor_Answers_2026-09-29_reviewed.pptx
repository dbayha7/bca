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85c76ae5fc4172" /><Relationship Type="http://schemas.openxmlformats.org/officeDocument/2006/relationships/extended-properties" Target="/docProps/app.xml" Id="Re829fc2970d94705" /><Relationship Type="http://schemas.openxmlformats.org/officeDocument/2006/relationships/officeDocument" Target="/ppt/presentation.xml" Id="R97262d6516f64800" /></Relationships>
</file>

<file path=ppt/presentation.xml><?xml version="1.0" encoding="utf-8"?>
<p:presentation xmlns:p="http://schemas.openxmlformats.org/presentationml/2006/main">
  <p:sldMasterIdLst>
    <p:sldMasterId xmlns:r="http://schemas.openxmlformats.org/officeDocument/2006/relationships" id="2147483648" r:id="R72b690789c3c45a0"/>
  </p:sldMasterIdLst>
  <p:notesMasterIdLst>
    <p:notesMasterId xmlns:r="http://schemas.openxmlformats.org/officeDocument/2006/relationships" r:id="R70fd7d9e743e411a"/>
  </p:notesMasterIdLst>
  <p:sldIdLst>
    <p:sldId xmlns:r="http://schemas.openxmlformats.org/officeDocument/2006/relationships" id="256" r:id="R81d0473833a240cd"/>
    <p:sldId xmlns:r="http://schemas.openxmlformats.org/officeDocument/2006/relationships" id="257" r:id="R6734a641b4294da7"/>
    <p:sldId xmlns:r="http://schemas.openxmlformats.org/officeDocument/2006/relationships" id="258" r:id="Rc1929e07ead94eb5"/>
    <p:sldId xmlns:r="http://schemas.openxmlformats.org/officeDocument/2006/relationships" id="259" r:id="R7f3485edf3464cce"/>
    <p:sldId xmlns:r="http://schemas.openxmlformats.org/officeDocument/2006/relationships" id="260" r:id="R5f712164ff664d5a"/>
    <p:sldId xmlns:r="http://schemas.openxmlformats.org/officeDocument/2006/relationships" id="261" r:id="Re992a35126bb4c66"/>
    <p:sldId xmlns:r="http://schemas.openxmlformats.org/officeDocument/2006/relationships" id="262" r:id="Rc419f134dd5e4fe3"/>
    <p:sldId xmlns:r="http://schemas.openxmlformats.org/officeDocument/2006/relationships" id="263" r:id="R48f57b0fde964b1a"/>
    <p:sldId xmlns:r="http://schemas.openxmlformats.org/officeDocument/2006/relationships" id="264" r:id="Rbe10386ae9604bc8"/>
    <p:sldId xmlns:r="http://schemas.openxmlformats.org/officeDocument/2006/relationships" id="265" r:id="R5fac488e7e3a4cf6"/>
    <p:sldId xmlns:r="http://schemas.openxmlformats.org/officeDocument/2006/relationships" id="266" r:id="R899eea18d8144a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6d811dd6c47f1" /><Relationship Type="http://schemas.openxmlformats.org/officeDocument/2006/relationships/slideMaster" Target="/ppt/slideMasters/slideMaster1.xml" Id="R72b690789c3c45a0" /><Relationship Type="http://schemas.openxmlformats.org/officeDocument/2006/relationships/notesMaster" Target="/ppt/notesMasters/notesMaster1.xml" Id="R70fd7d9e743e411a" /><Relationship Type="http://schemas.openxmlformats.org/officeDocument/2006/relationships/presProps" Target="/ppt/presProps.xml" Id="R16dc8633584f495e" /><Relationship Type="http://schemas.openxmlformats.org/officeDocument/2006/relationships/tableStyles" Target="/ppt/tableStyles.xml" Id="Rc08ce21342e74b98" /><Relationship Type="http://schemas.openxmlformats.org/officeDocument/2006/relationships/slide" Target="/ppt/slides/slide1.xml" Id="R81d0473833a240cd" /><Relationship Type="http://schemas.openxmlformats.org/officeDocument/2006/relationships/slide" Target="/ppt/slides/slide2.xml" Id="R6734a641b4294da7" /><Relationship Type="http://schemas.openxmlformats.org/officeDocument/2006/relationships/slide" Target="/ppt/slides/slide3.xml" Id="Rc1929e07ead94eb5" /><Relationship Type="http://schemas.openxmlformats.org/officeDocument/2006/relationships/slide" Target="/ppt/slides/slide4.xml" Id="R7f3485edf3464cce" /><Relationship Type="http://schemas.openxmlformats.org/officeDocument/2006/relationships/slide" Target="/ppt/slides/slide5.xml" Id="R5f712164ff664d5a" /><Relationship Type="http://schemas.openxmlformats.org/officeDocument/2006/relationships/slide" Target="/ppt/slides/slide6.xml" Id="Re992a35126bb4c66" /><Relationship Type="http://schemas.openxmlformats.org/officeDocument/2006/relationships/slide" Target="/ppt/slides/slide7.xml" Id="Rc419f134dd5e4fe3" /><Relationship Type="http://schemas.openxmlformats.org/officeDocument/2006/relationships/slide" Target="/ppt/slides/slide8.xml" Id="R48f57b0fde964b1a" /><Relationship Type="http://schemas.openxmlformats.org/officeDocument/2006/relationships/slide" Target="/ppt/slides/slide9.xml" Id="Rbe10386ae9604bc8" /><Relationship Type="http://schemas.openxmlformats.org/officeDocument/2006/relationships/slide" Target="/ppt/slides/slide10.xml" Id="R5fac488e7e3a4cf6" /><Relationship Type="http://schemas.openxmlformats.org/officeDocument/2006/relationships/slide" Target="/ppt/slides/slide11.xml" Id="R899eea18d8144a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c138944044c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d4b837803840d0" /><Relationship Type="http://schemas.openxmlformats.org/officeDocument/2006/relationships/notesMaster" Target="/ppt/notesMasters/notesMaster1.xml" Id="R2da904f5c6da4b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d1527a9c764f2e" /><Relationship Type="http://schemas.openxmlformats.org/officeDocument/2006/relationships/notesMaster" Target="/ppt/notesMasters/notesMaster1.xml" Id="Redfdf3f538e242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48acc934ff413e" /><Relationship Type="http://schemas.openxmlformats.org/officeDocument/2006/relationships/notesMaster" Target="/ppt/notesMasters/notesMaster1.xml" Id="R9f4a6cf5d3e44a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d4fd27a8184d09" /><Relationship Type="http://schemas.openxmlformats.org/officeDocument/2006/relationships/notesMaster" Target="/ppt/notesMasters/notesMaster1.xml" Id="R67045cde143441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1b044f758b4007" /><Relationship Type="http://schemas.openxmlformats.org/officeDocument/2006/relationships/notesMaster" Target="/ppt/notesMasters/notesMaster1.xml" Id="R4b339aef53f343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768bc729674a6f" /><Relationship Type="http://schemas.openxmlformats.org/officeDocument/2006/relationships/notesMaster" Target="/ppt/notesMasters/notesMaster1.xml" Id="R12da1ace5b8a40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2d68796e6e4909" /><Relationship Type="http://schemas.openxmlformats.org/officeDocument/2006/relationships/notesMaster" Target="/ppt/notesMasters/notesMaster1.xml" Id="Raf87dfce61344c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19090596cd4602" /><Relationship Type="http://schemas.openxmlformats.org/officeDocument/2006/relationships/notesMaster" Target="/ppt/notesMasters/notesMaster1.xml" Id="R9269e1de3f3349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fca28a9c9b44ea" /><Relationship Type="http://schemas.openxmlformats.org/officeDocument/2006/relationships/notesMaster" Target="/ppt/notesMasters/notesMaster1.xml" Id="R5232cd7d9ede4b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450aeb24da45ff" /><Relationship Type="http://schemas.openxmlformats.org/officeDocument/2006/relationships/notesMaster" Target="/ppt/notesMasters/notesMaster1.xml" Id="Rc568aadb672d42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93ceff87a44879" /><Relationship Type="http://schemas.openxmlformats.org/officeDocument/2006/relationships/notesMaster" Target="/ppt/notesMasters/notesMaster1.xml" Id="R47833d9bb1844b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Why do this, and what does it accomplish? Our objective is to test whether BCA improves decisions involving poorly represented actions. A high whole-policy return does not identify OOD handling, and a small Bellman error does not establish true long-run value accuracy. BCA fits prediction errors against bootstrapped targets, not known true Q-values. We separate warning quality, first-action choice and behavior after the same imposed action. The hypothesis is that learned residual scale can guide useful host-specific caution; this is not an established causal mechanism. Standard BCA keeps Bayesian and conformal components with equal calibration-fitting importance factors.</a:t>
            </a:r>
          </a:p>
          <a:p xmlns:a="http://schemas.openxmlformats.org/drawingml/2006/main">
            <a:r>
              <a:t>Evidence: C:/Users/David Bayha/Documents/GitHub/BCA/docs/superpowers/plans/2026-09-28-ood-robustness-v2.md</a:t>
            </a:r>
          </a:p>
          <a:p xmlns:a="http://schemas.openxmlformats.org/drawingml/2006/main">
            <a:r>
              <a:t>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What does the experiment accomplish? Policies and the calibrator are frozen during OOD evaluation. Calibration itself uses reserved offline transitions, not these simulator rollouts. We capture full simulator states under both collectors, precommit actions/randomness/widths, then restore each state and impose the same first action under host and BCA continuations. Return is raw and undiscounted over up to 250 total transitions including the first action; natural terminations and original time limits remain. Action-support distance is a proxy: minimum RMS action distance to recorded actions among 32 nearby recorded observations. The predeclared q95/q99 support bands are not proof of exact OOD status, and distant is not synonymous with harmful. First-action quality is also compared with later policy held fixed.</a:t>
            </a:r>
          </a:p>
          <a:p xmlns:a="http://schemas.openxmlformats.org/drawingml/2006/main">
            <a:r>
              <a:t>Evidence: C:/Users/David Bayha/Documents/GitHub/BCA/docs/superpowers/plans/2026-09-28-ood-robustness-v2.md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Justify each change and say why it makes sense. The revised protocol was declared after inspecting the first study, before revised outcomes; it is a prospective follow-up, not original preregistration. Near/moderate/strong action bands improve representation of support levels. Both policies use the same nearest-recorded familiar-action anchor, and we report absolute stressed return as well as relative degradation, so a weak anchor baseline cannot masquerade as robustness. State-near is the primary action-shift population; state-distant is a separate joint-shift sensitivity. Five independent training seeds are the replication unit; correlated rollouts do not create extra training seeds. Coverage stays alpha 0.1; both BCA components and scientific tolerances stay unchanged. The explicitly approved Walker candidate seed correction changed only 404735174 to 404735181 to remove a stream collision, without selecting based on outcomes. Engineering corrections preserve original failures and completed outcomes.</a:t>
            </a:r>
          </a:p>
          <a:p xmlns:a="http://schemas.openxmlformats.org/drawingml/2006/main">
            <a:r>
              <a:t>Evidence: C:/Users/David Bayha/Documents/GitHub/BCA/docs/superpowers/plans/2026-09-28-ood-robustness-v2.md</a:t>
            </a:r>
          </a:p>
          <a:p xmlns:a="http://schemas.openxmlformats.org/drawingml/2006/main">
            <a:r>
              <a:t>Evidence: C:/Users/David Bayha/Documents/GitHub/BCA/docs/OOD_V2_STREAM_AMENDMENT_20260928.md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frozen, sourced counts, not a live claim. Training extraction was September 29 12:59–13:02 UTC; revised OOD snapshot was 12:52 UTC, equivalent to approximately 8:52–9:02 a.m. EDT. There are 94 produced physical training results out of 280: 93 successful processes plus one reviewed recovery retaining original CQL exit 1. Eight host/BCA training pairs have full independent reviews; produced results are not all scientifically accepted. There are 115 actor trajectories because IQL BCA physical runs include paired actors sharing nuisance Q/V; 46 saved within-seed comparisons are available. Training grid: four hosts, seven datasets, five seeds. Revised OOD first tranche: TD3+BC/ReBRAC × Hopper/Walker × five seeds =20 pairs, of which five are active and none complete; fifteen unstarted. One earlier TD3+BC Hopper pilot seed is complete and remains separate. Two A100 training lanes and four cluster CPU OOD workers, plus one local CPU OOD worker, were active in this snapshot. CQL's result-field validator was corrected after training finished, without rerunning it. The local OOD continuation preserves completed outcomes after a database-lock failure; active scientific databases must not be audited while writers are running.</a:t>
            </a:r>
          </a:p>
          <a:p xmlns:a="http://schemas.openxmlformats.org/drawingml/2006/main">
            <a:r>
              <a:t>Evidence: C:/Users/David Bayha/Documents/GitHub/BCA/outputs/current_results/2026-09-29/plot_data.json</a:t>
            </a:r>
          </a:p>
          <a:p xmlns:a="http://schemas.openxmlformats.org/drawingml/2006/main">
            <a:r>
              <a:t>Evidence: C:/Users/David Bayha/Documents/GitHub/BCA/outputs/current_results/2026-09-29/ANALYSIS.md</a:t>
            </a:r>
          </a:p>
          <a:p xmlns:a="http://schemas.openxmlformats.org/drawingml/2006/main">
            <a:r>
              <a:t>Evidence: C:/Users/David Bayha/Documents/GitHub/BCA/docs/OOD_ACTION_COLLECTION_STATUS.md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pairs use training seed 202609171, one million host updates, a separate 20-episode final bank, and 200 equally spaced periodic banks from 5k to 1M. Average-curve difference is the arithmetic mean of periodic-bank means, not the final periodic evaluation or selected best checkpoint. TD3+BC Walker is independently reviewed. CQL pairs are preliminary saved-evaluation comparisons pending full independent audits; CQL Hopper's host ran on local RTX5070Ti while its BCA counterpart ran on A100, a further qualification. All values are normalized scores for the named dataset and are not aggregated across datasets. Final endpoint and learning-time behavior answer different questions. TD3 Walker BCA wins only eight of twenty paired final resets despite a higher mean; those episodes are not independent training seeds. None of these training evaluations establish action-stress robustness.</a:t>
            </a:r>
          </a:p>
          <a:p xmlns:a="http://schemas.openxmlformats.org/drawingml/2006/main">
            <a:r>
              <a:t>Evidence: C:/Users/David Bayha/Documents/GitHub/BCA/outputs/current_results/2026-09-29/plot_data.json</a:t>
            </a:r>
          </a:p>
          <a:p xmlns:a="http://schemas.openxmlformats.org/drawingml/2006/main">
            <a:r>
              <a:t>Evidence: C:/Users/David Bayha/Documents/GitHub/BCA/outputs/current_results/2026-09-29/ANALYSIS.md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native editable chart uses every saved periodic-bank mean, no smoothing or selected checkpoints. Host is navy; BCA is teal. All use training seed 202609171. Each periodic bank contains ten episodes in these hosts, with evaluation seeds pinned. Axes show normalized score and thousands of host updates. The final reserved bank in the prior slide is separate, so its mean need not equal the final point plotted here. CQL saved summaries remain preliminary, and CQL Hopper has different training hardware across arms. These plots describe policy performance while learning, not harm ranking or conformal coverage.</a:t>
            </a:r>
          </a:p>
          <a:p xmlns:a="http://schemas.openxmlformats.org/drawingml/2006/main">
            <a:r>
              <a:t>Evidence: C:/Users/David Bayha/Documents/GitHub/BCA/outputs/current_results/2026-09-29/plot_data.json</a:t>
            </a:r>
          </a:p>
          <a:p xmlns:a="http://schemas.openxmlformats.org/drawingml/2006/main">
            <a:r>
              <a:t>Evidence: C:/Users/David Bayha/Documents/GitHub/BCA/outputs/current_results/2026-09-29/ANALYSIS.md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questions: How did we establish weak evidence, and does it meet expectations? This is the completed original TD3+BC Hopper study, training seed 202609171, not the new revised protocol. There are 5120 rollouts, 1280000 outcome steps, 256 captured state rows and 64 shared reset blocks. Harm is loss &gt;1 raw reward versus the host first action under BCA continuation. There are 276 harmful alternatives among 2304 and 111/256 panels with both classes. The chart is the equal-four-stratum mean of within-state AUROC; constant gives 0.5, fixed random realizes .513251. Pooled width AUROC .431776 answers a different question. These descriptive differences are not significance claims. Expected wider bands to rank harmful actions and BCA behavior to improve; observed ranking is near chance and no average first-action gain. BCA minus host first-action return under the same BCA continuation is -.120. Separate post-hoc distant-action bridge (233 actions in193 states) has absolute continuation return difference -5.046 and relative degradation advantage -.019; it is unbalanced and is not revised OOD evidence. The reason for weak performance is not identified: residual target, scale ranking, host attachment and distribution shift remain competing explanations.</a:t>
            </a:r>
          </a:p>
          <a:p xmlns:a="http://schemas.openxmlformats.org/drawingml/2006/main">
            <a:r>
              <a:t>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plotted ReBRAC Walker pairs have independent reviews. Training seeds are 202609171, 202609172,202609173. Values are differences between separate-final-bank means, BCA minus host, in normalized score units. Arithmetic mean difference is11.8775121, but one seed contributes33.6399399 while another is negative. This does not provide a five-seed replicated effect or establish OOD performance. Twenty final episodes per run improve evaluation precision but do not create twenty independently trained models. The example is about training variability and responsible interpretation; it is not evidence of why a host attachment succeeds or fails. ReBRAC Hopper's three reviewed seed differences average approximately-.03, nearly tied.</a:t>
            </a:r>
          </a:p>
          <a:p xmlns:a="http://schemas.openxmlformats.org/drawingml/2006/main">
            <a:r>
              <a:t>Evidence: C:/Users/David Bayha/Documents/GitHub/BCA/outputs/current_results/2026-09-29/plot_data.json</a:t>
            </a:r>
          </a:p>
          <a:p xmlns:a="http://schemas.openxmlformats.org/drawingml/2006/main">
            <a:r>
              <a:t>Evidence: C:/Users/David Bayha/Documents/GitHub/BCA/outputs/current_results/2026-09-29/ANALYSIS.md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What do results mean for BCA? Primary action-stress performance A=G_BCA(s,a)-G_host(s,a) after the same imposed action. Relative degradation D=[G_host(s,a0)-G_host(s,a)]-[G_BCA(s,a0)-G_BCA(s,a)], with shared recorded-action anchor a0. We report both and each anchor return; D alone can be favorable because the baseline is weak. Strong support distance at state-near states is primary. The frozen protocol requires all five seeds and positive multiplicity-adjusted lower bounds for both A and D for a directional robustness claim (eight endpoints; two-sided99.375% intervals); ordinary95% intervals are descriptive. Within-state width ranking is secondary, pooled ranking distinct, and regret among tested actions is exploratory, not regret against the optimal policy. Fresh residual coverage is a separate unavailable measurement: weak harm ranking does not disprove a conformal theorem. Warning-good/behavior-bad is a lead about host use, not identified causality.</a:t>
            </a:r>
          </a:p>
          <a:p xmlns:a="http://schemas.openxmlformats.org/drawingml/2006/main">
            <a:r>
              <a:t>Evidence: C:/Users/David Bayha/Documents/GitHub/BCA/docs/superpowers/plans/2026-09-28-ood-robustness-v2.md</a:t>
            </a:r>
          </a:p>
          <a:p xmlns:a="http://schemas.openxmlformats.org/drawingml/2006/main">
            <a:r>
              <a:t>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questions: Which component was wrong relative to intent, what changes, why? Earlier importance weighting changed the scale-fitting loss, but the radius stage remained effectively an equal-mass held-out conformal calculation with query mass1 and a global radius cache. That is not the intended covariate-shift weighted conformal prediction. The correction uses score S_i=|Y_i-m(X_i)|/sigma(X_i), weights w(X_i)=dQ_X/dP_X, and query weight w(x) at infinity in the weighted1-alpha quantile. Target Y is the frozen one-step bootstrap response, not true Q. Both Bayesian and conformal components remain and their maximum is retained. Finite calibration mass insufficient for the level must yield infinity, not an arbitrary cap. Exact-ratio toy/reference and CPU boundary checks pass, not four-host real-data integration. Real target/source population, support overlap, unchanged Y|X, justified ratios, independently frozen scoring/calibration, query-aware host integration and infinite-radius behavior remain requirements. Estimated ratios are approximate, and deterministic policy targets can be singular. First test radius correction with fitting fixed; fitting IW is a separate comparison. It cannot fix absent support or automatically repair within-state harm ranking.</a:t>
            </a:r>
          </a:p>
          <a:p xmlns:a="http://schemas.openxmlformats.org/drawingml/2006/main">
            <a:r>
              <a:t>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What do we do next, and why? Finish the five active revised OOD pairs and independently validate saved outcomes before presenting readouts. Finish all20 declared first-tranche pairs with five seeds per cell; CQL/IQL and other-dataset OOD adapters remain separate work, so training completion is not OOD completion. Report A,strong and D,strong, familiar baselines, missing support quotas/states, uncertainty and within-state ranking. Preserve all negative findings and original failures. The next method depends on evidence: weak ranking motivates investigating residual target/scale; useful warnings but weaker policies motivates controlled host-attachment tests; justified population shift motivates query-aware weighted conformal. Each intervention needs a declared hypothesis, a matching control and a pass/fail reading. No claim IW must improve results, no coverage or strength tuning yet. A responsible final statement is: current evidence does not demonstrate the desired BCA OOD benefit, and the revised experiment is designed to identify the limitation rather than select favorable cases.</a:t>
            </a:r>
          </a:p>
          <a:p xmlns:a="http://schemas.openxmlformats.org/drawingml/2006/main">
            <a:r>
              <a:t>Evidence: C:/Users/David Bayha/Documents/GitHub/BCA/docs/superpowers/plans/2026-09-28-ood-robustness-v2.md</a:t>
            </a:r>
          </a:p>
          <a:p xmlns:a="http://schemas.openxmlformats.org/drawingml/2006/main">
            <a:r>
              <a:t>Evidence: C:/Users/David Bayha/Documents/GitHub/BCA/docs/WEIGHTED_CONFORMAL_DESIGN.md</a:t>
            </a:r>
          </a:p>
          <a:p xmlns:a="http://schemas.openxmlformats.org/drawingml/2006/main">
            <a:r>
              <a:t>Evidence: C:/Users/David Bayha/Documents/GitHub/BCA/outputs/current_results/2026-09-29/plot_data.json</a:t>
            </a:r>
          </a:p>
          <a:p xmlns:a="http://schemas.openxmlformats.org/drawingml/2006/main">
            <a:r>
              <a:t>Evidence: C:/Users/David Bayha/Documents/GitHub/BCA/outputs/current_results/2026-09-29/ANALYSIS.md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250258630e45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3d795e11a4469c" /><Relationship Type="http://schemas.openxmlformats.org/officeDocument/2006/relationships/slideLayout" Target="/ppt/slideLayouts/slideLayout1.xml" Id="R9d4d577310d94c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4d577310d94c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c3f3a369094013" /><Relationship Type="http://schemas.openxmlformats.org/officeDocument/2006/relationships/notesSlide" Target="/ppt/notesSlides/notesSlide1.xml" Id="R811eb46fdf1746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3b9a9caf944e44" /><Relationship Type="http://schemas.openxmlformats.org/officeDocument/2006/relationships/notesSlide" Target="/ppt/notesSlides/notesSlide2.xml" Id="R4a286097ae5246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45cba05fdb4bb9" /><Relationship Type="http://schemas.openxmlformats.org/officeDocument/2006/relationships/notesSlide" Target="/ppt/notesSlides/notesSlide3.xml" Id="R954f0fe246af4a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eef3ed99c948ab" /><Relationship Type="http://schemas.openxmlformats.org/officeDocument/2006/relationships/notesSlide" Target="/ppt/notesSlides/notesSlide4.xml" Id="R7c543a72dbec4f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4ec27d6c694472" /><Relationship Type="http://schemas.openxmlformats.org/officeDocument/2006/relationships/notesSlide" Target="/ppt/notesSlides/notesSlide5.xml" Id="R608625eb250449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53b07c2c3745df" /><Relationship Type="http://schemas.openxmlformats.org/officeDocument/2006/relationships/chart" Target="/ppt/slides/charts/chart1.xml" Id="Rac562fb949224d55" /><Relationship Type="http://schemas.openxmlformats.org/officeDocument/2006/relationships/chart" Target="/ppt/slides/charts/chart2.xml" Id="Rc1c3430c82c843aa" /><Relationship Type="http://schemas.openxmlformats.org/officeDocument/2006/relationships/chart" Target="/ppt/slides/charts/chart3.xml" Id="R4bfeff09c0094a3e" /><Relationship Type="http://schemas.openxmlformats.org/officeDocument/2006/relationships/notesSlide" Target="/ppt/notesSlides/notesSlide6.xml" Id="R5f31f10fa72340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56fbf972ca4bd9" /><Relationship Type="http://schemas.openxmlformats.org/officeDocument/2006/relationships/chart" Target="/ppt/slides/charts/chart4.xml" Id="R9ef2e37d42184947" /><Relationship Type="http://schemas.openxmlformats.org/officeDocument/2006/relationships/notesSlide" Target="/ppt/notesSlides/notesSlide7.xml" Id="R0bb45057d98c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4fbc01fcbb434b" /><Relationship Type="http://schemas.openxmlformats.org/officeDocument/2006/relationships/chart" Target="/ppt/slides/charts/chart5.xml" Id="R12cbe250bb254758" /><Relationship Type="http://schemas.openxmlformats.org/officeDocument/2006/relationships/notesSlide" Target="/ppt/notesSlides/notesSlide8.xml" Id="R68fdba10977f4f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eeaaf9fd9141e2" /><Relationship Type="http://schemas.openxmlformats.org/officeDocument/2006/relationships/notesSlide" Target="/ppt/notesSlides/notesSlide9.xml" Id="R8d517aeb558646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36aa28c6714555" /><Relationship Type="http://schemas.openxmlformats.org/officeDocument/2006/relationships/notesSlide" Target="/ppt/notesSlides/notesSlide10.xml" Id="Raa82b3aff91c44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c21685ca2d4d17" /><Relationship Type="http://schemas.openxmlformats.org/officeDocument/2006/relationships/notesSlide" Target="/ppt/notesSlides/notesSlide11.xml" Id="R632f8c333cde44d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64.814961</c:v>
                </c:pt>
                <c:pt idx="1">
                  <c:v>51.86092324</c:v>
                </c:pt>
                <c:pt idx="2">
                  <c:v>60.40834644</c:v>
                </c:pt>
                <c:pt idx="3">
                  <c:v>54.83732927</c:v>
                </c:pt>
                <c:pt idx="4">
                  <c:v>56.74688348</c:v>
                </c:pt>
                <c:pt idx="5">
                  <c:v>51.06361611</c:v>
                </c:pt>
                <c:pt idx="6">
                  <c:v>55.88026678</c:v>
                </c:pt>
                <c:pt idx="7">
                  <c:v>46.9786125</c:v>
                </c:pt>
                <c:pt idx="8">
                  <c:v>54.26941112</c:v>
                </c:pt>
                <c:pt idx="9">
                  <c:v>45.8945939</c:v>
                </c:pt>
                <c:pt idx="10">
                  <c:v>53.25698498</c:v>
                </c:pt>
                <c:pt idx="11">
                  <c:v>55.10568673</c:v>
                </c:pt>
                <c:pt idx="12">
                  <c:v>57.23729027</c:v>
                </c:pt>
                <c:pt idx="13">
                  <c:v>58.39275099</c:v>
                </c:pt>
                <c:pt idx="14">
                  <c:v>53.76982171</c:v>
                </c:pt>
                <c:pt idx="15">
                  <c:v>63.54370178</c:v>
                </c:pt>
                <c:pt idx="16">
                  <c:v>53.55497022</c:v>
                </c:pt>
                <c:pt idx="17">
                  <c:v>53.43707471</c:v>
                </c:pt>
                <c:pt idx="18">
                  <c:v>49.657392</c:v>
                </c:pt>
                <c:pt idx="19">
                  <c:v>57.72736689</c:v>
                </c:pt>
                <c:pt idx="20">
                  <c:v>53.17250074</c:v>
                </c:pt>
                <c:pt idx="21">
                  <c:v>63.62946328</c:v>
                </c:pt>
                <c:pt idx="22">
                  <c:v>53.22508757</c:v>
                </c:pt>
                <c:pt idx="23">
                  <c:v>46.77461807</c:v>
                </c:pt>
                <c:pt idx="24">
                  <c:v>53.01281247</c:v>
                </c:pt>
                <c:pt idx="25">
                  <c:v>47.54617253</c:v>
                </c:pt>
                <c:pt idx="26">
                  <c:v>48.80354996</c:v>
                </c:pt>
                <c:pt idx="27">
                  <c:v>54.12099272</c:v>
                </c:pt>
                <c:pt idx="28">
                  <c:v>50.28387601</c:v>
                </c:pt>
                <c:pt idx="29">
                  <c:v>62.73022467</c:v>
                </c:pt>
                <c:pt idx="30">
                  <c:v>52.33044831</c:v>
                </c:pt>
                <c:pt idx="31">
                  <c:v>54.61633726</c:v>
                </c:pt>
                <c:pt idx="32">
                  <c:v>50.37141213</c:v>
                </c:pt>
                <c:pt idx="33">
                  <c:v>53.0842392</c:v>
                </c:pt>
                <c:pt idx="34">
                  <c:v>50.18451073</c:v>
                </c:pt>
                <c:pt idx="35">
                  <c:v>41.30409898</c:v>
                </c:pt>
                <c:pt idx="36">
                  <c:v>44.108269</c:v>
                </c:pt>
                <c:pt idx="37">
                  <c:v>54.67498431</c:v>
                </c:pt>
                <c:pt idx="38">
                  <c:v>57.78578234</c:v>
                </c:pt>
                <c:pt idx="39">
                  <c:v>42.75010639</c:v>
                </c:pt>
                <c:pt idx="40">
                  <c:v>51.60789696</c:v>
                </c:pt>
                <c:pt idx="41">
                  <c:v>58.50089481</c:v>
                </c:pt>
                <c:pt idx="42">
                  <c:v>56.15462369</c:v>
                </c:pt>
                <c:pt idx="43">
                  <c:v>54.77287803</c:v>
                </c:pt>
                <c:pt idx="44">
                  <c:v>58.75134316</c:v>
                </c:pt>
                <c:pt idx="45">
                  <c:v>56.37720619</c:v>
                </c:pt>
                <c:pt idx="46">
                  <c:v>59.0277676</c:v>
                </c:pt>
                <c:pt idx="47">
                  <c:v>60.1354583</c:v>
                </c:pt>
                <c:pt idx="48">
                  <c:v>44.43884342</c:v>
                </c:pt>
                <c:pt idx="49">
                  <c:v>57.29582467</c:v>
                </c:pt>
                <c:pt idx="50">
                  <c:v>61.72718557</c:v>
                </c:pt>
                <c:pt idx="51">
                  <c:v>54.60404916</c:v>
                </c:pt>
                <c:pt idx="52">
                  <c:v>63.40207313</c:v>
                </c:pt>
                <c:pt idx="53">
                  <c:v>50.38730024</c:v>
                </c:pt>
                <c:pt idx="54">
                  <c:v>51.84778689</c:v>
                </c:pt>
                <c:pt idx="55">
                  <c:v>64.67842078</c:v>
                </c:pt>
                <c:pt idx="56">
                  <c:v>55.46761773</c:v>
                </c:pt>
                <c:pt idx="57">
                  <c:v>51.68242327</c:v>
                </c:pt>
                <c:pt idx="58">
                  <c:v>47.55378357</c:v>
                </c:pt>
                <c:pt idx="59">
                  <c:v>56.70797253</c:v>
                </c:pt>
                <c:pt idx="60">
                  <c:v>52.65150407</c:v>
                </c:pt>
                <c:pt idx="61">
                  <c:v>64.40520704</c:v>
                </c:pt>
                <c:pt idx="62">
                  <c:v>60.43347715</c:v>
                </c:pt>
                <c:pt idx="63">
                  <c:v>54.50749369</c:v>
                </c:pt>
                <c:pt idx="64">
                  <c:v>51.23910724</c:v>
                </c:pt>
                <c:pt idx="65">
                  <c:v>53.02208989</c:v>
                </c:pt>
                <c:pt idx="66">
                  <c:v>54.41201808</c:v>
                </c:pt>
                <c:pt idx="67">
                  <c:v>60.1860409</c:v>
                </c:pt>
                <c:pt idx="68">
                  <c:v>55.48051427</c:v>
                </c:pt>
                <c:pt idx="69">
                  <c:v>54.37919194</c:v>
                </c:pt>
                <c:pt idx="70">
                  <c:v>60.85297383</c:v>
                </c:pt>
                <c:pt idx="71">
                  <c:v>55.12938223</c:v>
                </c:pt>
                <c:pt idx="72">
                  <c:v>58.26429817</c:v>
                </c:pt>
                <c:pt idx="73">
                  <c:v>56.50586291</c:v>
                </c:pt>
                <c:pt idx="74">
                  <c:v>55.82662342</c:v>
                </c:pt>
                <c:pt idx="75">
                  <c:v>57.71027052</c:v>
                </c:pt>
                <c:pt idx="76">
                  <c:v>68.83906237</c:v>
                </c:pt>
                <c:pt idx="77">
                  <c:v>51.65662367</c:v>
                </c:pt>
                <c:pt idx="78">
                  <c:v>63.7516083</c:v>
                </c:pt>
                <c:pt idx="79">
                  <c:v>56.58766289</c:v>
                </c:pt>
                <c:pt idx="80">
                  <c:v>65.33569677</c:v>
                </c:pt>
                <c:pt idx="81">
                  <c:v>58.22014748</c:v>
                </c:pt>
                <c:pt idx="82">
                  <c:v>58.12206094</c:v>
                </c:pt>
                <c:pt idx="83">
                  <c:v>57.72863935</c:v>
                </c:pt>
                <c:pt idx="84">
                  <c:v>56.58104019</c:v>
                </c:pt>
                <c:pt idx="85">
                  <c:v>54.9741895</c:v>
                </c:pt>
                <c:pt idx="86">
                  <c:v>58.09558032</c:v>
                </c:pt>
                <c:pt idx="87">
                  <c:v>44.0021813</c:v>
                </c:pt>
                <c:pt idx="88">
                  <c:v>54.85350404</c:v>
                </c:pt>
                <c:pt idx="89">
                  <c:v>54.87343963</c:v>
                </c:pt>
                <c:pt idx="90">
                  <c:v>58.29892903</c:v>
                </c:pt>
                <c:pt idx="91">
                  <c:v>64.26330316</c:v>
                </c:pt>
                <c:pt idx="92">
                  <c:v>57.54325352</c:v>
                </c:pt>
                <c:pt idx="93">
                  <c:v>48.73238104</c:v>
                </c:pt>
                <c:pt idx="94">
                  <c:v>50.68052336</c:v>
                </c:pt>
                <c:pt idx="95">
                  <c:v>62.22629578</c:v>
                </c:pt>
                <c:pt idx="96">
                  <c:v>57.49020297</c:v>
                </c:pt>
                <c:pt idx="97">
                  <c:v>64.818598</c:v>
                </c:pt>
                <c:pt idx="98">
                  <c:v>58.55435325</c:v>
                </c:pt>
                <c:pt idx="99">
                  <c:v>56.6983879</c:v>
                </c:pt>
                <c:pt idx="100">
                  <c:v>56.96172604</c:v>
                </c:pt>
                <c:pt idx="101">
                  <c:v>57.08615057</c:v>
                </c:pt>
                <c:pt idx="102">
                  <c:v>63.36613578</c:v>
                </c:pt>
                <c:pt idx="103">
                  <c:v>52.17687799</c:v>
                </c:pt>
                <c:pt idx="104">
                  <c:v>56.13036214</c:v>
                </c:pt>
                <c:pt idx="105">
                  <c:v>60.42509638</c:v>
                </c:pt>
                <c:pt idx="106">
                  <c:v>58.26253152</c:v>
                </c:pt>
                <c:pt idx="107">
                  <c:v>59.33138102</c:v>
                </c:pt>
                <c:pt idx="108">
                  <c:v>58.20437206</c:v>
                </c:pt>
                <c:pt idx="109">
                  <c:v>53.64795171</c:v>
                </c:pt>
                <c:pt idx="110">
                  <c:v>56.45728983</c:v>
                </c:pt>
                <c:pt idx="111">
                  <c:v>69.14518481</c:v>
                </c:pt>
                <c:pt idx="112">
                  <c:v>56.28406255</c:v>
                </c:pt>
                <c:pt idx="113">
                  <c:v>57.34725555</c:v>
                </c:pt>
                <c:pt idx="114">
                  <c:v>56.48139498</c:v>
                </c:pt>
                <c:pt idx="115">
                  <c:v>57.82155582</c:v>
                </c:pt>
                <c:pt idx="116">
                  <c:v>61.72297624</c:v>
                </c:pt>
                <c:pt idx="117">
                  <c:v>59.69878411</c:v>
                </c:pt>
                <c:pt idx="118">
                  <c:v>54.54584581</c:v>
                </c:pt>
                <c:pt idx="119">
                  <c:v>58.26100727</c:v>
                </c:pt>
                <c:pt idx="120">
                  <c:v>54.18021775</c:v>
                </c:pt>
                <c:pt idx="121">
                  <c:v>60.21309793</c:v>
                </c:pt>
                <c:pt idx="122">
                  <c:v>61.01606901</c:v>
                </c:pt>
                <c:pt idx="123">
                  <c:v>58.41990337</c:v>
                </c:pt>
                <c:pt idx="124">
                  <c:v>55.92738892</c:v>
                </c:pt>
                <c:pt idx="125">
                  <c:v>58.50690682</c:v>
                </c:pt>
                <c:pt idx="126">
                  <c:v>57.24060785</c:v>
                </c:pt>
                <c:pt idx="127">
                  <c:v>64.75127094</c:v>
                </c:pt>
                <c:pt idx="128">
                  <c:v>59.51243242</c:v>
                </c:pt>
                <c:pt idx="129">
                  <c:v>52.55077188</c:v>
                </c:pt>
                <c:pt idx="130">
                  <c:v>58.66880428</c:v>
                </c:pt>
                <c:pt idx="131">
                  <c:v>64.39150586</c:v>
                </c:pt>
                <c:pt idx="132">
                  <c:v>62.11504961</c:v>
                </c:pt>
                <c:pt idx="133">
                  <c:v>61.61407049</c:v>
                </c:pt>
                <c:pt idx="134">
                  <c:v>59.31414796</c:v>
                </c:pt>
                <c:pt idx="135">
                  <c:v>51.81505403</c:v>
                </c:pt>
                <c:pt idx="136">
                  <c:v>53.28881401</c:v>
                </c:pt>
                <c:pt idx="137">
                  <c:v>61.23847341</c:v>
                </c:pt>
                <c:pt idx="138">
                  <c:v>55.03783558</c:v>
                </c:pt>
                <c:pt idx="139">
                  <c:v>61.08388286</c:v>
                </c:pt>
                <c:pt idx="140">
                  <c:v>56.11957925</c:v>
                </c:pt>
                <c:pt idx="141">
                  <c:v>62.82530258</c:v>
                </c:pt>
                <c:pt idx="142">
                  <c:v>50.91076713</c:v>
                </c:pt>
                <c:pt idx="143">
                  <c:v>55.32422818</c:v>
                </c:pt>
                <c:pt idx="144">
                  <c:v>59.99052578</c:v>
                </c:pt>
                <c:pt idx="145">
                  <c:v>56.81660661</c:v>
                </c:pt>
                <c:pt idx="146">
                  <c:v>63.68596421</c:v>
                </c:pt>
                <c:pt idx="147">
                  <c:v>58.02221234</c:v>
                </c:pt>
                <c:pt idx="148">
                  <c:v>55.59515195</c:v>
                </c:pt>
                <c:pt idx="149">
                  <c:v>53.01182201</c:v>
                </c:pt>
                <c:pt idx="150">
                  <c:v>63.99820922</c:v>
                </c:pt>
                <c:pt idx="151">
                  <c:v>58.03335821</c:v>
                </c:pt>
                <c:pt idx="152">
                  <c:v>56.16650103</c:v>
                </c:pt>
                <c:pt idx="153">
                  <c:v>58.70865331</c:v>
                </c:pt>
                <c:pt idx="154">
                  <c:v>53.95770724</c:v>
                </c:pt>
                <c:pt idx="155">
                  <c:v>55.72235108</c:v>
                </c:pt>
                <c:pt idx="156">
                  <c:v>58.17319553</c:v>
                </c:pt>
                <c:pt idx="157">
                  <c:v>57.5276619</c:v>
                </c:pt>
                <c:pt idx="158">
                  <c:v>52.51365389</c:v>
                </c:pt>
                <c:pt idx="159">
                  <c:v>55.17417151</c:v>
                </c:pt>
                <c:pt idx="160">
                  <c:v>53.83705232</c:v>
                </c:pt>
                <c:pt idx="161">
                  <c:v>54.05912017</c:v>
                </c:pt>
                <c:pt idx="162">
                  <c:v>57.27794441</c:v>
                </c:pt>
                <c:pt idx="163">
                  <c:v>56.84968463</c:v>
                </c:pt>
                <c:pt idx="164">
                  <c:v>55.94030029</c:v>
                </c:pt>
                <c:pt idx="165">
                  <c:v>61.87551867</c:v>
                </c:pt>
                <c:pt idx="166">
                  <c:v>55.32428787</c:v>
                </c:pt>
                <c:pt idx="167">
                  <c:v>59.5057182</c:v>
                </c:pt>
                <c:pt idx="168">
                  <c:v>60.08144655</c:v>
                </c:pt>
                <c:pt idx="169">
                  <c:v>60.66215613</c:v>
                </c:pt>
                <c:pt idx="170">
                  <c:v>51.81124526</c:v>
                </c:pt>
                <c:pt idx="171">
                  <c:v>58.48686874</c:v>
                </c:pt>
                <c:pt idx="172">
                  <c:v>56.06146737</c:v>
                </c:pt>
                <c:pt idx="173">
                  <c:v>59.61329851</c:v>
                </c:pt>
                <c:pt idx="174">
                  <c:v>56.02254845</c:v>
                </c:pt>
                <c:pt idx="175">
                  <c:v>53.26998383</c:v>
                </c:pt>
                <c:pt idx="176">
                  <c:v>56.66070988</c:v>
                </c:pt>
                <c:pt idx="177">
                  <c:v>63.19898323</c:v>
                </c:pt>
                <c:pt idx="178">
                  <c:v>56.20258573</c:v>
                </c:pt>
                <c:pt idx="179">
                  <c:v>54.32260217</c:v>
                </c:pt>
                <c:pt idx="180">
                  <c:v>59.14927549</c:v>
                </c:pt>
                <c:pt idx="181">
                  <c:v>66.40054686</c:v>
                </c:pt>
                <c:pt idx="182">
                  <c:v>55.12423836</c:v>
                </c:pt>
                <c:pt idx="183">
                  <c:v>60.24753612</c:v>
                </c:pt>
                <c:pt idx="184">
                  <c:v>56.37649224</c:v>
                </c:pt>
                <c:pt idx="185">
                  <c:v>67.16982615</c:v>
                </c:pt>
                <c:pt idx="186">
                  <c:v>58.17347397</c:v>
                </c:pt>
                <c:pt idx="187">
                  <c:v>53.19538707</c:v>
                </c:pt>
                <c:pt idx="188">
                  <c:v>58.87897963</c:v>
                </c:pt>
                <c:pt idx="189">
                  <c:v>53.61891606</c:v>
                </c:pt>
                <c:pt idx="190">
                  <c:v>58.35034045</c:v>
                </c:pt>
                <c:pt idx="191">
                  <c:v>57.52762969</c:v>
                </c:pt>
                <c:pt idx="192">
                  <c:v>56.76334006</c:v>
                </c:pt>
                <c:pt idx="193">
                  <c:v>55.38097292</c:v>
                </c:pt>
                <c:pt idx="194">
                  <c:v>53.35439627</c:v>
                </c:pt>
                <c:pt idx="195">
                  <c:v>57.78846304</c:v>
                </c:pt>
                <c:pt idx="196">
                  <c:v>50.58259648</c:v>
                </c:pt>
                <c:pt idx="197">
                  <c:v>62.48812825</c:v>
                </c:pt>
                <c:pt idx="198">
                  <c:v>59.84542104</c:v>
                </c:pt>
                <c:pt idx="199">
                  <c:v>62.06354688</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61.97360169</c:v>
                </c:pt>
                <c:pt idx="1">
                  <c:v>57.0986911</c:v>
                </c:pt>
                <c:pt idx="2">
                  <c:v>57.01665562</c:v>
                </c:pt>
                <c:pt idx="3">
                  <c:v>52.88513597</c:v>
                </c:pt>
                <c:pt idx="4">
                  <c:v>56.21807305</c:v>
                </c:pt>
                <c:pt idx="5">
                  <c:v>52.33382163</c:v>
                </c:pt>
                <c:pt idx="6">
                  <c:v>53.66533018</c:v>
                </c:pt>
                <c:pt idx="7">
                  <c:v>48.77862063</c:v>
                </c:pt>
                <c:pt idx="8">
                  <c:v>54.06759032</c:v>
                </c:pt>
                <c:pt idx="9">
                  <c:v>49.28285428</c:v>
                </c:pt>
                <c:pt idx="10">
                  <c:v>57.81081754</c:v>
                </c:pt>
                <c:pt idx="11">
                  <c:v>55.45185232</c:v>
                </c:pt>
                <c:pt idx="12">
                  <c:v>52.57610895</c:v>
                </c:pt>
                <c:pt idx="13">
                  <c:v>56.71200624</c:v>
                </c:pt>
                <c:pt idx="14">
                  <c:v>61.53048656</c:v>
                </c:pt>
                <c:pt idx="15">
                  <c:v>65.14498012</c:v>
                </c:pt>
                <c:pt idx="16">
                  <c:v>59.37757144</c:v>
                </c:pt>
                <c:pt idx="17">
                  <c:v>57.32883154</c:v>
                </c:pt>
                <c:pt idx="18">
                  <c:v>55.90652408</c:v>
                </c:pt>
                <c:pt idx="19">
                  <c:v>54.864697</c:v>
                </c:pt>
                <c:pt idx="20">
                  <c:v>56.12185776</c:v>
                </c:pt>
                <c:pt idx="21">
                  <c:v>57.60234075</c:v>
                </c:pt>
                <c:pt idx="22">
                  <c:v>54.69972154</c:v>
                </c:pt>
                <c:pt idx="23">
                  <c:v>57.60027059</c:v>
                </c:pt>
                <c:pt idx="24">
                  <c:v>53.92028071</c:v>
                </c:pt>
                <c:pt idx="25">
                  <c:v>59.96578283</c:v>
                </c:pt>
                <c:pt idx="26">
                  <c:v>65.5991351</c:v>
                </c:pt>
                <c:pt idx="27">
                  <c:v>54.59811807</c:v>
                </c:pt>
                <c:pt idx="28">
                  <c:v>56.09514993</c:v>
                </c:pt>
                <c:pt idx="29">
                  <c:v>57.89575134</c:v>
                </c:pt>
                <c:pt idx="30">
                  <c:v>53.20663127</c:v>
                </c:pt>
                <c:pt idx="31">
                  <c:v>51.92662458</c:v>
                </c:pt>
                <c:pt idx="32">
                  <c:v>53.14245427</c:v>
                </c:pt>
                <c:pt idx="33">
                  <c:v>49.74251136</c:v>
                </c:pt>
                <c:pt idx="34">
                  <c:v>53.21844049</c:v>
                </c:pt>
                <c:pt idx="35">
                  <c:v>51.89490195</c:v>
                </c:pt>
                <c:pt idx="36">
                  <c:v>46.67137804</c:v>
                </c:pt>
                <c:pt idx="37">
                  <c:v>59.31627028</c:v>
                </c:pt>
                <c:pt idx="38">
                  <c:v>55.14304122</c:v>
                </c:pt>
                <c:pt idx="39">
                  <c:v>46.0760419</c:v>
                </c:pt>
                <c:pt idx="40">
                  <c:v>50.51471373</c:v>
                </c:pt>
                <c:pt idx="41">
                  <c:v>55.37627692</c:v>
                </c:pt>
                <c:pt idx="42">
                  <c:v>53.94909706</c:v>
                </c:pt>
                <c:pt idx="43">
                  <c:v>65.57598159</c:v>
                </c:pt>
                <c:pt idx="44">
                  <c:v>56.71885458</c:v>
                </c:pt>
                <c:pt idx="45">
                  <c:v>56.51189271</c:v>
                </c:pt>
                <c:pt idx="46">
                  <c:v>55.32303528</c:v>
                </c:pt>
                <c:pt idx="47">
                  <c:v>60.05832406</c:v>
                </c:pt>
                <c:pt idx="48">
                  <c:v>52.8535866</c:v>
                </c:pt>
                <c:pt idx="49">
                  <c:v>56.45761063</c:v>
                </c:pt>
                <c:pt idx="50">
                  <c:v>52.61591315</c:v>
                </c:pt>
                <c:pt idx="51">
                  <c:v>53.20203275</c:v>
                </c:pt>
                <c:pt idx="52">
                  <c:v>50.71787297</c:v>
                </c:pt>
                <c:pt idx="53">
                  <c:v>47.29887309</c:v>
                </c:pt>
                <c:pt idx="54">
                  <c:v>51.32324234</c:v>
                </c:pt>
                <c:pt idx="55">
                  <c:v>58.075762</c:v>
                </c:pt>
                <c:pt idx="56">
                  <c:v>54.66810352</c:v>
                </c:pt>
                <c:pt idx="57">
                  <c:v>55.6107128</c:v>
                </c:pt>
                <c:pt idx="58">
                  <c:v>63.1971735</c:v>
                </c:pt>
                <c:pt idx="59">
                  <c:v>47.60560248</c:v>
                </c:pt>
                <c:pt idx="60">
                  <c:v>59.29577521</c:v>
                </c:pt>
                <c:pt idx="61">
                  <c:v>58.4645141</c:v>
                </c:pt>
                <c:pt idx="62">
                  <c:v>59.64227163</c:v>
                </c:pt>
                <c:pt idx="63">
                  <c:v>57.39475812</c:v>
                </c:pt>
                <c:pt idx="64">
                  <c:v>51.37831973</c:v>
                </c:pt>
                <c:pt idx="65">
                  <c:v>52.86870691</c:v>
                </c:pt>
                <c:pt idx="66">
                  <c:v>54.60739829</c:v>
                </c:pt>
                <c:pt idx="67">
                  <c:v>50.88620491</c:v>
                </c:pt>
                <c:pt idx="68">
                  <c:v>55.21261169</c:v>
                </c:pt>
                <c:pt idx="69">
                  <c:v>58.36986329</c:v>
                </c:pt>
                <c:pt idx="70">
                  <c:v>54.27618569</c:v>
                </c:pt>
                <c:pt idx="71">
                  <c:v>56.26365602</c:v>
                </c:pt>
                <c:pt idx="72">
                  <c:v>55.04738434</c:v>
                </c:pt>
                <c:pt idx="73">
                  <c:v>56.11492455</c:v>
                </c:pt>
                <c:pt idx="74">
                  <c:v>52.18160677</c:v>
                </c:pt>
                <c:pt idx="75">
                  <c:v>52.56716718</c:v>
                </c:pt>
                <c:pt idx="76">
                  <c:v>55.36784499</c:v>
                </c:pt>
                <c:pt idx="77">
                  <c:v>56.35444998</c:v>
                </c:pt>
                <c:pt idx="78">
                  <c:v>58.38570248</c:v>
                </c:pt>
                <c:pt idx="79">
                  <c:v>53.0990646</c:v>
                </c:pt>
                <c:pt idx="80">
                  <c:v>62.5222795</c:v>
                </c:pt>
                <c:pt idx="81">
                  <c:v>50.92618089</c:v>
                </c:pt>
                <c:pt idx="82">
                  <c:v>55.3116669</c:v>
                </c:pt>
                <c:pt idx="83">
                  <c:v>56.07934484</c:v>
                </c:pt>
                <c:pt idx="84">
                  <c:v>57.02190942</c:v>
                </c:pt>
                <c:pt idx="85">
                  <c:v>54.06737507</c:v>
                </c:pt>
                <c:pt idx="86">
                  <c:v>54.88816803</c:v>
                </c:pt>
                <c:pt idx="87">
                  <c:v>51.6727043</c:v>
                </c:pt>
                <c:pt idx="88">
                  <c:v>52.78353846</c:v>
                </c:pt>
                <c:pt idx="89">
                  <c:v>60.6016039</c:v>
                </c:pt>
                <c:pt idx="90">
                  <c:v>57.95295302</c:v>
                </c:pt>
                <c:pt idx="91">
                  <c:v>53.21200329</c:v>
                </c:pt>
                <c:pt idx="92">
                  <c:v>54.30237676</c:v>
                </c:pt>
                <c:pt idx="93">
                  <c:v>57.08235589</c:v>
                </c:pt>
                <c:pt idx="94">
                  <c:v>47.9039748</c:v>
                </c:pt>
                <c:pt idx="95">
                  <c:v>59.23167641</c:v>
                </c:pt>
                <c:pt idx="96">
                  <c:v>56.71051322</c:v>
                </c:pt>
                <c:pt idx="97">
                  <c:v>51.55921524</c:v>
                </c:pt>
                <c:pt idx="98">
                  <c:v>49.54545775</c:v>
                </c:pt>
                <c:pt idx="99">
                  <c:v>60.8382649</c:v>
                </c:pt>
                <c:pt idx="100">
                  <c:v>57.66608744</c:v>
                </c:pt>
                <c:pt idx="101">
                  <c:v>57.65099364</c:v>
                </c:pt>
                <c:pt idx="102">
                  <c:v>56.77737541</c:v>
                </c:pt>
                <c:pt idx="103">
                  <c:v>51.57787614</c:v>
                </c:pt>
                <c:pt idx="104">
                  <c:v>57.53505286</c:v>
                </c:pt>
                <c:pt idx="105">
                  <c:v>59.82963644</c:v>
                </c:pt>
                <c:pt idx="106">
                  <c:v>53.5807409</c:v>
                </c:pt>
                <c:pt idx="107">
                  <c:v>57.43606455</c:v>
                </c:pt>
                <c:pt idx="108">
                  <c:v>57.35863085</c:v>
                </c:pt>
                <c:pt idx="109">
                  <c:v>58.62789826</c:v>
                </c:pt>
                <c:pt idx="110">
                  <c:v>63.6937047</c:v>
                </c:pt>
                <c:pt idx="111">
                  <c:v>63.29931939</c:v>
                </c:pt>
                <c:pt idx="112">
                  <c:v>60.34857761</c:v>
                </c:pt>
                <c:pt idx="113">
                  <c:v>53.18595243</c:v>
                </c:pt>
                <c:pt idx="114">
                  <c:v>52.18854731</c:v>
                </c:pt>
                <c:pt idx="115">
                  <c:v>56.39647974</c:v>
                </c:pt>
                <c:pt idx="116">
                  <c:v>59.11274598</c:v>
                </c:pt>
                <c:pt idx="117">
                  <c:v>57.03620341</c:v>
                </c:pt>
                <c:pt idx="118">
                  <c:v>61.40208004</c:v>
                </c:pt>
                <c:pt idx="119">
                  <c:v>56.84179357</c:v>
                </c:pt>
                <c:pt idx="120">
                  <c:v>57.02887011</c:v>
                </c:pt>
                <c:pt idx="121">
                  <c:v>64.44447676</c:v>
                </c:pt>
                <c:pt idx="122">
                  <c:v>60.58592615</c:v>
                </c:pt>
                <c:pt idx="123">
                  <c:v>59.46098542</c:v>
                </c:pt>
                <c:pt idx="124">
                  <c:v>56.4910091</c:v>
                </c:pt>
                <c:pt idx="125">
                  <c:v>56.25955002</c:v>
                </c:pt>
                <c:pt idx="126">
                  <c:v>49.7439609</c:v>
                </c:pt>
                <c:pt idx="127">
                  <c:v>62.4876592</c:v>
                </c:pt>
                <c:pt idx="128">
                  <c:v>54.17550305</c:v>
                </c:pt>
                <c:pt idx="129">
                  <c:v>53.38704245</c:v>
                </c:pt>
                <c:pt idx="130">
                  <c:v>57.98390764</c:v>
                </c:pt>
                <c:pt idx="131">
                  <c:v>58.56907347</c:v>
                </c:pt>
                <c:pt idx="132">
                  <c:v>59.06207649</c:v>
                </c:pt>
                <c:pt idx="133">
                  <c:v>60.27838755</c:v>
                </c:pt>
                <c:pt idx="134">
                  <c:v>64.03855283</c:v>
                </c:pt>
                <c:pt idx="135">
                  <c:v>55.24662222</c:v>
                </c:pt>
                <c:pt idx="136">
                  <c:v>58.95942231</c:v>
                </c:pt>
                <c:pt idx="137">
                  <c:v>55.72907045</c:v>
                </c:pt>
                <c:pt idx="138">
                  <c:v>54.11032086</c:v>
                </c:pt>
                <c:pt idx="139">
                  <c:v>62.12531024</c:v>
                </c:pt>
                <c:pt idx="140">
                  <c:v>61.82749722</c:v>
                </c:pt>
                <c:pt idx="141">
                  <c:v>68.01585891</c:v>
                </c:pt>
                <c:pt idx="142">
                  <c:v>63.97210652</c:v>
                </c:pt>
                <c:pt idx="143">
                  <c:v>56.35891179</c:v>
                </c:pt>
                <c:pt idx="144">
                  <c:v>59.33573877</c:v>
                </c:pt>
                <c:pt idx="145">
                  <c:v>64.70685449</c:v>
                </c:pt>
                <c:pt idx="146">
                  <c:v>58.79538128</c:v>
                </c:pt>
                <c:pt idx="147">
                  <c:v>63.35069122</c:v>
                </c:pt>
                <c:pt idx="148">
                  <c:v>54.06305563</c:v>
                </c:pt>
                <c:pt idx="149">
                  <c:v>49.11778018</c:v>
                </c:pt>
                <c:pt idx="150">
                  <c:v>61.85510914</c:v>
                </c:pt>
                <c:pt idx="151">
                  <c:v>55.8049983</c:v>
                </c:pt>
                <c:pt idx="152">
                  <c:v>51.8689368</c:v>
                </c:pt>
                <c:pt idx="153">
                  <c:v>54.11354594</c:v>
                </c:pt>
                <c:pt idx="154">
                  <c:v>61.86523591</c:v>
                </c:pt>
                <c:pt idx="155">
                  <c:v>57.62596656</c:v>
                </c:pt>
                <c:pt idx="156">
                  <c:v>60.60930084</c:v>
                </c:pt>
                <c:pt idx="157">
                  <c:v>56.18396556</c:v>
                </c:pt>
                <c:pt idx="158">
                  <c:v>59.24144401</c:v>
                </c:pt>
                <c:pt idx="159">
                  <c:v>54.1804289</c:v>
                </c:pt>
                <c:pt idx="160">
                  <c:v>56.28066563</c:v>
                </c:pt>
                <c:pt idx="161">
                  <c:v>54.54618973</c:v>
                </c:pt>
                <c:pt idx="162">
                  <c:v>54.38901103</c:v>
                </c:pt>
                <c:pt idx="163">
                  <c:v>59.69827948</c:v>
                </c:pt>
                <c:pt idx="164">
                  <c:v>56.60489774</c:v>
                </c:pt>
                <c:pt idx="165">
                  <c:v>60.1066845</c:v>
                </c:pt>
                <c:pt idx="166">
                  <c:v>55.99660577</c:v>
                </c:pt>
                <c:pt idx="167">
                  <c:v>58.64885246</c:v>
                </c:pt>
                <c:pt idx="168">
                  <c:v>65.26618265</c:v>
                </c:pt>
                <c:pt idx="169">
                  <c:v>63.64771614</c:v>
                </c:pt>
                <c:pt idx="170">
                  <c:v>57.88940136</c:v>
                </c:pt>
                <c:pt idx="171">
                  <c:v>58.4118313</c:v>
                </c:pt>
                <c:pt idx="172">
                  <c:v>57.47085423</c:v>
                </c:pt>
                <c:pt idx="173">
                  <c:v>58.28629936</c:v>
                </c:pt>
                <c:pt idx="174">
                  <c:v>63.6087186</c:v>
                </c:pt>
                <c:pt idx="175">
                  <c:v>57.40130242</c:v>
                </c:pt>
                <c:pt idx="176">
                  <c:v>58.18392444</c:v>
                </c:pt>
                <c:pt idx="177">
                  <c:v>57.9444319</c:v>
                </c:pt>
                <c:pt idx="178">
                  <c:v>49.0420217</c:v>
                </c:pt>
                <c:pt idx="179">
                  <c:v>61.11820521</c:v>
                </c:pt>
                <c:pt idx="180">
                  <c:v>72.01867158</c:v>
                </c:pt>
                <c:pt idx="181">
                  <c:v>52.75628469</c:v>
                </c:pt>
                <c:pt idx="182">
                  <c:v>56.01596541</c:v>
                </c:pt>
                <c:pt idx="183">
                  <c:v>61.23108744</c:v>
                </c:pt>
                <c:pt idx="184">
                  <c:v>50.74045719</c:v>
                </c:pt>
                <c:pt idx="185">
                  <c:v>62.90243753</c:v>
                </c:pt>
                <c:pt idx="186">
                  <c:v>60.22708416</c:v>
                </c:pt>
                <c:pt idx="187">
                  <c:v>56.94852978</c:v>
                </c:pt>
                <c:pt idx="188">
                  <c:v>50.64561884</c:v>
                </c:pt>
                <c:pt idx="189">
                  <c:v>60.51735552</c:v>
                </c:pt>
                <c:pt idx="190">
                  <c:v>59.77540615</c:v>
                </c:pt>
                <c:pt idx="191">
                  <c:v>59.88035384</c:v>
                </c:pt>
                <c:pt idx="192">
                  <c:v>56.69958857</c:v>
                </c:pt>
                <c:pt idx="193">
                  <c:v>51.50174745</c:v>
                </c:pt>
                <c:pt idx="194">
                  <c:v>57.99754344</c:v>
                </c:pt>
                <c:pt idx="195">
                  <c:v>60.76209044</c:v>
                </c:pt>
                <c:pt idx="196">
                  <c:v>55.94413161</c:v>
                </c:pt>
                <c:pt idx="197">
                  <c:v>59.29676742</c:v>
                </c:pt>
                <c:pt idx="198">
                  <c:v>54.46048725</c:v>
                </c:pt>
                <c:pt idx="199">
                  <c:v>55.64363638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4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10.80269426</c:v>
                </c:pt>
                <c:pt idx="1">
                  <c:v>44.06815262</c:v>
                </c:pt>
                <c:pt idx="2">
                  <c:v>35.10036633</c:v>
                </c:pt>
                <c:pt idx="3">
                  <c:v>15.57991986</c:v>
                </c:pt>
                <c:pt idx="4">
                  <c:v>68.85751667</c:v>
                </c:pt>
                <c:pt idx="5">
                  <c:v>14.77720095</c:v>
                </c:pt>
                <c:pt idx="6">
                  <c:v>63.51241649</c:v>
                </c:pt>
                <c:pt idx="7">
                  <c:v>67.25427342</c:v>
                </c:pt>
                <c:pt idx="8">
                  <c:v>70.96010164</c:v>
                </c:pt>
                <c:pt idx="9">
                  <c:v>76.65425933</c:v>
                </c:pt>
                <c:pt idx="10">
                  <c:v>81.4640248</c:v>
                </c:pt>
                <c:pt idx="11">
                  <c:v>73.78173975</c:v>
                </c:pt>
                <c:pt idx="12">
                  <c:v>80.22650029</c:v>
                </c:pt>
                <c:pt idx="13">
                  <c:v>78.18193731</c:v>
                </c:pt>
                <c:pt idx="14">
                  <c:v>75.45243666</c:v>
                </c:pt>
                <c:pt idx="15">
                  <c:v>73.34931609</c:v>
                </c:pt>
                <c:pt idx="16">
                  <c:v>75.25169219</c:v>
                </c:pt>
                <c:pt idx="17">
                  <c:v>73.90707037</c:v>
                </c:pt>
                <c:pt idx="18">
                  <c:v>84.50154124</c:v>
                </c:pt>
                <c:pt idx="19">
                  <c:v>67.4861939</c:v>
                </c:pt>
                <c:pt idx="20">
                  <c:v>77.94843274</c:v>
                </c:pt>
                <c:pt idx="21">
                  <c:v>67.57940865</c:v>
                </c:pt>
                <c:pt idx="22">
                  <c:v>77.80753891</c:v>
                </c:pt>
                <c:pt idx="23">
                  <c:v>60.24301171</c:v>
                </c:pt>
                <c:pt idx="24">
                  <c:v>75.48814291</c:v>
                </c:pt>
                <c:pt idx="25">
                  <c:v>74.09107185</c:v>
                </c:pt>
                <c:pt idx="26">
                  <c:v>79.66923919</c:v>
                </c:pt>
                <c:pt idx="27">
                  <c:v>77.55391004</c:v>
                </c:pt>
                <c:pt idx="28">
                  <c:v>78.20180457</c:v>
                </c:pt>
                <c:pt idx="29">
                  <c:v>74.90403275</c:v>
                </c:pt>
                <c:pt idx="30">
                  <c:v>55.60572081</c:v>
                </c:pt>
                <c:pt idx="31">
                  <c:v>77.41818504</c:v>
                </c:pt>
                <c:pt idx="32">
                  <c:v>81.08167669</c:v>
                </c:pt>
                <c:pt idx="33">
                  <c:v>69.48444539</c:v>
                </c:pt>
                <c:pt idx="34">
                  <c:v>72.96338962</c:v>
                </c:pt>
                <c:pt idx="35">
                  <c:v>80.18755945</c:v>
                </c:pt>
                <c:pt idx="36">
                  <c:v>74.07835608</c:v>
                </c:pt>
                <c:pt idx="37">
                  <c:v>76.46418512</c:v>
                </c:pt>
                <c:pt idx="38">
                  <c:v>82.07472299</c:v>
                </c:pt>
                <c:pt idx="39">
                  <c:v>71.3637129</c:v>
                </c:pt>
                <c:pt idx="40">
                  <c:v>80.35452325</c:v>
                </c:pt>
                <c:pt idx="41">
                  <c:v>80.34512867</c:v>
                </c:pt>
                <c:pt idx="42">
                  <c:v>83.1249556</c:v>
                </c:pt>
                <c:pt idx="43">
                  <c:v>81.28838803</c:v>
                </c:pt>
                <c:pt idx="44">
                  <c:v>78.73948769</c:v>
                </c:pt>
                <c:pt idx="45">
                  <c:v>79.32386943</c:v>
                </c:pt>
                <c:pt idx="46">
                  <c:v>82.69773912</c:v>
                </c:pt>
                <c:pt idx="47">
                  <c:v>72.65551474</c:v>
                </c:pt>
                <c:pt idx="48">
                  <c:v>77.90877673</c:v>
                </c:pt>
                <c:pt idx="49">
                  <c:v>71.66394042</c:v>
                </c:pt>
                <c:pt idx="50">
                  <c:v>83.79012575</c:v>
                </c:pt>
                <c:pt idx="51">
                  <c:v>83.00830984</c:v>
                </c:pt>
                <c:pt idx="52">
                  <c:v>78.74612249</c:v>
                </c:pt>
                <c:pt idx="53">
                  <c:v>81.21889135</c:v>
                </c:pt>
                <c:pt idx="54">
                  <c:v>76.07391706</c:v>
                </c:pt>
                <c:pt idx="55">
                  <c:v>78.02594481</c:v>
                </c:pt>
                <c:pt idx="56">
                  <c:v>55.04692535</c:v>
                </c:pt>
                <c:pt idx="57">
                  <c:v>81.40714713</c:v>
                </c:pt>
                <c:pt idx="58">
                  <c:v>76.57302109</c:v>
                </c:pt>
                <c:pt idx="59">
                  <c:v>77.01622442</c:v>
                </c:pt>
                <c:pt idx="60">
                  <c:v>77.1644545</c:v>
                </c:pt>
                <c:pt idx="61">
                  <c:v>78.01271123</c:v>
                </c:pt>
                <c:pt idx="62">
                  <c:v>78.03797219</c:v>
                </c:pt>
                <c:pt idx="63">
                  <c:v>81.10770741</c:v>
                </c:pt>
                <c:pt idx="64">
                  <c:v>83.66423283</c:v>
                </c:pt>
                <c:pt idx="65">
                  <c:v>79.00439288</c:v>
                </c:pt>
                <c:pt idx="66">
                  <c:v>81.52836196</c:v>
                </c:pt>
                <c:pt idx="67">
                  <c:v>75.480312</c:v>
                </c:pt>
                <c:pt idx="68">
                  <c:v>72.2163822</c:v>
                </c:pt>
                <c:pt idx="69">
                  <c:v>82.74803664</c:v>
                </c:pt>
                <c:pt idx="70">
                  <c:v>77.78247821</c:v>
                </c:pt>
                <c:pt idx="71">
                  <c:v>58.33455009</c:v>
                </c:pt>
                <c:pt idx="72">
                  <c:v>82.11376487</c:v>
                </c:pt>
                <c:pt idx="73">
                  <c:v>84.59563454</c:v>
                </c:pt>
                <c:pt idx="74">
                  <c:v>81.02915001</c:v>
                </c:pt>
                <c:pt idx="75">
                  <c:v>71.39901792</c:v>
                </c:pt>
                <c:pt idx="76">
                  <c:v>81.00837418</c:v>
                </c:pt>
                <c:pt idx="77">
                  <c:v>80.88517823</c:v>
                </c:pt>
                <c:pt idx="78">
                  <c:v>84.15480739</c:v>
                </c:pt>
                <c:pt idx="79">
                  <c:v>82.59100608</c:v>
                </c:pt>
                <c:pt idx="80">
                  <c:v>84.26601758</c:v>
                </c:pt>
                <c:pt idx="81">
                  <c:v>81.72101249</c:v>
                </c:pt>
                <c:pt idx="82">
                  <c:v>81.44939837</c:v>
                </c:pt>
                <c:pt idx="83">
                  <c:v>78.88965334</c:v>
                </c:pt>
                <c:pt idx="84">
                  <c:v>82.14233659</c:v>
                </c:pt>
                <c:pt idx="85">
                  <c:v>80.43757224</c:v>
                </c:pt>
                <c:pt idx="86">
                  <c:v>84.73231671</c:v>
                </c:pt>
                <c:pt idx="87">
                  <c:v>81.56617512</c:v>
                </c:pt>
                <c:pt idx="88">
                  <c:v>75.65618163</c:v>
                </c:pt>
                <c:pt idx="89">
                  <c:v>81.50535102</c:v>
                </c:pt>
                <c:pt idx="90">
                  <c:v>83.26853519</c:v>
                </c:pt>
                <c:pt idx="91">
                  <c:v>73.53764608</c:v>
                </c:pt>
                <c:pt idx="92">
                  <c:v>80.78143453</c:v>
                </c:pt>
                <c:pt idx="93">
                  <c:v>80.29946405</c:v>
                </c:pt>
                <c:pt idx="94">
                  <c:v>83.69556606</c:v>
                </c:pt>
                <c:pt idx="95">
                  <c:v>78.85039054</c:v>
                </c:pt>
                <c:pt idx="96">
                  <c:v>82.86100441</c:v>
                </c:pt>
                <c:pt idx="97">
                  <c:v>87.90672225</c:v>
                </c:pt>
                <c:pt idx="98">
                  <c:v>78.45615194</c:v>
                </c:pt>
                <c:pt idx="99">
                  <c:v>80.14835493</c:v>
                </c:pt>
                <c:pt idx="100">
                  <c:v>75.27662461</c:v>
                </c:pt>
                <c:pt idx="101">
                  <c:v>80.09542668</c:v>
                </c:pt>
                <c:pt idx="102">
                  <c:v>84.41976097</c:v>
                </c:pt>
                <c:pt idx="103">
                  <c:v>68.06742938</c:v>
                </c:pt>
                <c:pt idx="104">
                  <c:v>63.71794567</c:v>
                </c:pt>
                <c:pt idx="105">
                  <c:v>83.46415465</c:v>
                </c:pt>
                <c:pt idx="106">
                  <c:v>83.20845542</c:v>
                </c:pt>
                <c:pt idx="107">
                  <c:v>79.73498438</c:v>
                </c:pt>
                <c:pt idx="108">
                  <c:v>78.04419668</c:v>
                </c:pt>
                <c:pt idx="109">
                  <c:v>84.14878827</c:v>
                </c:pt>
                <c:pt idx="110">
                  <c:v>81.15753767</c:v>
                </c:pt>
                <c:pt idx="111">
                  <c:v>83.53300974</c:v>
                </c:pt>
                <c:pt idx="112">
                  <c:v>74.52267293</c:v>
                </c:pt>
                <c:pt idx="113">
                  <c:v>81.30650131</c:v>
                </c:pt>
                <c:pt idx="114">
                  <c:v>85.66433689</c:v>
                </c:pt>
                <c:pt idx="115">
                  <c:v>84.80195612</c:v>
                </c:pt>
                <c:pt idx="116">
                  <c:v>83.34656483</c:v>
                </c:pt>
                <c:pt idx="117">
                  <c:v>85.4394442</c:v>
                </c:pt>
                <c:pt idx="118">
                  <c:v>81.76983242</c:v>
                </c:pt>
                <c:pt idx="119">
                  <c:v>83.33763951</c:v>
                </c:pt>
                <c:pt idx="120">
                  <c:v>79.48751571</c:v>
                </c:pt>
                <c:pt idx="121">
                  <c:v>77.66821536</c:v>
                </c:pt>
                <c:pt idx="122">
                  <c:v>79.94838669</c:v>
                </c:pt>
                <c:pt idx="123">
                  <c:v>83.99526533</c:v>
                </c:pt>
                <c:pt idx="124">
                  <c:v>77.60945602</c:v>
                </c:pt>
                <c:pt idx="125">
                  <c:v>83.2084389</c:v>
                </c:pt>
                <c:pt idx="126">
                  <c:v>82.25402734</c:v>
                </c:pt>
                <c:pt idx="127">
                  <c:v>82.19208527</c:v>
                </c:pt>
                <c:pt idx="128">
                  <c:v>82.19687824</c:v>
                </c:pt>
                <c:pt idx="129">
                  <c:v>82.17200088</c:v>
                </c:pt>
                <c:pt idx="130">
                  <c:v>80.01620086</c:v>
                </c:pt>
                <c:pt idx="131">
                  <c:v>82.16140381</c:v>
                </c:pt>
                <c:pt idx="132">
                  <c:v>79.66624893</c:v>
                </c:pt>
                <c:pt idx="133">
                  <c:v>78.58158686</c:v>
                </c:pt>
                <c:pt idx="134">
                  <c:v>86.55401961</c:v>
                </c:pt>
                <c:pt idx="135">
                  <c:v>85.14411381</c:v>
                </c:pt>
                <c:pt idx="136">
                  <c:v>80.78852689</c:v>
                </c:pt>
                <c:pt idx="137">
                  <c:v>84.83351247</c:v>
                </c:pt>
                <c:pt idx="138">
                  <c:v>86.5259463</c:v>
                </c:pt>
                <c:pt idx="139">
                  <c:v>80.51943749</c:v>
                </c:pt>
                <c:pt idx="140">
                  <c:v>76.18810271</c:v>
                </c:pt>
                <c:pt idx="141">
                  <c:v>80.52116783</c:v>
                </c:pt>
                <c:pt idx="142">
                  <c:v>85.37414837</c:v>
                </c:pt>
                <c:pt idx="143">
                  <c:v>84.66880523</c:v>
                </c:pt>
                <c:pt idx="144">
                  <c:v>82.11624773</c:v>
                </c:pt>
                <c:pt idx="145">
                  <c:v>79.45727005</c:v>
                </c:pt>
                <c:pt idx="146">
                  <c:v>84.91096846</c:v>
                </c:pt>
                <c:pt idx="147">
                  <c:v>88.15393433</c:v>
                </c:pt>
                <c:pt idx="148">
                  <c:v>81.9230989</c:v>
                </c:pt>
                <c:pt idx="149">
                  <c:v>85.45338774</c:v>
                </c:pt>
                <c:pt idx="150">
                  <c:v>88.26271763</c:v>
                </c:pt>
                <c:pt idx="151">
                  <c:v>84.68271066</c:v>
                </c:pt>
                <c:pt idx="152">
                  <c:v>79.7189989</c:v>
                </c:pt>
                <c:pt idx="153">
                  <c:v>86.28983861</c:v>
                </c:pt>
                <c:pt idx="154">
                  <c:v>82.89062084</c:v>
                </c:pt>
                <c:pt idx="155">
                  <c:v>80.61761089</c:v>
                </c:pt>
                <c:pt idx="156">
                  <c:v>85.85810365</c:v>
                </c:pt>
                <c:pt idx="157">
                  <c:v>86.205811</c:v>
                </c:pt>
                <c:pt idx="158">
                  <c:v>83.24550887</c:v>
                </c:pt>
                <c:pt idx="159">
                  <c:v>77.93873619</c:v>
                </c:pt>
                <c:pt idx="160">
                  <c:v>84.67239402</c:v>
                </c:pt>
                <c:pt idx="161">
                  <c:v>85.28682772</c:v>
                </c:pt>
                <c:pt idx="162">
                  <c:v>85.79037202</c:v>
                </c:pt>
                <c:pt idx="163">
                  <c:v>78.83615603</c:v>
                </c:pt>
                <c:pt idx="164">
                  <c:v>89.2324006</c:v>
                </c:pt>
                <c:pt idx="165">
                  <c:v>84.23166261</c:v>
                </c:pt>
                <c:pt idx="166">
                  <c:v>86.4679998</c:v>
                </c:pt>
                <c:pt idx="167">
                  <c:v>83.43044392</c:v>
                </c:pt>
                <c:pt idx="168">
                  <c:v>87.43816084</c:v>
                </c:pt>
                <c:pt idx="169">
                  <c:v>84.62372149</c:v>
                </c:pt>
                <c:pt idx="170">
                  <c:v>85.81481604</c:v>
                </c:pt>
                <c:pt idx="171">
                  <c:v>76.40979591</c:v>
                </c:pt>
                <c:pt idx="172">
                  <c:v>88.99015074</c:v>
                </c:pt>
                <c:pt idx="173">
                  <c:v>86.33556564</c:v>
                </c:pt>
                <c:pt idx="174">
                  <c:v>77.32054877</c:v>
                </c:pt>
                <c:pt idx="175">
                  <c:v>79.97855782</c:v>
                </c:pt>
                <c:pt idx="176">
                  <c:v>88.62553574</c:v>
                </c:pt>
                <c:pt idx="177">
                  <c:v>83.36868731</c:v>
                </c:pt>
                <c:pt idx="178">
                  <c:v>84.84423533</c:v>
                </c:pt>
                <c:pt idx="179">
                  <c:v>84.00240064</c:v>
                </c:pt>
                <c:pt idx="180">
                  <c:v>82.73584315</c:v>
                </c:pt>
                <c:pt idx="181">
                  <c:v>82.42739637</c:v>
                </c:pt>
                <c:pt idx="182">
                  <c:v>82.89151457</c:v>
                </c:pt>
                <c:pt idx="183">
                  <c:v>82.28612482</c:v>
                </c:pt>
                <c:pt idx="184">
                  <c:v>82.60281737</c:v>
                </c:pt>
                <c:pt idx="185">
                  <c:v>87.07597787</c:v>
                </c:pt>
                <c:pt idx="186">
                  <c:v>82.73298573</c:v>
                </c:pt>
                <c:pt idx="187">
                  <c:v>75.86023513</c:v>
                </c:pt>
                <c:pt idx="188">
                  <c:v>83.50594921</c:v>
                </c:pt>
                <c:pt idx="189">
                  <c:v>84.36491466</c:v>
                </c:pt>
                <c:pt idx="190">
                  <c:v>84.79830132</c:v>
                </c:pt>
                <c:pt idx="191">
                  <c:v>84.80134061</c:v>
                </c:pt>
                <c:pt idx="192">
                  <c:v>74.93718795</c:v>
                </c:pt>
                <c:pt idx="193">
                  <c:v>76.41507871</c:v>
                </c:pt>
                <c:pt idx="194">
                  <c:v>88.44652543</c:v>
                </c:pt>
                <c:pt idx="195">
                  <c:v>87.32379597</c:v>
                </c:pt>
                <c:pt idx="196">
                  <c:v>82.93102766</c:v>
                </c:pt>
                <c:pt idx="197">
                  <c:v>83.9000648</c:v>
                </c:pt>
                <c:pt idx="198">
                  <c:v>83.52634629</c:v>
                </c:pt>
                <c:pt idx="199">
                  <c:v>81.9743677</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10.9806406</c:v>
                </c:pt>
                <c:pt idx="1">
                  <c:v>37.56162166</c:v>
                </c:pt>
                <c:pt idx="2">
                  <c:v>53.65706612</c:v>
                </c:pt>
                <c:pt idx="3">
                  <c:v>54.80254686</c:v>
                </c:pt>
                <c:pt idx="4">
                  <c:v>63.43617948</c:v>
                </c:pt>
                <c:pt idx="5">
                  <c:v>61.68831812</c:v>
                </c:pt>
                <c:pt idx="6">
                  <c:v>69.56195522</c:v>
                </c:pt>
                <c:pt idx="7">
                  <c:v>70.63922431</c:v>
                </c:pt>
                <c:pt idx="8">
                  <c:v>63.31322491</c:v>
                </c:pt>
                <c:pt idx="9">
                  <c:v>71.75341024</c:v>
                </c:pt>
                <c:pt idx="10">
                  <c:v>68.91766099</c:v>
                </c:pt>
                <c:pt idx="11">
                  <c:v>74.71861634</c:v>
                </c:pt>
                <c:pt idx="12">
                  <c:v>80.2939221</c:v>
                </c:pt>
                <c:pt idx="13">
                  <c:v>76.93003246</c:v>
                </c:pt>
                <c:pt idx="14">
                  <c:v>72.3610044</c:v>
                </c:pt>
                <c:pt idx="15">
                  <c:v>73.6491964</c:v>
                </c:pt>
                <c:pt idx="16">
                  <c:v>73.65190214</c:v>
                </c:pt>
                <c:pt idx="17">
                  <c:v>73.09666921</c:v>
                </c:pt>
                <c:pt idx="18">
                  <c:v>68.52434692</c:v>
                </c:pt>
                <c:pt idx="19">
                  <c:v>77.601414</c:v>
                </c:pt>
                <c:pt idx="20">
                  <c:v>74.85026548</c:v>
                </c:pt>
                <c:pt idx="21">
                  <c:v>68.72206563</c:v>
                </c:pt>
                <c:pt idx="22">
                  <c:v>73.51411628</c:v>
                </c:pt>
                <c:pt idx="23">
                  <c:v>78.36791999</c:v>
                </c:pt>
                <c:pt idx="24">
                  <c:v>79.06767218</c:v>
                </c:pt>
                <c:pt idx="25">
                  <c:v>75.73801477</c:v>
                </c:pt>
                <c:pt idx="26">
                  <c:v>63.84851877</c:v>
                </c:pt>
                <c:pt idx="27">
                  <c:v>84.83895806</c:v>
                </c:pt>
                <c:pt idx="28">
                  <c:v>81.02823542</c:v>
                </c:pt>
                <c:pt idx="29">
                  <c:v>59.42355134</c:v>
                </c:pt>
                <c:pt idx="30">
                  <c:v>83.79641026</c:v>
                </c:pt>
                <c:pt idx="31">
                  <c:v>83.39309842</c:v>
                </c:pt>
                <c:pt idx="32">
                  <c:v>78.79329205</c:v>
                </c:pt>
                <c:pt idx="33">
                  <c:v>65.13926874</c:v>
                </c:pt>
                <c:pt idx="34">
                  <c:v>78.12969149</c:v>
                </c:pt>
                <c:pt idx="35">
                  <c:v>48.23430899</c:v>
                </c:pt>
                <c:pt idx="36">
                  <c:v>73.66133099</c:v>
                </c:pt>
                <c:pt idx="37">
                  <c:v>77.42034971</c:v>
                </c:pt>
                <c:pt idx="38">
                  <c:v>75.07587801</c:v>
                </c:pt>
                <c:pt idx="39">
                  <c:v>73.2814207</c:v>
                </c:pt>
                <c:pt idx="40">
                  <c:v>76.07215066</c:v>
                </c:pt>
                <c:pt idx="41">
                  <c:v>66.29497873</c:v>
                </c:pt>
                <c:pt idx="42">
                  <c:v>71.89613555</c:v>
                </c:pt>
                <c:pt idx="43">
                  <c:v>83.82526613</c:v>
                </c:pt>
                <c:pt idx="44">
                  <c:v>76.36918122</c:v>
                </c:pt>
                <c:pt idx="45">
                  <c:v>80.3067139</c:v>
                </c:pt>
                <c:pt idx="46">
                  <c:v>72.08607553</c:v>
                </c:pt>
                <c:pt idx="47">
                  <c:v>78.97082918</c:v>
                </c:pt>
                <c:pt idx="48">
                  <c:v>67.46083875</c:v>
                </c:pt>
                <c:pt idx="49">
                  <c:v>77.02655244</c:v>
                </c:pt>
                <c:pt idx="50">
                  <c:v>75.30604456</c:v>
                </c:pt>
                <c:pt idx="51">
                  <c:v>77.36919307</c:v>
                </c:pt>
                <c:pt idx="52">
                  <c:v>80.54382678</c:v>
                </c:pt>
                <c:pt idx="53">
                  <c:v>86.15197112</c:v>
                </c:pt>
                <c:pt idx="54">
                  <c:v>83.63128465</c:v>
                </c:pt>
                <c:pt idx="55">
                  <c:v>79.22168129</c:v>
                </c:pt>
                <c:pt idx="56">
                  <c:v>71.86888508</c:v>
                </c:pt>
                <c:pt idx="57">
                  <c:v>73.68720196</c:v>
                </c:pt>
                <c:pt idx="58">
                  <c:v>83.88883908</c:v>
                </c:pt>
                <c:pt idx="59">
                  <c:v>83.04237186</c:v>
                </c:pt>
                <c:pt idx="60">
                  <c:v>84.73668006</c:v>
                </c:pt>
                <c:pt idx="61">
                  <c:v>79.08325421</c:v>
                </c:pt>
                <c:pt idx="62">
                  <c:v>78.35293842</c:v>
                </c:pt>
                <c:pt idx="63">
                  <c:v>76.74697862</c:v>
                </c:pt>
                <c:pt idx="64">
                  <c:v>85.30958168</c:v>
                </c:pt>
                <c:pt idx="65">
                  <c:v>79.69742758</c:v>
                </c:pt>
                <c:pt idx="66">
                  <c:v>71.5236532</c:v>
                </c:pt>
                <c:pt idx="67">
                  <c:v>77.51731631</c:v>
                </c:pt>
                <c:pt idx="68">
                  <c:v>77.4362859</c:v>
                </c:pt>
                <c:pt idx="69">
                  <c:v>78.22838706</c:v>
                </c:pt>
                <c:pt idx="70">
                  <c:v>53.90194053</c:v>
                </c:pt>
                <c:pt idx="71">
                  <c:v>62.3287261</c:v>
                </c:pt>
                <c:pt idx="72">
                  <c:v>76.23277288</c:v>
                </c:pt>
                <c:pt idx="73">
                  <c:v>67.90768039</c:v>
                </c:pt>
                <c:pt idx="74">
                  <c:v>82.45811377</c:v>
                </c:pt>
                <c:pt idx="75">
                  <c:v>81.93561981</c:v>
                </c:pt>
                <c:pt idx="76">
                  <c:v>83.10964901</c:v>
                </c:pt>
                <c:pt idx="77">
                  <c:v>63.24397055</c:v>
                </c:pt>
                <c:pt idx="78">
                  <c:v>80.27041337</c:v>
                </c:pt>
                <c:pt idx="79">
                  <c:v>83.49300829</c:v>
                </c:pt>
                <c:pt idx="80">
                  <c:v>82.01134587</c:v>
                </c:pt>
                <c:pt idx="81">
                  <c:v>81.16359077</c:v>
                </c:pt>
                <c:pt idx="82">
                  <c:v>79.68469963</c:v>
                </c:pt>
                <c:pt idx="83">
                  <c:v>75.44220369</c:v>
                </c:pt>
                <c:pt idx="84">
                  <c:v>86.68524951</c:v>
                </c:pt>
                <c:pt idx="85">
                  <c:v>81.94491246</c:v>
                </c:pt>
                <c:pt idx="86">
                  <c:v>86.80597663</c:v>
                </c:pt>
                <c:pt idx="87">
                  <c:v>79.57487033</c:v>
                </c:pt>
                <c:pt idx="88">
                  <c:v>80.92515449</c:v>
                </c:pt>
                <c:pt idx="89">
                  <c:v>81.04210057</c:v>
                </c:pt>
                <c:pt idx="90">
                  <c:v>81.79306666</c:v>
                </c:pt>
                <c:pt idx="91">
                  <c:v>81.17893498</c:v>
                </c:pt>
                <c:pt idx="92">
                  <c:v>72.98017448</c:v>
                </c:pt>
                <c:pt idx="93">
                  <c:v>77.04626888</c:v>
                </c:pt>
                <c:pt idx="94">
                  <c:v>80.99060577</c:v>
                </c:pt>
                <c:pt idx="95">
                  <c:v>80.49217095</c:v>
                </c:pt>
                <c:pt idx="96">
                  <c:v>80.41330169</c:v>
                </c:pt>
                <c:pt idx="97">
                  <c:v>84.90163421</c:v>
                </c:pt>
                <c:pt idx="98">
                  <c:v>70.93962872</c:v>
                </c:pt>
                <c:pt idx="99">
                  <c:v>83.31532948</c:v>
                </c:pt>
                <c:pt idx="100">
                  <c:v>84.65780306</c:v>
                </c:pt>
                <c:pt idx="101">
                  <c:v>82.82376333</c:v>
                </c:pt>
                <c:pt idx="102">
                  <c:v>83.75316528</c:v>
                </c:pt>
                <c:pt idx="103">
                  <c:v>73.95803474</c:v>
                </c:pt>
                <c:pt idx="104">
                  <c:v>85.32731113</c:v>
                </c:pt>
                <c:pt idx="105">
                  <c:v>83.13570746</c:v>
                </c:pt>
                <c:pt idx="106">
                  <c:v>80.64948825</c:v>
                </c:pt>
                <c:pt idx="107">
                  <c:v>86.40262551</c:v>
                </c:pt>
                <c:pt idx="108">
                  <c:v>87.9253198</c:v>
                </c:pt>
                <c:pt idx="109">
                  <c:v>79.44837029</c:v>
                </c:pt>
                <c:pt idx="110">
                  <c:v>83.54930217</c:v>
                </c:pt>
                <c:pt idx="111">
                  <c:v>84.75616166</c:v>
                </c:pt>
                <c:pt idx="112">
                  <c:v>84.64357239</c:v>
                </c:pt>
                <c:pt idx="113">
                  <c:v>86.49724602</c:v>
                </c:pt>
                <c:pt idx="114">
                  <c:v>83.49287028</c:v>
                </c:pt>
                <c:pt idx="115">
                  <c:v>74.50668275</c:v>
                </c:pt>
                <c:pt idx="116">
                  <c:v>81.28915274</c:v>
                </c:pt>
                <c:pt idx="117">
                  <c:v>81.6874634</c:v>
                </c:pt>
                <c:pt idx="118">
                  <c:v>82.56824726</c:v>
                </c:pt>
                <c:pt idx="119">
                  <c:v>84.14180332</c:v>
                </c:pt>
                <c:pt idx="120">
                  <c:v>84.9119885</c:v>
                </c:pt>
                <c:pt idx="121">
                  <c:v>80.447872</c:v>
                </c:pt>
                <c:pt idx="122">
                  <c:v>86.07470589</c:v>
                </c:pt>
                <c:pt idx="123">
                  <c:v>76.31288617</c:v>
                </c:pt>
                <c:pt idx="124">
                  <c:v>79.61462022</c:v>
                </c:pt>
                <c:pt idx="125">
                  <c:v>85.83293021</c:v>
                </c:pt>
                <c:pt idx="126">
                  <c:v>68.39507231</c:v>
                </c:pt>
                <c:pt idx="127">
                  <c:v>84.41390945</c:v>
                </c:pt>
                <c:pt idx="128">
                  <c:v>87.48859146</c:v>
                </c:pt>
                <c:pt idx="129">
                  <c:v>75.41963858</c:v>
                </c:pt>
                <c:pt idx="130">
                  <c:v>77.28679331</c:v>
                </c:pt>
                <c:pt idx="131">
                  <c:v>84.66244485</c:v>
                </c:pt>
                <c:pt idx="132">
                  <c:v>78.23341947</c:v>
                </c:pt>
                <c:pt idx="133">
                  <c:v>84.43066107</c:v>
                </c:pt>
                <c:pt idx="134">
                  <c:v>80.93226723</c:v>
                </c:pt>
                <c:pt idx="135">
                  <c:v>82.82139076</c:v>
                </c:pt>
                <c:pt idx="136">
                  <c:v>86.64482464</c:v>
                </c:pt>
                <c:pt idx="137">
                  <c:v>81.15502046</c:v>
                </c:pt>
                <c:pt idx="138">
                  <c:v>82.0407632</c:v>
                </c:pt>
                <c:pt idx="139">
                  <c:v>84.12244361</c:v>
                </c:pt>
                <c:pt idx="140">
                  <c:v>85.54075905</c:v>
                </c:pt>
                <c:pt idx="141">
                  <c:v>86.63442027</c:v>
                </c:pt>
                <c:pt idx="142">
                  <c:v>83.13998</c:v>
                </c:pt>
                <c:pt idx="143">
                  <c:v>85.10234487</c:v>
                </c:pt>
                <c:pt idx="144">
                  <c:v>67.45538433</c:v>
                </c:pt>
                <c:pt idx="145">
                  <c:v>82.27196527</c:v>
                </c:pt>
                <c:pt idx="146">
                  <c:v>79.69151241</c:v>
                </c:pt>
                <c:pt idx="147">
                  <c:v>83.80105947</c:v>
                </c:pt>
                <c:pt idx="148">
                  <c:v>82.08231958</c:v>
                </c:pt>
                <c:pt idx="149">
                  <c:v>84.84007512</c:v>
                </c:pt>
                <c:pt idx="150">
                  <c:v>79.18049462</c:v>
                </c:pt>
                <c:pt idx="151">
                  <c:v>65.58785321</c:v>
                </c:pt>
                <c:pt idx="152">
                  <c:v>83.52242781</c:v>
                </c:pt>
                <c:pt idx="153">
                  <c:v>84.33148627</c:v>
                </c:pt>
                <c:pt idx="154">
                  <c:v>83.97513914</c:v>
                </c:pt>
                <c:pt idx="155">
                  <c:v>46.57198517</c:v>
                </c:pt>
                <c:pt idx="156">
                  <c:v>84.15566106</c:v>
                </c:pt>
                <c:pt idx="157">
                  <c:v>74.75307297</c:v>
                </c:pt>
                <c:pt idx="158">
                  <c:v>80.51969749</c:v>
                </c:pt>
                <c:pt idx="159">
                  <c:v>79.95066834</c:v>
                </c:pt>
                <c:pt idx="160">
                  <c:v>83.62533024</c:v>
                </c:pt>
                <c:pt idx="161">
                  <c:v>80.44112073</c:v>
                </c:pt>
                <c:pt idx="162">
                  <c:v>81.00776212</c:v>
                </c:pt>
                <c:pt idx="163">
                  <c:v>86.07769645</c:v>
                </c:pt>
                <c:pt idx="164">
                  <c:v>85.87774919</c:v>
                </c:pt>
                <c:pt idx="165">
                  <c:v>81.62824664</c:v>
                </c:pt>
                <c:pt idx="166">
                  <c:v>86.88115305</c:v>
                </c:pt>
                <c:pt idx="167">
                  <c:v>76.08422872</c:v>
                </c:pt>
                <c:pt idx="168">
                  <c:v>83.80639974</c:v>
                </c:pt>
                <c:pt idx="169">
                  <c:v>78.34878919</c:v>
                </c:pt>
                <c:pt idx="170">
                  <c:v>76.56162015</c:v>
                </c:pt>
                <c:pt idx="171">
                  <c:v>84.39472454</c:v>
                </c:pt>
                <c:pt idx="172">
                  <c:v>80.99329677</c:v>
                </c:pt>
                <c:pt idx="173">
                  <c:v>84.9360622</c:v>
                </c:pt>
                <c:pt idx="174">
                  <c:v>84.44495639</c:v>
                </c:pt>
                <c:pt idx="175">
                  <c:v>82.84928139</c:v>
                </c:pt>
                <c:pt idx="176">
                  <c:v>71.85020472</c:v>
                </c:pt>
                <c:pt idx="177">
                  <c:v>81.8778126</c:v>
                </c:pt>
                <c:pt idx="178">
                  <c:v>88.11186273</c:v>
                </c:pt>
                <c:pt idx="179">
                  <c:v>85.30003752</c:v>
                </c:pt>
                <c:pt idx="180">
                  <c:v>85.92242071</c:v>
                </c:pt>
                <c:pt idx="181">
                  <c:v>83.2370773</c:v>
                </c:pt>
                <c:pt idx="182">
                  <c:v>83.39455285</c:v>
                </c:pt>
                <c:pt idx="183">
                  <c:v>83.70798935</c:v>
                </c:pt>
                <c:pt idx="184">
                  <c:v>85.46546467</c:v>
                </c:pt>
                <c:pt idx="185">
                  <c:v>83.451032</c:v>
                </c:pt>
                <c:pt idx="186">
                  <c:v>80.47504321</c:v>
                </c:pt>
                <c:pt idx="187">
                  <c:v>87.52432487</c:v>
                </c:pt>
                <c:pt idx="188">
                  <c:v>84.50290782</c:v>
                </c:pt>
                <c:pt idx="189">
                  <c:v>78.36681645</c:v>
                </c:pt>
                <c:pt idx="190">
                  <c:v>85.43597605</c:v>
                </c:pt>
                <c:pt idx="191">
                  <c:v>85.15069122</c:v>
                </c:pt>
                <c:pt idx="192">
                  <c:v>78.59877749</c:v>
                </c:pt>
                <c:pt idx="193">
                  <c:v>85.19264076</c:v>
                </c:pt>
                <c:pt idx="194">
                  <c:v>67.04189323</c:v>
                </c:pt>
                <c:pt idx="195">
                  <c:v>84.30265594</c:v>
                </c:pt>
                <c:pt idx="196">
                  <c:v>70.00233559</c:v>
                </c:pt>
                <c:pt idx="197">
                  <c:v>84.05589141</c:v>
                </c:pt>
                <c:pt idx="198">
                  <c:v>53.21575885</c:v>
                </c:pt>
                <c:pt idx="199">
                  <c:v>76.42778881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4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7.98517854</c:v>
                </c:pt>
                <c:pt idx="1">
                  <c:v>9.77507794</c:v>
                </c:pt>
                <c:pt idx="2">
                  <c:v>5.56061723</c:v>
                </c:pt>
                <c:pt idx="3">
                  <c:v>9.00930377</c:v>
                </c:pt>
                <c:pt idx="4">
                  <c:v>3.49700188</c:v>
                </c:pt>
                <c:pt idx="5">
                  <c:v>7.9484208</c:v>
                </c:pt>
                <c:pt idx="6">
                  <c:v>20.83339818</c:v>
                </c:pt>
                <c:pt idx="7">
                  <c:v>70.72271496</c:v>
                </c:pt>
                <c:pt idx="8">
                  <c:v>57.2780115</c:v>
                </c:pt>
                <c:pt idx="9">
                  <c:v>70.72319392</c:v>
                </c:pt>
                <c:pt idx="10">
                  <c:v>81.89303556</c:v>
                </c:pt>
                <c:pt idx="11">
                  <c:v>69.81444243</c:v>
                </c:pt>
                <c:pt idx="12">
                  <c:v>10.05175587</c:v>
                </c:pt>
                <c:pt idx="13">
                  <c:v>39.07380919</c:v>
                </c:pt>
                <c:pt idx="14">
                  <c:v>84.23634729</c:v>
                </c:pt>
                <c:pt idx="15">
                  <c:v>78.80364813</c:v>
                </c:pt>
                <c:pt idx="16">
                  <c:v>77.44440279</c:v>
                </c:pt>
                <c:pt idx="17">
                  <c:v>43.36661709</c:v>
                </c:pt>
                <c:pt idx="18">
                  <c:v>75.31458505</c:v>
                </c:pt>
                <c:pt idx="19">
                  <c:v>62.22986982</c:v>
                </c:pt>
                <c:pt idx="20">
                  <c:v>70.91374629</c:v>
                </c:pt>
                <c:pt idx="21">
                  <c:v>76.24776888</c:v>
                </c:pt>
                <c:pt idx="22">
                  <c:v>85.17794994</c:v>
                </c:pt>
                <c:pt idx="23">
                  <c:v>80.92649913</c:v>
                </c:pt>
                <c:pt idx="24">
                  <c:v>76.7246521</c:v>
                </c:pt>
                <c:pt idx="25">
                  <c:v>69.48062029</c:v>
                </c:pt>
                <c:pt idx="26">
                  <c:v>78.91699049</c:v>
                </c:pt>
                <c:pt idx="27">
                  <c:v>63.10990764</c:v>
                </c:pt>
                <c:pt idx="28">
                  <c:v>65.01394445</c:v>
                </c:pt>
                <c:pt idx="29">
                  <c:v>82.08169265</c:v>
                </c:pt>
                <c:pt idx="30">
                  <c:v>80.83294825</c:v>
                </c:pt>
                <c:pt idx="31">
                  <c:v>77.69920496</c:v>
                </c:pt>
                <c:pt idx="32">
                  <c:v>84.68797991</c:v>
                </c:pt>
                <c:pt idx="33">
                  <c:v>86.28001032</c:v>
                </c:pt>
                <c:pt idx="34">
                  <c:v>62.95289514</c:v>
                </c:pt>
                <c:pt idx="35">
                  <c:v>50.24068309</c:v>
                </c:pt>
                <c:pt idx="36">
                  <c:v>72.1284938</c:v>
                </c:pt>
                <c:pt idx="37">
                  <c:v>81.83416897</c:v>
                </c:pt>
                <c:pt idx="38">
                  <c:v>75.70906763</c:v>
                </c:pt>
                <c:pt idx="39">
                  <c:v>78.91213127</c:v>
                </c:pt>
                <c:pt idx="40">
                  <c:v>75.20448991</c:v>
                </c:pt>
                <c:pt idx="41">
                  <c:v>76.18475061</c:v>
                </c:pt>
                <c:pt idx="42">
                  <c:v>89.08678527</c:v>
                </c:pt>
                <c:pt idx="43">
                  <c:v>64.82041885</c:v>
                </c:pt>
                <c:pt idx="44">
                  <c:v>67.29757035</c:v>
                </c:pt>
                <c:pt idx="45">
                  <c:v>77.41197223</c:v>
                </c:pt>
                <c:pt idx="46">
                  <c:v>72.95511827</c:v>
                </c:pt>
                <c:pt idx="47">
                  <c:v>72.31086893</c:v>
                </c:pt>
                <c:pt idx="48">
                  <c:v>82.86388236</c:v>
                </c:pt>
                <c:pt idx="49">
                  <c:v>67.05957886</c:v>
                </c:pt>
                <c:pt idx="50">
                  <c:v>88.27274337</c:v>
                </c:pt>
                <c:pt idx="51">
                  <c:v>85.97016267</c:v>
                </c:pt>
                <c:pt idx="52">
                  <c:v>76.04819129</c:v>
                </c:pt>
                <c:pt idx="53">
                  <c:v>81.67410926</c:v>
                </c:pt>
                <c:pt idx="54">
                  <c:v>84.88107511</c:v>
                </c:pt>
                <c:pt idx="55">
                  <c:v>73.42700172</c:v>
                </c:pt>
                <c:pt idx="56">
                  <c:v>81.59404489</c:v>
                </c:pt>
                <c:pt idx="57">
                  <c:v>78.3814755</c:v>
                </c:pt>
                <c:pt idx="58">
                  <c:v>83.62069869</c:v>
                </c:pt>
                <c:pt idx="59">
                  <c:v>78.19062662</c:v>
                </c:pt>
                <c:pt idx="60">
                  <c:v>86.27550982</c:v>
                </c:pt>
                <c:pt idx="61">
                  <c:v>74.97182212</c:v>
                </c:pt>
                <c:pt idx="62">
                  <c:v>84.92081547</c:v>
                </c:pt>
                <c:pt idx="63">
                  <c:v>85.09035131</c:v>
                </c:pt>
                <c:pt idx="64">
                  <c:v>77.86592661</c:v>
                </c:pt>
                <c:pt idx="65">
                  <c:v>72.22918943</c:v>
                </c:pt>
                <c:pt idx="66">
                  <c:v>81.76127579</c:v>
                </c:pt>
                <c:pt idx="67">
                  <c:v>75.2194788</c:v>
                </c:pt>
                <c:pt idx="68">
                  <c:v>89.14737603</c:v>
                </c:pt>
                <c:pt idx="69">
                  <c:v>85.05701402</c:v>
                </c:pt>
                <c:pt idx="70">
                  <c:v>85.23845447</c:v>
                </c:pt>
                <c:pt idx="71">
                  <c:v>78.92954607</c:v>
                </c:pt>
                <c:pt idx="72">
                  <c:v>90.57191825</c:v>
                </c:pt>
                <c:pt idx="73">
                  <c:v>74.94380177</c:v>
                </c:pt>
                <c:pt idx="74">
                  <c:v>37.76585323</c:v>
                </c:pt>
                <c:pt idx="75">
                  <c:v>86.23593894</c:v>
                </c:pt>
                <c:pt idx="76">
                  <c:v>86.3856866</c:v>
                </c:pt>
                <c:pt idx="77">
                  <c:v>82.62363528</c:v>
                </c:pt>
                <c:pt idx="78">
                  <c:v>87.02775878</c:v>
                </c:pt>
                <c:pt idx="79">
                  <c:v>55.10046384</c:v>
                </c:pt>
                <c:pt idx="80">
                  <c:v>78.25742161</c:v>
                </c:pt>
                <c:pt idx="81">
                  <c:v>80.8061341</c:v>
                </c:pt>
                <c:pt idx="82">
                  <c:v>85.8672989</c:v>
                </c:pt>
                <c:pt idx="83">
                  <c:v>82.42894659</c:v>
                </c:pt>
                <c:pt idx="84">
                  <c:v>88.70757589</c:v>
                </c:pt>
                <c:pt idx="85">
                  <c:v>87.06004164</c:v>
                </c:pt>
                <c:pt idx="86">
                  <c:v>84.7902667</c:v>
                </c:pt>
                <c:pt idx="87">
                  <c:v>86.84930611</c:v>
                </c:pt>
                <c:pt idx="88">
                  <c:v>86.16681394</c:v>
                </c:pt>
                <c:pt idx="89">
                  <c:v>87.32244765</c:v>
                </c:pt>
                <c:pt idx="90">
                  <c:v>84.18010717</c:v>
                </c:pt>
                <c:pt idx="91">
                  <c:v>86.22908684</c:v>
                </c:pt>
                <c:pt idx="92">
                  <c:v>87.91849077</c:v>
                </c:pt>
                <c:pt idx="93">
                  <c:v>82.56439472</c:v>
                </c:pt>
                <c:pt idx="94">
                  <c:v>88.51006397</c:v>
                </c:pt>
                <c:pt idx="95">
                  <c:v>82.48827665</c:v>
                </c:pt>
                <c:pt idx="96">
                  <c:v>84.53438585</c:v>
                </c:pt>
                <c:pt idx="97">
                  <c:v>85.10819392</c:v>
                </c:pt>
                <c:pt idx="98">
                  <c:v>87.74990566</c:v>
                </c:pt>
                <c:pt idx="99">
                  <c:v>84.10276145</c:v>
                </c:pt>
                <c:pt idx="100">
                  <c:v>74.04147074</c:v>
                </c:pt>
                <c:pt idx="101">
                  <c:v>83.48775524</c:v>
                </c:pt>
                <c:pt idx="102">
                  <c:v>81.80792278</c:v>
                </c:pt>
                <c:pt idx="103">
                  <c:v>88.84115153</c:v>
                </c:pt>
                <c:pt idx="104">
                  <c:v>80.08880521</c:v>
                </c:pt>
                <c:pt idx="105">
                  <c:v>84.58862157</c:v>
                </c:pt>
                <c:pt idx="106">
                  <c:v>87.14388777</c:v>
                </c:pt>
                <c:pt idx="107">
                  <c:v>86.91979997</c:v>
                </c:pt>
                <c:pt idx="108">
                  <c:v>77.70607246</c:v>
                </c:pt>
                <c:pt idx="109">
                  <c:v>76.61514187</c:v>
                </c:pt>
                <c:pt idx="110">
                  <c:v>81.78029698</c:v>
                </c:pt>
                <c:pt idx="111">
                  <c:v>82.38654667</c:v>
                </c:pt>
                <c:pt idx="112">
                  <c:v>73.7965901</c:v>
                </c:pt>
                <c:pt idx="113">
                  <c:v>88.05386167</c:v>
                </c:pt>
                <c:pt idx="114">
                  <c:v>43.62387282</c:v>
                </c:pt>
                <c:pt idx="115">
                  <c:v>83.81946428</c:v>
                </c:pt>
                <c:pt idx="116">
                  <c:v>58.94204242</c:v>
                </c:pt>
                <c:pt idx="117">
                  <c:v>82.85237168</c:v>
                </c:pt>
                <c:pt idx="118">
                  <c:v>71.07453708</c:v>
                </c:pt>
                <c:pt idx="119">
                  <c:v>80.35128235</c:v>
                </c:pt>
                <c:pt idx="120">
                  <c:v>74.00384537</c:v>
                </c:pt>
                <c:pt idx="121">
                  <c:v>85.72403102</c:v>
                </c:pt>
                <c:pt idx="122">
                  <c:v>78.46945543</c:v>
                </c:pt>
                <c:pt idx="123">
                  <c:v>71.62460242</c:v>
                </c:pt>
                <c:pt idx="124">
                  <c:v>78.393747</c:v>
                </c:pt>
                <c:pt idx="125">
                  <c:v>86.20897385</c:v>
                </c:pt>
                <c:pt idx="126">
                  <c:v>79.6818585</c:v>
                </c:pt>
                <c:pt idx="127">
                  <c:v>84.8032087</c:v>
                </c:pt>
                <c:pt idx="128">
                  <c:v>81.31834093</c:v>
                </c:pt>
                <c:pt idx="129">
                  <c:v>61.99722209</c:v>
                </c:pt>
                <c:pt idx="130">
                  <c:v>77.28635302</c:v>
                </c:pt>
                <c:pt idx="131">
                  <c:v>82.75388832</c:v>
                </c:pt>
                <c:pt idx="132">
                  <c:v>75.19603776</c:v>
                </c:pt>
                <c:pt idx="133">
                  <c:v>87.43596126</c:v>
                </c:pt>
                <c:pt idx="134">
                  <c:v>80.09684535</c:v>
                </c:pt>
                <c:pt idx="135">
                  <c:v>74.87005214</c:v>
                </c:pt>
                <c:pt idx="136">
                  <c:v>60.65035482</c:v>
                </c:pt>
                <c:pt idx="137">
                  <c:v>85.57304408</c:v>
                </c:pt>
                <c:pt idx="138">
                  <c:v>81.23181064</c:v>
                </c:pt>
                <c:pt idx="139">
                  <c:v>79.66083098</c:v>
                </c:pt>
                <c:pt idx="140">
                  <c:v>35.28494163</c:v>
                </c:pt>
                <c:pt idx="141">
                  <c:v>76.91737341</c:v>
                </c:pt>
                <c:pt idx="142">
                  <c:v>78.21553166</c:v>
                </c:pt>
                <c:pt idx="143">
                  <c:v>82.1035579</c:v>
                </c:pt>
                <c:pt idx="144">
                  <c:v>75.40695857</c:v>
                </c:pt>
                <c:pt idx="145">
                  <c:v>85.33332503</c:v>
                </c:pt>
                <c:pt idx="146">
                  <c:v>52.41473891</c:v>
                </c:pt>
                <c:pt idx="147">
                  <c:v>54.60252996</c:v>
                </c:pt>
                <c:pt idx="148">
                  <c:v>83.35494087</c:v>
                </c:pt>
                <c:pt idx="149">
                  <c:v>70.26102013</c:v>
                </c:pt>
                <c:pt idx="150">
                  <c:v>66.72590626</c:v>
                </c:pt>
                <c:pt idx="151">
                  <c:v>86.3367623</c:v>
                </c:pt>
                <c:pt idx="152">
                  <c:v>86.93580307</c:v>
                </c:pt>
                <c:pt idx="153">
                  <c:v>75.5074981</c:v>
                </c:pt>
                <c:pt idx="154">
                  <c:v>86.89661038</c:v>
                </c:pt>
                <c:pt idx="155">
                  <c:v>84.21207731</c:v>
                </c:pt>
                <c:pt idx="156">
                  <c:v>82.16126296</c:v>
                </c:pt>
                <c:pt idx="157">
                  <c:v>81.42742534</c:v>
                </c:pt>
                <c:pt idx="158">
                  <c:v>70.25287167</c:v>
                </c:pt>
                <c:pt idx="159">
                  <c:v>85.90488647</c:v>
                </c:pt>
                <c:pt idx="160">
                  <c:v>83.64660833</c:v>
                </c:pt>
                <c:pt idx="161">
                  <c:v>82.24049817</c:v>
                </c:pt>
                <c:pt idx="162">
                  <c:v>82.61064206</c:v>
                </c:pt>
                <c:pt idx="163">
                  <c:v>88.96430333</c:v>
                </c:pt>
                <c:pt idx="164">
                  <c:v>73.0831602</c:v>
                </c:pt>
                <c:pt idx="165">
                  <c:v>85.70591942</c:v>
                </c:pt>
                <c:pt idx="166">
                  <c:v>68.18151204</c:v>
                </c:pt>
                <c:pt idx="167">
                  <c:v>69.63567859</c:v>
                </c:pt>
                <c:pt idx="168">
                  <c:v>29.95204376</c:v>
                </c:pt>
                <c:pt idx="169">
                  <c:v>87.43177902</c:v>
                </c:pt>
                <c:pt idx="170">
                  <c:v>65.82904057</c:v>
                </c:pt>
                <c:pt idx="171">
                  <c:v>80.88079577</c:v>
                </c:pt>
                <c:pt idx="172">
                  <c:v>46.37588427</c:v>
                </c:pt>
                <c:pt idx="173">
                  <c:v>82.93994927</c:v>
                </c:pt>
                <c:pt idx="174">
                  <c:v>57.57046014</c:v>
                </c:pt>
                <c:pt idx="175">
                  <c:v>88.43960385</c:v>
                </c:pt>
                <c:pt idx="176">
                  <c:v>48.53497145</c:v>
                </c:pt>
                <c:pt idx="177">
                  <c:v>77.39427473</c:v>
                </c:pt>
                <c:pt idx="178">
                  <c:v>74.20859491</c:v>
                </c:pt>
                <c:pt idx="179">
                  <c:v>59.56084295</c:v>
                </c:pt>
                <c:pt idx="180">
                  <c:v>75.50877728</c:v>
                </c:pt>
                <c:pt idx="181">
                  <c:v>70.22553569</c:v>
                </c:pt>
                <c:pt idx="182">
                  <c:v>77.24060951</c:v>
                </c:pt>
                <c:pt idx="183">
                  <c:v>76.81532591</c:v>
                </c:pt>
                <c:pt idx="184">
                  <c:v>79.23785447</c:v>
                </c:pt>
                <c:pt idx="185">
                  <c:v>64.15707536</c:v>
                </c:pt>
                <c:pt idx="186">
                  <c:v>85.86077649</c:v>
                </c:pt>
                <c:pt idx="187">
                  <c:v>28.04227396</c:v>
                </c:pt>
                <c:pt idx="188">
                  <c:v>76.69800628</c:v>
                </c:pt>
                <c:pt idx="189">
                  <c:v>87.9583785</c:v>
                </c:pt>
                <c:pt idx="190">
                  <c:v>50.68537666</c:v>
                </c:pt>
                <c:pt idx="191">
                  <c:v>84.58175005</c:v>
                </c:pt>
                <c:pt idx="192">
                  <c:v>55.78492368</c:v>
                </c:pt>
                <c:pt idx="193">
                  <c:v>82.56278647</c:v>
                </c:pt>
                <c:pt idx="194">
                  <c:v>73.00439283</c:v>
                </c:pt>
                <c:pt idx="195">
                  <c:v>71.17267778</c:v>
                </c:pt>
                <c:pt idx="196">
                  <c:v>87.97678707</c:v>
                </c:pt>
                <c:pt idx="197">
                  <c:v>85.73573644</c:v>
                </c:pt>
                <c:pt idx="198">
                  <c:v>73.52459234</c:v>
                </c:pt>
                <c:pt idx="199">
                  <c:v>82.28382719</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7.35798001</c:v>
                </c:pt>
                <c:pt idx="1">
                  <c:v>7.10244842</c:v>
                </c:pt>
                <c:pt idx="2">
                  <c:v>7.90880571</c:v>
                </c:pt>
                <c:pt idx="3">
                  <c:v>7.81684186</c:v>
                </c:pt>
                <c:pt idx="4">
                  <c:v>4.81640787</c:v>
                </c:pt>
                <c:pt idx="5">
                  <c:v>19.89758567</c:v>
                </c:pt>
                <c:pt idx="6">
                  <c:v>8.83489796</c:v>
                </c:pt>
                <c:pt idx="7">
                  <c:v>53.1772507</c:v>
                </c:pt>
                <c:pt idx="8">
                  <c:v>6.08341073</c:v>
                </c:pt>
                <c:pt idx="9">
                  <c:v>49.259121</c:v>
                </c:pt>
                <c:pt idx="10">
                  <c:v>71.56239575</c:v>
                </c:pt>
                <c:pt idx="11">
                  <c:v>72.10968136</c:v>
                </c:pt>
                <c:pt idx="12">
                  <c:v>68.35887222</c:v>
                </c:pt>
                <c:pt idx="13">
                  <c:v>61.96673231</c:v>
                </c:pt>
                <c:pt idx="14">
                  <c:v>34.9885666</c:v>
                </c:pt>
                <c:pt idx="15">
                  <c:v>76.49417895</c:v>
                </c:pt>
                <c:pt idx="16">
                  <c:v>13.26654326</c:v>
                </c:pt>
                <c:pt idx="17">
                  <c:v>72.17470974</c:v>
                </c:pt>
                <c:pt idx="18">
                  <c:v>76.65393263</c:v>
                </c:pt>
                <c:pt idx="19">
                  <c:v>80.11901263</c:v>
                </c:pt>
                <c:pt idx="20">
                  <c:v>64.93323718</c:v>
                </c:pt>
                <c:pt idx="21">
                  <c:v>70.05897278</c:v>
                </c:pt>
                <c:pt idx="22">
                  <c:v>53.34004518</c:v>
                </c:pt>
                <c:pt idx="23">
                  <c:v>67.74735201</c:v>
                </c:pt>
                <c:pt idx="24">
                  <c:v>40.02624147</c:v>
                </c:pt>
                <c:pt idx="25">
                  <c:v>80.70063383</c:v>
                </c:pt>
                <c:pt idx="26">
                  <c:v>79.56128989</c:v>
                </c:pt>
                <c:pt idx="27">
                  <c:v>43.79190327</c:v>
                </c:pt>
                <c:pt idx="28">
                  <c:v>71.98574623</c:v>
                </c:pt>
                <c:pt idx="29">
                  <c:v>52.17175803</c:v>
                </c:pt>
                <c:pt idx="30">
                  <c:v>76.82954709</c:v>
                </c:pt>
                <c:pt idx="31">
                  <c:v>76.86879864</c:v>
                </c:pt>
                <c:pt idx="32">
                  <c:v>76.12369493</c:v>
                </c:pt>
                <c:pt idx="33">
                  <c:v>85.04905309</c:v>
                </c:pt>
                <c:pt idx="34">
                  <c:v>67.22188098</c:v>
                </c:pt>
                <c:pt idx="35">
                  <c:v>79.99428575</c:v>
                </c:pt>
                <c:pt idx="36">
                  <c:v>51.76009189</c:v>
                </c:pt>
                <c:pt idx="37">
                  <c:v>81.01983616</c:v>
                </c:pt>
                <c:pt idx="38">
                  <c:v>79.06094558</c:v>
                </c:pt>
                <c:pt idx="39">
                  <c:v>64.48411842</c:v>
                </c:pt>
                <c:pt idx="40">
                  <c:v>72.80682507</c:v>
                </c:pt>
                <c:pt idx="41">
                  <c:v>32.42583452</c:v>
                </c:pt>
                <c:pt idx="42">
                  <c:v>71.92971394</c:v>
                </c:pt>
                <c:pt idx="43">
                  <c:v>37.94937008</c:v>
                </c:pt>
                <c:pt idx="44">
                  <c:v>68.28734035</c:v>
                </c:pt>
                <c:pt idx="45">
                  <c:v>72.15423708</c:v>
                </c:pt>
                <c:pt idx="46">
                  <c:v>45.80769242</c:v>
                </c:pt>
                <c:pt idx="47">
                  <c:v>28.16757802</c:v>
                </c:pt>
                <c:pt idx="48">
                  <c:v>83.64061609</c:v>
                </c:pt>
                <c:pt idx="49">
                  <c:v>57.68064085</c:v>
                </c:pt>
                <c:pt idx="50">
                  <c:v>79.74815995</c:v>
                </c:pt>
                <c:pt idx="51">
                  <c:v>84.52375636</c:v>
                </c:pt>
                <c:pt idx="52">
                  <c:v>69.75879072</c:v>
                </c:pt>
                <c:pt idx="53">
                  <c:v>71.11951451</c:v>
                </c:pt>
                <c:pt idx="54">
                  <c:v>43.15185728</c:v>
                </c:pt>
                <c:pt idx="55">
                  <c:v>54.98250577</c:v>
                </c:pt>
                <c:pt idx="56">
                  <c:v>44.55281797</c:v>
                </c:pt>
                <c:pt idx="57">
                  <c:v>65.60258638</c:v>
                </c:pt>
                <c:pt idx="58">
                  <c:v>84.06080635</c:v>
                </c:pt>
                <c:pt idx="59">
                  <c:v>37.45731139</c:v>
                </c:pt>
                <c:pt idx="60">
                  <c:v>43.06348498</c:v>
                </c:pt>
                <c:pt idx="61">
                  <c:v>62.6246222</c:v>
                </c:pt>
                <c:pt idx="62">
                  <c:v>70.23088509</c:v>
                </c:pt>
                <c:pt idx="63">
                  <c:v>35.2664365</c:v>
                </c:pt>
                <c:pt idx="64">
                  <c:v>71.78289871</c:v>
                </c:pt>
                <c:pt idx="65">
                  <c:v>78.51388339</c:v>
                </c:pt>
                <c:pt idx="66">
                  <c:v>36.85070192</c:v>
                </c:pt>
                <c:pt idx="67">
                  <c:v>65.81869278</c:v>
                </c:pt>
                <c:pt idx="68">
                  <c:v>88.07934844</c:v>
                </c:pt>
                <c:pt idx="69">
                  <c:v>74.80737557</c:v>
                </c:pt>
                <c:pt idx="70">
                  <c:v>66.58396366</c:v>
                </c:pt>
                <c:pt idx="71">
                  <c:v>72.69366973</c:v>
                </c:pt>
                <c:pt idx="72">
                  <c:v>77.95321584</c:v>
                </c:pt>
                <c:pt idx="73">
                  <c:v>77.71248406</c:v>
                </c:pt>
                <c:pt idx="74">
                  <c:v>73.05558792</c:v>
                </c:pt>
                <c:pt idx="75">
                  <c:v>76.94756707</c:v>
                </c:pt>
                <c:pt idx="76">
                  <c:v>80.19979736</c:v>
                </c:pt>
                <c:pt idx="77">
                  <c:v>83.4571876</c:v>
                </c:pt>
                <c:pt idx="78">
                  <c:v>81.93450733</c:v>
                </c:pt>
                <c:pt idx="79">
                  <c:v>63.49693902</c:v>
                </c:pt>
                <c:pt idx="80">
                  <c:v>74.04093911</c:v>
                </c:pt>
                <c:pt idx="81">
                  <c:v>79.94322243</c:v>
                </c:pt>
                <c:pt idx="82">
                  <c:v>82.6953529</c:v>
                </c:pt>
                <c:pt idx="83">
                  <c:v>80.84456554</c:v>
                </c:pt>
                <c:pt idx="84">
                  <c:v>87.62001245</c:v>
                </c:pt>
                <c:pt idx="85">
                  <c:v>87.33909692</c:v>
                </c:pt>
                <c:pt idx="86">
                  <c:v>77.97846753</c:v>
                </c:pt>
                <c:pt idx="87">
                  <c:v>46.44066902</c:v>
                </c:pt>
                <c:pt idx="88">
                  <c:v>84.14345937</c:v>
                </c:pt>
                <c:pt idx="89">
                  <c:v>81.20548631</c:v>
                </c:pt>
                <c:pt idx="90">
                  <c:v>75.26795612</c:v>
                </c:pt>
                <c:pt idx="91">
                  <c:v>80.2207565</c:v>
                </c:pt>
                <c:pt idx="92">
                  <c:v>81.45436525</c:v>
                </c:pt>
                <c:pt idx="93">
                  <c:v>83.63708065</c:v>
                </c:pt>
                <c:pt idx="94">
                  <c:v>74.86844329</c:v>
                </c:pt>
                <c:pt idx="95">
                  <c:v>81.9021834</c:v>
                </c:pt>
                <c:pt idx="96">
                  <c:v>77.91186883</c:v>
                </c:pt>
                <c:pt idx="97">
                  <c:v>78.86019523</c:v>
                </c:pt>
                <c:pt idx="98">
                  <c:v>71.78776644</c:v>
                </c:pt>
                <c:pt idx="99">
                  <c:v>85.44532942</c:v>
                </c:pt>
                <c:pt idx="100">
                  <c:v>84.76849837</c:v>
                </c:pt>
                <c:pt idx="101">
                  <c:v>83.70625762</c:v>
                </c:pt>
                <c:pt idx="102">
                  <c:v>88.87879347</c:v>
                </c:pt>
                <c:pt idx="103">
                  <c:v>85.43459477</c:v>
                </c:pt>
                <c:pt idx="104">
                  <c:v>85.02155471</c:v>
                </c:pt>
                <c:pt idx="105">
                  <c:v>78.87429187</c:v>
                </c:pt>
                <c:pt idx="106">
                  <c:v>85.57451729</c:v>
                </c:pt>
                <c:pt idx="107">
                  <c:v>64.13819614</c:v>
                </c:pt>
                <c:pt idx="108">
                  <c:v>79.83222408</c:v>
                </c:pt>
                <c:pt idx="109">
                  <c:v>81.67776405</c:v>
                </c:pt>
                <c:pt idx="110">
                  <c:v>70.78538255</c:v>
                </c:pt>
                <c:pt idx="111">
                  <c:v>88.97868851</c:v>
                </c:pt>
                <c:pt idx="112">
                  <c:v>82.58886604</c:v>
                </c:pt>
                <c:pt idx="113">
                  <c:v>86.81479013</c:v>
                </c:pt>
                <c:pt idx="114">
                  <c:v>80.66110035</c:v>
                </c:pt>
                <c:pt idx="115">
                  <c:v>82.71815934</c:v>
                </c:pt>
                <c:pt idx="116">
                  <c:v>82.0636552</c:v>
                </c:pt>
                <c:pt idx="117">
                  <c:v>77.35956891</c:v>
                </c:pt>
                <c:pt idx="118">
                  <c:v>71.68292846</c:v>
                </c:pt>
                <c:pt idx="119">
                  <c:v>87.45894455</c:v>
                </c:pt>
                <c:pt idx="120">
                  <c:v>73.07051572</c:v>
                </c:pt>
                <c:pt idx="121">
                  <c:v>77.02833578</c:v>
                </c:pt>
                <c:pt idx="122">
                  <c:v>76.31974281</c:v>
                </c:pt>
                <c:pt idx="123">
                  <c:v>87.4014082</c:v>
                </c:pt>
                <c:pt idx="124">
                  <c:v>84.18807119</c:v>
                </c:pt>
                <c:pt idx="125">
                  <c:v>69.17007191</c:v>
                </c:pt>
                <c:pt idx="126">
                  <c:v>83.80953852</c:v>
                </c:pt>
                <c:pt idx="127">
                  <c:v>80.27620208</c:v>
                </c:pt>
                <c:pt idx="128">
                  <c:v>75.81859648</c:v>
                </c:pt>
                <c:pt idx="129">
                  <c:v>87.64739393</c:v>
                </c:pt>
                <c:pt idx="130">
                  <c:v>83.67540537</c:v>
                </c:pt>
                <c:pt idx="131">
                  <c:v>78.68757248</c:v>
                </c:pt>
                <c:pt idx="132">
                  <c:v>75.3459416</c:v>
                </c:pt>
                <c:pt idx="133">
                  <c:v>77.80722837</c:v>
                </c:pt>
                <c:pt idx="134">
                  <c:v>85.40892458</c:v>
                </c:pt>
                <c:pt idx="135">
                  <c:v>84.75043713</c:v>
                </c:pt>
                <c:pt idx="136">
                  <c:v>83.91685767</c:v>
                </c:pt>
                <c:pt idx="137">
                  <c:v>84.75825946</c:v>
                </c:pt>
                <c:pt idx="138">
                  <c:v>79.42503547</c:v>
                </c:pt>
                <c:pt idx="139">
                  <c:v>81.65187755</c:v>
                </c:pt>
                <c:pt idx="140">
                  <c:v>80.96823784</c:v>
                </c:pt>
                <c:pt idx="141">
                  <c:v>80.86087298</c:v>
                </c:pt>
                <c:pt idx="142">
                  <c:v>72.35669606</c:v>
                </c:pt>
                <c:pt idx="143">
                  <c:v>80.16869338</c:v>
                </c:pt>
                <c:pt idx="144">
                  <c:v>65.85394013</c:v>
                </c:pt>
                <c:pt idx="145">
                  <c:v>69.46620604</c:v>
                </c:pt>
                <c:pt idx="146">
                  <c:v>86.35382967</c:v>
                </c:pt>
                <c:pt idx="147">
                  <c:v>70.85387153</c:v>
                </c:pt>
                <c:pt idx="148">
                  <c:v>75.14915283</c:v>
                </c:pt>
                <c:pt idx="149">
                  <c:v>73.60082219</c:v>
                </c:pt>
                <c:pt idx="150">
                  <c:v>73.73113784</c:v>
                </c:pt>
                <c:pt idx="151">
                  <c:v>83.5698854</c:v>
                </c:pt>
                <c:pt idx="152">
                  <c:v>66.97568741</c:v>
                </c:pt>
                <c:pt idx="153">
                  <c:v>85.1099679</c:v>
                </c:pt>
                <c:pt idx="154">
                  <c:v>81.17951712</c:v>
                </c:pt>
                <c:pt idx="155">
                  <c:v>84.45701009</c:v>
                </c:pt>
                <c:pt idx="156">
                  <c:v>85.25763866</c:v>
                </c:pt>
                <c:pt idx="157">
                  <c:v>80.84924004</c:v>
                </c:pt>
                <c:pt idx="158">
                  <c:v>61.76614308</c:v>
                </c:pt>
                <c:pt idx="159">
                  <c:v>82.78851582</c:v>
                </c:pt>
                <c:pt idx="160">
                  <c:v>87.52629374</c:v>
                </c:pt>
                <c:pt idx="161">
                  <c:v>75.73017341</c:v>
                </c:pt>
                <c:pt idx="162">
                  <c:v>84.46437789</c:v>
                </c:pt>
                <c:pt idx="163">
                  <c:v>73.7175885</c:v>
                </c:pt>
                <c:pt idx="164">
                  <c:v>88.08285997</c:v>
                </c:pt>
                <c:pt idx="165">
                  <c:v>84.19939875</c:v>
                </c:pt>
                <c:pt idx="166">
                  <c:v>73.37701707</c:v>
                </c:pt>
                <c:pt idx="167">
                  <c:v>78.38745525</c:v>
                </c:pt>
                <c:pt idx="168">
                  <c:v>46.9747551</c:v>
                </c:pt>
                <c:pt idx="169">
                  <c:v>76.30302603</c:v>
                </c:pt>
                <c:pt idx="170">
                  <c:v>76.7797799</c:v>
                </c:pt>
                <c:pt idx="171">
                  <c:v>77.97896915</c:v>
                </c:pt>
                <c:pt idx="172">
                  <c:v>87.690733</c:v>
                </c:pt>
                <c:pt idx="173">
                  <c:v>88.31307182</c:v>
                </c:pt>
                <c:pt idx="174">
                  <c:v>85.87159991</c:v>
                </c:pt>
                <c:pt idx="175">
                  <c:v>84.57775939</c:v>
                </c:pt>
                <c:pt idx="176">
                  <c:v>78.25037973</c:v>
                </c:pt>
                <c:pt idx="177">
                  <c:v>88.16560983</c:v>
                </c:pt>
                <c:pt idx="178">
                  <c:v>88.34017051</c:v>
                </c:pt>
                <c:pt idx="179">
                  <c:v>78.96628329</c:v>
                </c:pt>
                <c:pt idx="180">
                  <c:v>83.71447918</c:v>
                </c:pt>
                <c:pt idx="181">
                  <c:v>87.39267603</c:v>
                </c:pt>
                <c:pt idx="182">
                  <c:v>83.62351665</c:v>
                </c:pt>
                <c:pt idx="183">
                  <c:v>72.4174916</c:v>
                </c:pt>
                <c:pt idx="184">
                  <c:v>79.83027518</c:v>
                </c:pt>
                <c:pt idx="185">
                  <c:v>65.49664395</c:v>
                </c:pt>
                <c:pt idx="186">
                  <c:v>78.7888335</c:v>
                </c:pt>
                <c:pt idx="187">
                  <c:v>71.05193612</c:v>
                </c:pt>
                <c:pt idx="188">
                  <c:v>86.43407657</c:v>
                </c:pt>
                <c:pt idx="189">
                  <c:v>70.20035007</c:v>
                </c:pt>
                <c:pt idx="190">
                  <c:v>80.95104342</c:v>
                </c:pt>
                <c:pt idx="191">
                  <c:v>80.81692858</c:v>
                </c:pt>
                <c:pt idx="192">
                  <c:v>81.12413138</c:v>
                </c:pt>
                <c:pt idx="193">
                  <c:v>76.84525746</c:v>
                </c:pt>
                <c:pt idx="194">
                  <c:v>82.83020494</c:v>
                </c:pt>
                <c:pt idx="195">
                  <c:v>87.29761892</c:v>
                </c:pt>
                <c:pt idx="196">
                  <c:v>86.80288331</c:v>
                </c:pt>
                <c:pt idx="197">
                  <c:v>87.12513026</c:v>
                </c:pt>
                <c:pt idx="198">
                  <c:v>83.56496447</c:v>
                </c:pt>
                <c:pt idx="199">
                  <c:v>82.1885415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4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Within-state AUROC</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725">
                        <a:latin typeface="Arial"/>
                        <a:ea typeface="Arial"/>
                        <a:cs typeface="Arial"/>
                      </a:rPr>
                      <a:t>0.529</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latin typeface="Arial"/>
                        <a:ea typeface="Arial"/>
                        <a:cs typeface="Arial"/>
                      </a:rPr>
                      <a:t>0.566</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a:latin typeface="Arial"/>
                        <a:ea typeface="Arial"/>
                        <a:cs typeface="Arial"/>
                      </a:rPr>
                      <a:t>0.513</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a:latin typeface="Arial"/>
                        <a:ea typeface="Arial"/>
                        <a:cs typeface="Arial"/>
                      </a:rPr>
                      <a:t>0.500</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BCA width</c:v>
                </c:pt>
                <c:pt idx="1">
                  <c:v>Distance</c:v>
                </c:pt>
                <c:pt idx="2">
                  <c:v>Random</c:v>
                </c:pt>
                <c:pt idx="3">
                  <c:v>Constant</c:v>
                </c:pt>
              </c:strCache>
            </c:strRef>
          </c:cat>
          <c:val>
            <c:numRef>
              <c:f>'Chart Data'!$B$2:$B$5</c:f>
              <c:numCache>
                <c:formatCode>0.00</c:formatCode>
                <c:ptCount val="4"/>
                <c:pt idx="0">
                  <c:v>0.529327</c:v>
                </c:pt>
                <c:pt idx="1">
                  <c:v>0.565805</c:v>
                </c:pt>
                <c:pt idx="2">
                  <c:v>0.513251</c:v>
                </c:pt>
                <c:pt idx="3">
                  <c:v>0.5</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BCA minus host</c:v>
          </c:tx>
          <c:spPr>
            <a:solidFill xmlns:a="http://schemas.openxmlformats.org/drawingml/2006/main">
              <a:srgbClr val="087F8C"/>
            </a:solidFill>
          </c:spPr>
          <c:invertIfNegative val="0"/>
          <c:dLbls>
            <c:dLbl>
              <c:idx val="0"/>
              <c:tx>
                <c:rich>
                  <a:bodyPr xmlns:a="http://schemas.openxmlformats.org/drawingml/2006/main"/>
                  <a:lstStyle xmlns:a="http://schemas.openxmlformats.org/drawingml/2006/main"/>
                  <a:p xmlns:a="http://schemas.openxmlformats.org/drawingml/2006/main">
                    <a:r>
                      <a:rPr sz="1875">
                        <a:latin typeface="Arial"/>
                        <a:ea typeface="Arial"/>
                        <a:cs typeface="Arial"/>
                      </a:rPr>
                      <a:t>+4.98</a:t>
                    </a:r>
                  </a:p>
                </c:rich>
              </c:tx>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a:latin typeface="Arial"/>
                        <a:ea typeface="Arial"/>
                        <a:cs typeface="Arial"/>
                      </a:rPr>
                      <a:t>−2.99</a:t>
                    </a:r>
                  </a:p>
                </c:rich>
              </c:tx>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a:latin typeface="Arial"/>
                        <a:ea typeface="Arial"/>
                        <a:cs typeface="Arial"/>
                      </a:rPr>
                      <a:t>+33.64</a:t>
                    </a:r>
                  </a:p>
                </c:rich>
              </c:tx>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0"/>
              <c:showCatName val="0"/>
              <c:showSerName val="0"/>
              <c:showPercent val="0"/>
              <c:showBubbleSize val="0"/>
            </c:dLbl>
          </c:dLbls>
          <c:cat>
            <c:strRef>
              <c:f>'Chart Data'!$A$2:$A$4</c:f>
              <c:strCache>
                <c:ptCount val="3"/>
                <c:pt idx="0">
                  <c:v>Seed 171</c:v>
                </c:pt>
                <c:pt idx="1">
                  <c:v>Seed 172</c:v>
                </c:pt>
                <c:pt idx="2">
                  <c:v>Seed 173</c:v>
                </c:pt>
              </c:strCache>
            </c:strRef>
          </c:cat>
          <c:val>
            <c:numRef>
              <c:f>'Chart Data'!$B$2:$B$4</c:f>
              <c:numCache>
                <c:formatCode>0</c:formatCode>
                <c:ptCount val="3"/>
                <c:pt idx="0">
                  <c:v>4.98050255</c:v>
                </c:pt>
                <c:pt idx="1">
                  <c:v>-2.98790618</c:v>
                </c:pt>
                <c:pt idx="2">
                  <c:v>33.63993993</c:v>
                </c:pt>
              </c:numCache>
            </c:numRef>
          </c:val>
        </c:ser>
        <c:dLbls>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40"/>
          <c:min val="-1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0970F6-4547-44E5-B064-EC51438AE139}"/>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B39E20-A2E7-46D4-A408-87FE1017E65E}"/>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Why are we doing this study?</a:t>
            </a:r>
          </a:p>
        </p:txBody>
      </p:sp>
      <p:sp>
        <p:nvSpPr>
          <p:cNvPr id="3" name="">
            <a:extLst xmlns:a="http://schemas.openxmlformats.org/drawingml/2006/main">
              <a:ext uri="{FF2B5EF4-FFF2-40B4-BE49-F238E27FC236}">
                <a16:creationId xmlns:a16="http://schemas.microsoft.com/office/drawing/2014/main" id="{8DAC02CC-7EAA-4C9B-A5C1-3ECB6F94181D}"/>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Advisor update | September 29, 2026 | Standard BCA first; importance weighting later</a:t>
            </a:r>
          </a:p>
        </p:txBody>
      </p:sp>
      <p:sp>
        <p:nvSpPr>
          <p:cNvPr id="4" name="">
            <a:extLst xmlns:a="http://schemas.openxmlformats.org/drawingml/2006/main">
              <a:ext uri="{FF2B5EF4-FFF2-40B4-BE49-F238E27FC236}">
                <a16:creationId xmlns:a16="http://schemas.microsoft.com/office/drawing/2014/main" id="{CCFFBE38-7BBD-4743-9581-9D94B8882257}"/>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EF19E0C-06AB-483C-B5D6-0D8CD44DA1C5}"/>
              </a:ext>
            </a:extLst>
          </p:cNvPr>
          <p:cNvSpPr>
            <a:spLocks xmlns:a="http://schemas.openxmlformats.org/drawingml/2006/main" noGrp="1"/>
          </p:cNvSpPr>
          <p:nvPr/>
        </p:nvSpPr>
        <p:spPr>
          <a:xfrm xmlns:a="http://schemas.openxmlformats.org/drawingml/2006/main">
            <a:off x="59055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20365C"/>
                </a:solidFill>
                <a:latin typeface="Arial"/>
                <a:ea typeface="Arial"/>
                <a:cs typeface="Arial"/>
              </a:defRPr>
            </a:pPr>
            <a:r>
              <a:rPr sz="3000" b="1">
                <a:solidFill>
                  <a:srgbClr val="20365C"/>
                </a:solidFill>
                <a:latin typeface="Arial"/>
                <a:ea typeface="Arial"/>
                <a:cs typeface="Arial"/>
              </a:rPr>
              <a:t>Does BCA help when an action has little support in the dataset?</a:t>
            </a:r>
          </a:p>
        </p:txBody>
      </p:sp>
      <p:sp>
        <p:nvSpPr>
          <p:cNvPr id="6" name="">
            <a:extLst xmlns:a="http://schemas.openxmlformats.org/drawingml/2006/main">
              <a:ext uri="{FF2B5EF4-FFF2-40B4-BE49-F238E27FC236}">
                <a16:creationId xmlns:a16="http://schemas.microsoft.com/office/drawing/2014/main" id="{DFF2FA3F-7410-4F84-BB3B-D2C1C7E80C05}"/>
              </a:ext>
            </a:extLst>
          </p:cNvPr>
          <p:cNvSpPr>
            <a:spLocks xmlns:a="http://schemas.openxmlformats.org/drawingml/2006/main" noGrp="1"/>
          </p:cNvSpPr>
          <p:nvPr/>
        </p:nvSpPr>
        <p:spPr>
          <a:xfrm xmlns:a="http://schemas.openxmlformats.org/drawingml/2006/main">
            <a:off x="685800" y="2762250"/>
            <a:ext cx="10668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900"/>
              </a:spcAft>
              <a:buChar char="•"/>
              <a:defRPr sz="2400" b="0">
                <a:solidFill>
                  <a:srgbClr val="192737"/>
                </a:solidFill>
                <a:latin typeface="Arial"/>
                <a:ea typeface="Arial"/>
                <a:cs typeface="Arial"/>
              </a:defRPr>
            </a:pPr>
            <a:r>
              <a:rPr sz="2400" b="0">
                <a:solidFill>
                  <a:srgbClr val="192737"/>
                </a:solidFill>
                <a:latin typeface="Arial"/>
                <a:ea typeface="Arial"/>
                <a:cs typeface="Arial"/>
              </a:rPr>
              <a:t>Why: training reward alone cannot tell us how the agent handles unfamiliar actions.</a:t>
            </a:r>
          </a:p>
          <a:p xmlns:a="http://schemas.openxmlformats.org/drawingml/2006/main">
            <a:pPr marL="228600" indent="-114300">
              <a:spcAft>
                <a:spcPts val="1900"/>
              </a:spcAft>
              <a:buChar char="•"/>
              <a:defRPr sz="2400" b="0">
                <a:solidFill>
                  <a:srgbClr val="192737"/>
                </a:solidFill>
                <a:latin typeface="Arial"/>
                <a:ea typeface="Arial"/>
                <a:cs typeface="Arial"/>
              </a:defRPr>
            </a:pPr>
            <a:r>
              <a:rPr sz="2400" b="0">
                <a:solidFill>
                  <a:srgbClr val="192737"/>
                </a:solidFill>
                <a:latin typeface="Arial"/>
                <a:ea typeface="Arial"/>
                <a:cs typeface="Arial"/>
              </a:rPr>
              <a:t>Test: do BCA warnings identify harmful actions, and does its policy handle them better?</a:t>
            </a:r>
          </a:p>
          <a:p xmlns:a="http://schemas.openxmlformats.org/drawingml/2006/main">
            <a:pPr marL="228600" indent="-114300">
              <a:spcAft>
                <a:spcPts val="1900"/>
              </a:spcAft>
              <a:buChar char="•"/>
              <a:defRPr sz="2400" b="0">
                <a:solidFill>
                  <a:srgbClr val="192737"/>
                </a:solidFill>
                <a:latin typeface="Arial"/>
                <a:ea typeface="Arial"/>
                <a:cs typeface="Arial"/>
              </a:defRPr>
            </a:pPr>
            <a:r>
              <a:rPr sz="2400" b="0">
                <a:solidFill>
                  <a:srgbClr val="192737"/>
                </a:solidFill>
                <a:latin typeface="Arial"/>
                <a:ea typeface="Arial"/>
                <a:cs typeface="Arial"/>
              </a:rPr>
              <a:t>Benefit: locate the limitation before deciding what to change.</a:t>
            </a:r>
          </a:p>
        </p:txBody>
      </p:sp>
      <p:sp>
        <p:nvSpPr>
          <p:cNvPr id="7" name="">
            <a:extLst xmlns:a="http://schemas.openxmlformats.org/drawingml/2006/main">
              <a:ext uri="{FF2B5EF4-FFF2-40B4-BE49-F238E27FC236}">
                <a16:creationId xmlns:a16="http://schemas.microsoft.com/office/drawing/2014/main" id="{7E5892DA-9DE5-40B7-934F-039B3C26A4C8}"/>
              </a:ext>
            </a:extLst>
          </p:cNvPr>
          <p:cNvSpPr>
            <a:spLocks xmlns:a="http://schemas.openxmlformats.org/drawingml/2006/main" noGrp="1"/>
          </p:cNvSpPr>
          <p:nvPr/>
        </p:nvSpPr>
        <p:spPr>
          <a:xfrm xmlns:a="http://schemas.openxmlformats.org/drawingml/2006/main">
            <a:off x="609600" y="56864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Expected result: useful warnings AND better behavior, repeated across seeds.</a:t>
            </a:r>
          </a:p>
        </p:txBody>
      </p:sp>
    </p:spTree>
    <p:extLst>
      <p:ext uri="{BB962C8B-B14F-4D97-AF65-F5344CB8AC3E}">
        <p14:creationId xmlns:p14="http://schemas.microsoft.com/office/powerpoint/2010/main" val="13244982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0CA5C5-DAFF-43FF-98DF-6338DBBA0912}"/>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50B807-FFE7-48CF-87F0-A17774C1C119}"/>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does the experiment actually do?</a:t>
            </a:r>
          </a:p>
        </p:txBody>
      </p:sp>
      <p:sp>
        <p:nvSpPr>
          <p:cNvPr id="3" name="">
            <a:extLst xmlns:a="http://schemas.openxmlformats.org/drawingml/2006/main">
              <a:ext uri="{FF2B5EF4-FFF2-40B4-BE49-F238E27FC236}">
                <a16:creationId xmlns:a16="http://schemas.microsoft.com/office/drawing/2014/main" id="{CC45255E-154F-4A8E-BFA1-C6C747D05C20}"/>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These are simulator tests after training. No policy or calibrator learning occurs during them.</a:t>
            </a:r>
          </a:p>
        </p:txBody>
      </p:sp>
      <p:sp>
        <p:nvSpPr>
          <p:cNvPr id="4" name="">
            <a:extLst xmlns:a="http://schemas.openxmlformats.org/drawingml/2006/main">
              <a:ext uri="{FF2B5EF4-FFF2-40B4-BE49-F238E27FC236}">
                <a16:creationId xmlns:a16="http://schemas.microsoft.com/office/drawing/2014/main" id="{0BF78414-ED68-4B0E-B228-E12F19CC727C}"/>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2</a:t>
            </a:r>
          </a:p>
        </p:txBody>
      </p:sp>
      <p:graphicFrame>
        <p:nvGraphicFramePr>
          <p:cNvPr id="10" name=""/>
          <p:cNvGraphicFramePr/>
          <p:nvPr/>
        </p:nvGraphicFramePr>
        <p:xfrm>
          <a:off xmlns:a="http://schemas.openxmlformats.org/drawingml/2006/main" x="495300" y="1457325"/>
          <a:ext xmlns:a="http://schemas.openxmlformats.org/drawingml/2006/main" cx="11201400" cy="4362450"/>
        </p:xfrm>
        <a:graphic xmlns:a="http://schemas.openxmlformats.org/drawingml/2006/main">
          <a:graphicData uri="http://schemas.openxmlformats.org/drawingml/2006/table">
            <a:tbl>
              <a:tblPr/>
              <a:tblGrid>
                <a:gridCol w="1666875"/>
                <a:gridCol w="5095875"/>
                <a:gridCol w="4438650"/>
              </a:tblGrid>
              <a:tr h="727075">
                <a:tc>
                  <a:txBody>
                    <a:bodyPr>
                      <a:noAutofit/>
                    </a:bodyPr>
                    <a:lstStyle/>
                    <a:p>
                      <a:r>
                        <a:rPr sz="1875" b="1">
                          <a:solidFill>
                            <a:srgbClr val="FFFFFF"/>
                          </a:solidFill>
                          <a:latin typeface="Arial"/>
                          <a:ea typeface="Arial"/>
                          <a:cs typeface="Arial"/>
                        </a:rPr>
                        <a:t>Step</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What we do</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Question answered</a:t>
                      </a:r>
                    </a:p>
                  </a:txBody>
                  <a:tcPr marL="114300" marR="95250" marT="76200" marB="66675" anchor="ctr">
                    <a:solidFill>
                      <a:srgbClr val="20365C"/>
                    </a:solidFill>
                  </a:tcPr>
                </a:tc>
              </a:tr>
              <a:tr h="727075">
                <a:tc>
                  <a:txBody>
                    <a:bodyPr>
                      <a:noAutofit/>
                    </a:bodyPr>
                    <a:lstStyle/>
                    <a:p>
                      <a:r>
                        <a:rPr sz="1875" b="0">
                          <a:solidFill>
                            <a:srgbClr val="192737"/>
                          </a:solidFill>
                          <a:latin typeface="Arial"/>
                          <a:ea typeface="Arial"/>
                          <a:cs typeface="Arial"/>
                        </a:rPr>
                        <a:t>1. Freeze</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Use trained host and BCA policies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Which learned policy are we testing?</a:t>
                      </a:r>
                    </a:p>
                  </a:txBody>
                  <a:tcPr marL="114300" marR="95250" marT="76200" marB="66675" anchor="ctr">
                    <a:solidFill>
                      <a:srgbClr val="FFFFFF"/>
                    </a:solidFill>
                  </a:tcPr>
                </a:tc>
              </a:tr>
              <a:tr h="727075">
                <a:tc>
                  <a:txBody>
                    <a:bodyPr>
                      <a:noAutofit/>
                    </a:bodyPr>
                    <a:lstStyle/>
                    <a:p>
                      <a:r>
                        <a:rPr sz="1875" b="0">
                          <a:solidFill>
                            <a:srgbClr val="192737"/>
                          </a:solidFill>
                          <a:latin typeface="Arial"/>
                          <a:ea typeface="Arial"/>
                          <a:cs typeface="Arial"/>
                        </a:rPr>
                        <a:t>2. Match</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Restore the same state and first action</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Is the starting situation comparable?</a:t>
                      </a:r>
                    </a:p>
                  </a:txBody>
                  <a:tcPr marL="114300" marR="95250" marT="76200" marB="66675" anchor="ctr">
                    <a:solidFill>
                      <a:srgbClr val="F1F4F8"/>
                    </a:solidFill>
                  </a:tcPr>
                </a:tc>
              </a:tr>
              <a:tr h="727075">
                <a:tc>
                  <a:txBody>
                    <a:bodyPr>
                      <a:noAutofit/>
                    </a:bodyPr>
                    <a:lstStyle/>
                    <a:p>
                      <a:r>
                        <a:rPr sz="1875" b="0">
                          <a:solidFill>
                            <a:srgbClr val="192737"/>
                          </a:solidFill>
                          <a:latin typeface="Arial"/>
                          <a:ea typeface="Arial"/>
                          <a:cs typeface="Arial"/>
                        </a:rPr>
                        <a:t>3. Stress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Try near, moderate and distant actions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Does action support matter?</a:t>
                      </a:r>
                    </a:p>
                  </a:txBody>
                  <a:tcPr marL="114300" marR="95250" marT="76200" marB="66675" anchor="ctr">
                    <a:solidFill>
                      <a:srgbClr val="FFFFFF"/>
                    </a:solidFill>
                  </a:tcPr>
                </a:tc>
              </a:tr>
              <a:tr h="727075">
                <a:tc>
                  <a:txBody>
                    <a:bodyPr>
                      <a:noAutofit/>
                    </a:bodyPr>
                    <a:lstStyle/>
                    <a:p>
                      <a:r>
                        <a:rPr sz="1875" b="0">
                          <a:solidFill>
                            <a:srgbClr val="192737"/>
                          </a:solidFill>
                          <a:latin typeface="Arial"/>
                          <a:ea typeface="Arial"/>
                          <a:cs typeface="Arial"/>
                        </a:rPr>
                        <a:t>4. Measure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Let each policy continue; record return</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What actually happens afterward?</a:t>
                      </a:r>
                    </a:p>
                  </a:txBody>
                  <a:tcPr marL="114300" marR="95250" marT="76200" marB="66675" anchor="ctr">
                    <a:solidFill>
                      <a:srgbClr val="F1F4F8"/>
                    </a:solidFill>
                  </a:tcPr>
                </a:tc>
              </a:tr>
              <a:tr h="727075">
                <a:tc>
                  <a:txBody>
                    <a:bodyPr>
                      <a:noAutofit/>
                    </a:bodyPr>
                    <a:lstStyle/>
                    <a:p>
                      <a:r>
                        <a:rPr sz="1875" b="0">
                          <a:solidFill>
                            <a:srgbClr val="192737"/>
                          </a:solidFill>
                          <a:latin typeface="Arial"/>
                          <a:ea typeface="Arial"/>
                          <a:cs typeface="Arial"/>
                        </a:rPr>
                        <a:t>5. Compare</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Check behavior, warning scores and seeds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Is any benefit useful and repeatable?</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5603727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6C7398-6112-4665-9F97-1A687980D9CA}"/>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539695-638D-4E67-9051-E96F7B021506}"/>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Why these experimental choices?</a:t>
            </a:r>
          </a:p>
        </p:txBody>
      </p:sp>
      <p:sp>
        <p:nvSpPr>
          <p:cNvPr id="3" name="">
            <a:extLst xmlns:a="http://schemas.openxmlformats.org/drawingml/2006/main">
              <a:ext uri="{FF2B5EF4-FFF2-40B4-BE49-F238E27FC236}">
                <a16:creationId xmlns:a16="http://schemas.microsoft.com/office/drawing/2014/main" id="{E1314CCD-C205-4B20-8DC3-726C626F49A0}"/>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The follow-up changes the measurement design; it does not tune coverage or replace unfavorable results.</a:t>
            </a:r>
          </a:p>
        </p:txBody>
      </p:sp>
      <p:sp>
        <p:nvSpPr>
          <p:cNvPr id="4" name="">
            <a:extLst xmlns:a="http://schemas.openxmlformats.org/drawingml/2006/main">
              <a:ext uri="{FF2B5EF4-FFF2-40B4-BE49-F238E27FC236}">
                <a16:creationId xmlns:a16="http://schemas.microsoft.com/office/drawing/2014/main" id="{AB4B7372-B387-4C47-92E5-3D605E32B077}"/>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3</a:t>
            </a:r>
          </a:p>
        </p:txBody>
      </p:sp>
      <p:graphicFrame>
        <p:nvGraphicFramePr>
          <p:cNvPr id="10" name=""/>
          <p:cNvGraphicFramePr/>
          <p:nvPr/>
        </p:nvGraphicFramePr>
        <p:xfrm>
          <a:off xmlns:a="http://schemas.openxmlformats.org/drawingml/2006/main" x="495300" y="1447800"/>
          <a:ext xmlns:a="http://schemas.openxmlformats.org/drawingml/2006/main" cx="11201400" cy="4419600"/>
        </p:xfrm>
        <a:graphic xmlns:a="http://schemas.openxmlformats.org/drawingml/2006/main">
          <a:graphicData uri="http://schemas.openxmlformats.org/drawingml/2006/table">
            <a:tbl>
              <a:tblPr/>
              <a:tblGrid>
                <a:gridCol w="3381375"/>
                <a:gridCol w="3857625"/>
                <a:gridCol w="3962400"/>
              </a:tblGrid>
              <a:tr h="736600">
                <a:tc>
                  <a:txBody>
                    <a:bodyPr>
                      <a:noAutofit/>
                    </a:bodyPr>
                    <a:lstStyle/>
                    <a:p>
                      <a:r>
                        <a:rPr sz="1800" b="1">
                          <a:solidFill>
                            <a:srgbClr val="FFFFFF"/>
                          </a:solidFill>
                          <a:latin typeface="Arial"/>
                          <a:ea typeface="Arial"/>
                          <a:cs typeface="Arial"/>
                        </a:rPr>
                        <a:t>Choice / change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Why it is needed</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What we expect to learn</a:t>
                      </a:r>
                    </a:p>
                  </a:txBody>
                  <a:tcPr marL="114300" marR="95250" marT="76200" marB="66675" anchor="ctr">
                    <a:solidFill>
                      <a:srgbClr val="20365C"/>
                    </a:solidFill>
                  </a:tcPr>
                </a:tc>
              </a:tr>
              <a:tr h="736600">
                <a:tc>
                  <a:txBody>
                    <a:bodyPr>
                      <a:noAutofit/>
                    </a:bodyPr>
                    <a:lstStyle/>
                    <a:p>
                      <a:r>
                        <a:rPr sz="1800" b="0">
                          <a:solidFill>
                            <a:srgbClr val="192737"/>
                          </a:solidFill>
                          <a:latin typeface="Arial"/>
                          <a:ea typeface="Arial"/>
                          <a:cs typeface="Arial"/>
                        </a:rPr>
                        <a:t>Standard BCA before IW</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Avoid changing two mechanisms at once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Does basic BCA help?</a:t>
                      </a:r>
                    </a:p>
                  </a:txBody>
                  <a:tcPr marL="114300" marR="95250" marT="76200" marB="66675" anchor="ctr">
                    <a:solidFill>
                      <a:srgbClr val="FFFFFF"/>
                    </a:solidFill>
                  </a:tcPr>
                </a:tc>
              </a:tr>
              <a:tr h="736600">
                <a:tc>
                  <a:txBody>
                    <a:bodyPr>
                      <a:noAutofit/>
                    </a:bodyPr>
                    <a:lstStyle/>
                    <a:p>
                      <a:r>
                        <a:rPr sz="1800" b="0">
                          <a:solidFill>
                            <a:srgbClr val="192737"/>
                          </a:solidFill>
                          <a:latin typeface="Arial"/>
                          <a:ea typeface="Arial"/>
                          <a:cs typeface="Arial"/>
                        </a:rPr>
                        <a:t>Three action-support bands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A few distant examples are insufficient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Does robustness vary with support?</a:t>
                      </a:r>
                    </a:p>
                  </a:txBody>
                  <a:tcPr marL="114300" marR="95250" marT="76200" marB="66675" anchor="ctr">
                    <a:solidFill>
                      <a:srgbClr val="F1F4F8"/>
                    </a:solidFill>
                  </a:tcPr>
                </a:tc>
              </a:tr>
              <a:tr h="736600">
                <a:tc>
                  <a:txBody>
                    <a:bodyPr>
                      <a:noAutofit/>
                    </a:bodyPr>
                    <a:lstStyle/>
                    <a:p>
                      <a:r>
                        <a:rPr sz="1800" b="0">
                          <a:solidFill>
                            <a:srgbClr val="192737"/>
                          </a:solidFill>
                          <a:latin typeface="Arial"/>
                          <a:ea typeface="Arial"/>
                          <a:cs typeface="Arial"/>
                        </a:rPr>
                        <a:t>Shared familiar-action anchor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Relative losses need a common reference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Less degradation or just a weaker baseline?</a:t>
                      </a:r>
                    </a:p>
                  </a:txBody>
                  <a:tcPr marL="114300" marR="95250" marT="76200" marB="66675" anchor="ctr">
                    <a:solidFill>
                      <a:srgbClr val="FFFFFF"/>
                    </a:solidFill>
                  </a:tcPr>
                </a:tc>
              </a:tr>
              <a:tr h="736600">
                <a:tc>
                  <a:txBody>
                    <a:bodyPr>
                      <a:noAutofit/>
                    </a:bodyPr>
                    <a:lstStyle/>
                    <a:p>
                      <a:r>
                        <a:rPr sz="1800" b="0">
                          <a:solidFill>
                            <a:srgbClr val="192737"/>
                          </a:solidFill>
                          <a:latin typeface="Arial"/>
                          <a:ea typeface="Arial"/>
                          <a:cs typeface="Arial"/>
                        </a:rPr>
                        <a:t>Separate action and state shift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Unfamiliar states can confound the test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Which type of shift matters?</a:t>
                      </a:r>
                    </a:p>
                  </a:txBody>
                  <a:tcPr marL="114300" marR="95250" marT="76200" marB="66675" anchor="ctr">
                    <a:solidFill>
                      <a:srgbClr val="F1F4F8"/>
                    </a:solidFill>
                  </a:tcPr>
                </a:tc>
              </a:tr>
              <a:tr h="736600">
                <a:tc>
                  <a:txBody>
                    <a:bodyPr>
                      <a:noAutofit/>
                    </a:bodyPr>
                    <a:lstStyle/>
                    <a:p>
                      <a:r>
                        <a:rPr sz="1800" b="0">
                          <a:solidFill>
                            <a:srgbClr val="192737"/>
                          </a:solidFill>
                          <a:latin typeface="Arial"/>
                          <a:ea typeface="Arial"/>
                          <a:cs typeface="Arial"/>
                        </a:rPr>
                        <a:t>Five training seeds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One favorable run may be accidental</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Does the effect repeat?</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6255799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845A97-8217-453C-BA7A-706E16ECFC46}"/>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52AB3C-4047-43F0-AB32-E00487C3A1DA}"/>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Where are we now?</a:t>
            </a:r>
          </a:p>
        </p:txBody>
      </p:sp>
      <p:sp>
        <p:nvSpPr>
          <p:cNvPr id="3" name="">
            <a:extLst xmlns:a="http://schemas.openxmlformats.org/drawingml/2006/main">
              <a:ext uri="{FF2B5EF4-FFF2-40B4-BE49-F238E27FC236}">
                <a16:creationId xmlns:a16="http://schemas.microsoft.com/office/drawing/2014/main" id="{EBB47A78-31B5-4A1D-AB8D-FCAB1216813F}"/>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Frozen snapshot: Sep 29, approximately 9:00 a.m. EDT. Counts distinguish results produced from reviewed results.</a:t>
            </a:r>
          </a:p>
        </p:txBody>
      </p:sp>
      <p:sp>
        <p:nvSpPr>
          <p:cNvPr id="4" name="">
            <a:extLst xmlns:a="http://schemas.openxmlformats.org/drawingml/2006/main">
              <a:ext uri="{FF2B5EF4-FFF2-40B4-BE49-F238E27FC236}">
                <a16:creationId xmlns:a16="http://schemas.microsoft.com/office/drawing/2014/main" id="{2D664A78-7730-4E34-9C62-046FFE9B9C47}"/>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4</a:t>
            </a:r>
          </a:p>
        </p:txBody>
      </p:sp>
      <p:graphicFrame>
        <p:nvGraphicFramePr>
          <p:cNvPr id="12" name=""/>
          <p:cNvGraphicFramePr/>
          <p:nvPr/>
        </p:nvGraphicFramePr>
        <p:xfrm>
          <a:off xmlns:a="http://schemas.openxmlformats.org/drawingml/2006/main" x="495300" y="1485900"/>
          <a:ext xmlns:a="http://schemas.openxmlformats.org/drawingml/2006/main" cx="11201400" cy="3238500"/>
        </p:xfrm>
        <a:graphic xmlns:a="http://schemas.openxmlformats.org/drawingml/2006/main">
          <a:graphicData uri="http://schemas.openxmlformats.org/drawingml/2006/table">
            <a:tbl>
              <a:tblPr/>
              <a:tblGrid>
                <a:gridCol w="3048000"/>
                <a:gridCol w="3952875"/>
                <a:gridCol w="4200525"/>
              </a:tblGrid>
              <a:tr h="647700">
                <a:tc>
                  <a:txBody>
                    <a:bodyPr>
                      <a:noAutofit/>
                    </a:bodyPr>
                    <a:lstStyle/>
                    <a:p>
                      <a:r>
                        <a:rPr sz="1875" b="1">
                          <a:solidFill>
                            <a:srgbClr val="FFFFFF"/>
                          </a:solidFill>
                          <a:latin typeface="Arial"/>
                          <a:ea typeface="Arial"/>
                          <a:cs typeface="Arial"/>
                        </a:rPr>
                        <a:t>Workstream</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Progress</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What that means</a:t>
                      </a:r>
                    </a:p>
                  </a:txBody>
                  <a:tcPr marL="114300" marR="95250" marT="76200" marB="66675" anchor="ctr">
                    <a:solidFill>
                      <a:srgbClr val="20365C"/>
                    </a:solidFill>
                  </a:tcPr>
                </a:tc>
              </a:tr>
              <a:tr h="647700">
                <a:tc>
                  <a:txBody>
                    <a:bodyPr>
                      <a:noAutofit/>
                    </a:bodyPr>
                    <a:lstStyle/>
                    <a:p>
                      <a:r>
                        <a:rPr sz="1875" b="0">
                          <a:solidFill>
                            <a:srgbClr val="192737"/>
                          </a:solidFill>
                          <a:latin typeface="Arial"/>
                          <a:ea typeface="Arial"/>
                          <a:cs typeface="Arial"/>
                        </a:rPr>
                        <a:t>Training grid</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94 / 280 results produced</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Eight training pairs independently reviewed</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Original OOD pilot</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One TD3+BC Hopper seed complete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Initial evidence; not the revised experiment</a:t>
                      </a:r>
                    </a:p>
                  </a:txBody>
                  <a:tcPr marL="114300" marR="95250" marT="76200" marB="66675" anchor="ctr">
                    <a:solidFill>
                      <a:srgbClr val="F1F4F8"/>
                    </a:solidFill>
                  </a:tcPr>
                </a:tc>
              </a:tr>
              <a:tr h="647700">
                <a:tc>
                  <a:txBody>
                    <a:bodyPr>
                      <a:noAutofit/>
                    </a:bodyPr>
                    <a:lstStyle/>
                    <a:p>
                      <a:r>
                        <a:rPr sz="1875" b="0">
                          <a:solidFill>
                            <a:srgbClr val="192737"/>
                          </a:solidFill>
                          <a:latin typeface="Arial"/>
                          <a:ea typeface="Arial"/>
                          <a:cs typeface="Arial"/>
                        </a:rPr>
                        <a:t>Revised OOD tranche</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 active / 20 pairs; 0 complete</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TD3+BC and ReBRAC, Hopper and Walker</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Resources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2 A100 training lanes + CPU OOD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Cluster and local execution both in use</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FF3381CE-91D4-4085-A6EA-BDB25303F097}"/>
              </a:ext>
            </a:extLst>
          </p:cNvPr>
          <p:cNvSpPr>
            <a:spLocks xmlns:a="http://schemas.openxmlformats.org/drawingml/2006/main" noGrp="1"/>
          </p:cNvSpPr>
          <p:nvPr/>
        </p:nvSpPr>
        <p:spPr>
          <a:xfrm xmlns:a="http://schemas.openxmlformats.org/drawingml/2006/main">
            <a:off x="600075" y="50101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CQL’s output check is corrected; its finished training was preserved.</a:t>
            </a:r>
          </a:p>
        </p:txBody>
      </p:sp>
      <p:sp>
        <p:nvSpPr>
          <p:cNvPr id="7" name="">
            <a:extLst xmlns:a="http://schemas.openxmlformats.org/drawingml/2006/main">
              <a:ext uri="{FF2B5EF4-FFF2-40B4-BE49-F238E27FC236}">
                <a16:creationId xmlns:a16="http://schemas.microsoft.com/office/drawing/2014/main" id="{833B896D-370A-4FF0-BCDA-EAA6FCC11CDA}"/>
              </a:ext>
            </a:extLst>
          </p:cNvPr>
          <p:cNvSpPr>
            <a:spLocks xmlns:a="http://schemas.openxmlformats.org/drawingml/2006/main" noGrp="1"/>
          </p:cNvSpPr>
          <p:nvPr/>
        </p:nvSpPr>
        <p:spPr>
          <a:xfrm xmlns:a="http://schemas.openxmlformats.org/drawingml/2006/main">
            <a:off x="600075" y="56102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Current bottleneck: finish simulator collection and verify saved outcomes.</a:t>
            </a:r>
          </a:p>
        </p:txBody>
      </p:sp>
    </p:spTree>
    <p:extLst>
      <p:ext uri="{BB962C8B-B14F-4D97-AF65-F5344CB8AC3E}">
        <p14:creationId xmlns:p14="http://schemas.microsoft.com/office/powerpoint/2010/main" val="346642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8E3EFC-45B3-45F0-8E21-ADD0CD4F9F3E}"/>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F79D0B-55E2-4D2B-9424-D005D60B559B}"/>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New training results: mixed, not a clear win</a:t>
            </a:r>
          </a:p>
        </p:txBody>
      </p:sp>
      <p:sp>
        <p:nvSpPr>
          <p:cNvPr id="3" name="">
            <a:extLst xmlns:a="http://schemas.openxmlformats.org/drawingml/2006/main">
              <a:ext uri="{FF2B5EF4-FFF2-40B4-BE49-F238E27FC236}">
                <a16:creationId xmlns:a16="http://schemas.microsoft.com/office/drawing/2014/main" id="{ACDF70F7-DCAF-4582-AFC9-1ACB000C8766}"/>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Seed 202609171 only. TD3+BC reviewed; CQL preliminary. CQL Hopper also differs in training hardware.</a:t>
            </a:r>
          </a:p>
        </p:txBody>
      </p:sp>
      <p:sp>
        <p:nvSpPr>
          <p:cNvPr id="4" name="">
            <a:extLst xmlns:a="http://schemas.openxmlformats.org/drawingml/2006/main">
              <a:ext uri="{FF2B5EF4-FFF2-40B4-BE49-F238E27FC236}">
                <a16:creationId xmlns:a16="http://schemas.microsoft.com/office/drawing/2014/main" id="{8B7E9703-AB60-48E1-8ED2-8D7D82272327}"/>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2709758E-2E86-4369-961F-FE64CA7B95AA}"/>
              </a:ext>
            </a:extLst>
          </p:cNvPr>
          <p:cNvSpPr>
            <a:spLocks xmlns:a="http://schemas.openxmlformats.org/drawingml/2006/main" noGrp="1"/>
          </p:cNvSpPr>
          <p:nvPr/>
        </p:nvSpPr>
        <p:spPr>
          <a:xfrm xmlns:a="http://schemas.openxmlformats.org/drawingml/2006/main">
            <a:off x="600075" y="12382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C6877"/>
                </a:solidFill>
                <a:latin typeface="Arial"/>
                <a:ea typeface="Arial"/>
                <a:cs typeface="Arial"/>
              </a:defRPr>
            </a:pPr>
            <a:r>
              <a:rPr sz="1725" b="0">
                <a:solidFill>
                  <a:srgbClr val="5C6877"/>
                </a:solidFill>
                <a:latin typeface="Arial"/>
                <a:ea typeface="Arial"/>
                <a:cs typeface="Arial"/>
              </a:rPr>
              <a:t>Normalized score; change = BCA minus host. Curve = average across periodic evaluations.</a:t>
            </a:r>
          </a:p>
        </p:txBody>
      </p:sp>
      <p:graphicFrame>
        <p:nvGraphicFramePr>
          <p:cNvPr id="14" name=""/>
          <p:cNvGraphicFramePr/>
          <p:nvPr/>
        </p:nvGraphicFramePr>
        <p:xfrm>
          <a:off xmlns:a="http://schemas.openxmlformats.org/drawingml/2006/main" x="495300" y="1762125"/>
          <a:ext xmlns:a="http://schemas.openxmlformats.org/drawingml/2006/main" cx="11201400" cy="2714625"/>
        </p:xfrm>
        <a:graphic xmlns:a="http://schemas.openxmlformats.org/drawingml/2006/main">
          <a:graphicData uri="http://schemas.openxmlformats.org/drawingml/2006/table">
            <a:tbl>
              <a:tblPr/>
              <a:tblGrid>
                <a:gridCol w="3429000"/>
                <a:gridCol w="1762125"/>
                <a:gridCol w="1762125"/>
                <a:gridCol w="2143125"/>
                <a:gridCol w="2105025"/>
              </a:tblGrid>
              <a:tr h="678656">
                <a:tc>
                  <a:txBody>
                    <a:bodyPr>
                      <a:noAutofit/>
                    </a:bodyPr>
                    <a:lstStyle/>
                    <a:p>
                      <a:r>
                        <a:rPr sz="2025" b="1">
                          <a:solidFill>
                            <a:srgbClr val="FFFFFF"/>
                          </a:solidFill>
                          <a:latin typeface="Arial"/>
                          <a:ea typeface="Arial"/>
                          <a:cs typeface="Arial"/>
                        </a:rPr>
                        <a:t>Pair</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Host final</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BCA final</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Final change</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Curve change</a:t>
                      </a:r>
                    </a:p>
                  </a:txBody>
                  <a:tcPr marL="114300" marR="95250" marT="76200" marB="66675" anchor="ctr">
                    <a:solidFill>
                      <a:srgbClr val="20365C"/>
                    </a:solidFill>
                  </a:tcPr>
                </a:tc>
              </a:tr>
              <a:tr h="678656">
                <a:tc>
                  <a:txBody>
                    <a:bodyPr>
                      <a:noAutofit/>
                    </a:bodyPr>
                    <a:lstStyle/>
                    <a:p>
                      <a:r>
                        <a:rPr sz="2025" b="0">
                          <a:solidFill>
                            <a:srgbClr val="192737"/>
                          </a:solidFill>
                          <a:latin typeface="Arial"/>
                          <a:ea typeface="Arial"/>
                          <a:cs typeface="Arial"/>
                        </a:rPr>
                        <a:t>CQL Hopper</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62.98</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56.79</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−6.19</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+0.07</a:t>
                      </a:r>
                    </a:p>
                  </a:txBody>
                  <a:tcPr marL="114300" marR="95250" marT="76200" marB="66675" anchor="ctr">
                    <a:solidFill>
                      <a:srgbClr val="FFFFFF"/>
                    </a:solidFill>
                  </a:tcPr>
                </a:tc>
              </a:tr>
              <a:tr h="678656">
                <a:tc>
                  <a:txBody>
                    <a:bodyPr>
                      <a:noAutofit/>
                    </a:bodyPr>
                    <a:lstStyle/>
                    <a:p>
                      <a:r>
                        <a:rPr sz="2025" b="0">
                          <a:solidFill>
                            <a:srgbClr val="192737"/>
                          </a:solidFill>
                          <a:latin typeface="Arial"/>
                          <a:ea typeface="Arial"/>
                          <a:cs typeface="Arial"/>
                        </a:rPr>
                        <a:t>CQL Walker</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80.13</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63.88</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−16.25</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−0.72</a:t>
                      </a:r>
                    </a:p>
                  </a:txBody>
                  <a:tcPr marL="114300" marR="95250" marT="76200" marB="66675" anchor="ctr">
                    <a:solidFill>
                      <a:srgbClr val="F1F4F8"/>
                    </a:solidFill>
                  </a:tcPr>
                </a:tc>
              </a:tr>
              <a:tr h="678656">
                <a:tc>
                  <a:txBody>
                    <a:bodyPr>
                      <a:noAutofit/>
                    </a:bodyPr>
                    <a:lstStyle/>
                    <a:p>
                      <a:r>
                        <a:rPr sz="2025" b="0">
                          <a:solidFill>
                            <a:srgbClr val="192737"/>
                          </a:solidFill>
                          <a:latin typeface="Arial"/>
                          <a:ea typeface="Arial"/>
                          <a:cs typeface="Arial"/>
                        </a:rPr>
                        <a:t>TD3+BC Walker</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77.25</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82.90</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+5.65</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−2.22</a:t>
                      </a:r>
                    </a:p>
                  </a:txBody>
                  <a:tcPr marL="114300" marR="95250" marT="76200"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756F7F2-61B2-4F60-9B12-5C62F0D97CE9}"/>
              </a:ext>
            </a:extLst>
          </p:cNvPr>
          <p:cNvSpPr>
            <a:spLocks xmlns:a="http://schemas.openxmlformats.org/drawingml/2006/main" noGrp="1"/>
          </p:cNvSpPr>
          <p:nvPr/>
        </p:nvSpPr>
        <p:spPr>
          <a:xfrm xmlns:a="http://schemas.openxmlformats.org/drawingml/2006/main">
            <a:off x="600075" y="48196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TD3+BC Walker ends higher, but its average learning curve is lower.</a:t>
            </a:r>
          </a:p>
        </p:txBody>
      </p:sp>
      <p:sp>
        <p:nvSpPr>
          <p:cNvPr id="8" name="">
            <a:extLst xmlns:a="http://schemas.openxmlformats.org/drawingml/2006/main">
              <a:ext uri="{FF2B5EF4-FFF2-40B4-BE49-F238E27FC236}">
                <a16:creationId xmlns:a16="http://schemas.microsoft.com/office/drawing/2014/main" id="{0C9D3F39-65C7-4C4A-942C-67339E7A0B1D}"/>
              </a:ext>
            </a:extLst>
          </p:cNvPr>
          <p:cNvSpPr>
            <a:spLocks xmlns:a="http://schemas.openxmlformats.org/drawingml/2006/main" noGrp="1"/>
          </p:cNvSpPr>
          <p:nvPr/>
        </p:nvSpPr>
        <p:spPr>
          <a:xfrm xmlns:a="http://schemas.openxmlformats.org/drawingml/2006/main">
            <a:off x="600075" y="5619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Meaning: a better endpoint is not yet evidence of a better OOD mechanism.</a:t>
            </a:r>
          </a:p>
        </p:txBody>
      </p:sp>
    </p:spTree>
    <p:extLst>
      <p:ext uri="{BB962C8B-B14F-4D97-AF65-F5344CB8AC3E}">
        <p14:creationId xmlns:p14="http://schemas.microsoft.com/office/powerpoint/2010/main" val="2599970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0703163-C9F6-43B1-B22B-FA09D9203142}"/>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32640C-79D6-41A7-AEE9-5F43EEF5815E}"/>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The learning curves explain that distinction</a:t>
            </a:r>
          </a:p>
        </p:txBody>
      </p:sp>
      <p:sp>
        <p:nvSpPr>
          <p:cNvPr id="3" name="">
            <a:extLst xmlns:a="http://schemas.openxmlformats.org/drawingml/2006/main">
              <a:ext uri="{FF2B5EF4-FFF2-40B4-BE49-F238E27FC236}">
                <a16:creationId xmlns:a16="http://schemas.microsoft.com/office/drawing/2014/main" id="{0A6E1336-E1A9-40FF-A2AF-D91578B86628}"/>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All 200 periodic means; no smoothing. Final reserved-bank scores are separate. CQL remains preliminary.</a:t>
            </a:r>
          </a:p>
        </p:txBody>
      </p:sp>
      <p:sp>
        <p:nvSpPr>
          <p:cNvPr id="4" name="">
            <a:extLst xmlns:a="http://schemas.openxmlformats.org/drawingml/2006/main">
              <a:ext uri="{FF2B5EF4-FFF2-40B4-BE49-F238E27FC236}">
                <a16:creationId xmlns:a16="http://schemas.microsoft.com/office/drawing/2014/main" id="{B204C937-DD11-493C-9565-09FA81691CF9}"/>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802DA1DF-A6C5-4969-992C-D2F52FE39779}"/>
              </a:ext>
            </a:extLst>
          </p:cNvPr>
          <p:cNvSpPr>
            <a:spLocks xmlns:a="http://schemas.openxmlformats.org/drawingml/2006/main" noGrp="1"/>
          </p:cNvSpPr>
          <p:nvPr/>
        </p:nvSpPr>
        <p:spPr>
          <a:xfrm xmlns:a="http://schemas.openxmlformats.org/drawingml/2006/main">
            <a:off x="523875" y="1333500"/>
            <a:ext cx="358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CQL · Hopper</a:t>
            </a:r>
          </a:p>
        </p:txBody>
      </p:sp>
      <p:sp>
        <p:nvSpPr>
          <p:cNvPr id="6" name="">
            <a:extLst xmlns:a="http://schemas.openxmlformats.org/drawingml/2006/main">
              <a:ext uri="{FF2B5EF4-FFF2-40B4-BE49-F238E27FC236}">
                <a16:creationId xmlns:a16="http://schemas.microsoft.com/office/drawing/2014/main" id="{B33A7716-F5C2-4350-BD46-0AD192C0E0EA}"/>
              </a:ext>
            </a:extLst>
          </p:cNvPr>
          <p:cNvSpPr>
            <a:spLocks xmlns:a="http://schemas.openxmlformats.org/drawingml/2006/main" noGrp="1"/>
          </p:cNvSpPr>
          <p:nvPr/>
        </p:nvSpPr>
        <p:spPr>
          <a:xfrm xmlns:a="http://schemas.openxmlformats.org/drawingml/2006/main">
            <a:off x="523875" y="174307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C6877"/>
                </a:solidFill>
                <a:latin typeface="Arial"/>
                <a:ea typeface="Arial"/>
                <a:cs typeface="Arial"/>
              </a:defRPr>
            </a:pPr>
            <a:r>
              <a:rPr sz="1425" b="0">
                <a:solidFill>
                  <a:srgbClr val="5C6877"/>
                </a:solidFill>
                <a:latin typeface="Arial"/>
                <a:ea typeface="Arial"/>
                <a:cs typeface="Arial"/>
              </a:rPr>
              <a:t>Normalized score</a:t>
            </a:r>
          </a:p>
        </p:txBody>
      </p:sp>
      <p:graphicFrame>
        <p:nvGraphicFramePr>
          <p:cNvPr id="21" name="Chart"/>
          <p:cNvGraphicFramePr/>
          <p:nvPr/>
        </p:nvGraphicFramePr>
        <p:xfrm>
          <a:off xmlns:a="http://schemas.openxmlformats.org/drawingml/2006/main" x="409575" y="2057400"/>
          <a:ext xmlns:a="http://schemas.openxmlformats.org/drawingml/2006/main" cx="3714750" cy="3267075"/>
        </p:xfrm>
        <a:graphic xmlns:a="http://schemas.openxmlformats.org/drawingml/2006/main">
          <a:graphicData uri="http://schemas.openxmlformats.org/drawingml/2006/chart">
            <c:chart xmlns:r="http://schemas.openxmlformats.org/officeDocument/2006/relationships" xmlns:c="http://schemas.openxmlformats.org/drawingml/2006/chart" r:id="Rac562fb949224d55"/>
          </a:graphicData>
        </a:graphic>
      </p:graphicFrame>
      <p:sp>
        <p:nvSpPr>
          <p:cNvPr id="8" name="">
            <a:extLst xmlns:a="http://schemas.openxmlformats.org/drawingml/2006/main">
              <a:ext uri="{FF2B5EF4-FFF2-40B4-BE49-F238E27FC236}">
                <a16:creationId xmlns:a16="http://schemas.microsoft.com/office/drawing/2014/main" id="{A67BECEE-F229-4294-93C5-B1628319D2F7}"/>
              </a:ext>
            </a:extLst>
          </p:cNvPr>
          <p:cNvSpPr>
            <a:spLocks xmlns:a="http://schemas.openxmlformats.org/drawingml/2006/main" noGrp="1"/>
          </p:cNvSpPr>
          <p:nvPr/>
        </p:nvSpPr>
        <p:spPr>
          <a:xfrm xmlns:a="http://schemas.openxmlformats.org/drawingml/2006/main">
            <a:off x="4381500" y="1333500"/>
            <a:ext cx="358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CQL · Walker</a:t>
            </a:r>
          </a:p>
        </p:txBody>
      </p:sp>
      <p:sp>
        <p:nvSpPr>
          <p:cNvPr id="9" name="">
            <a:extLst xmlns:a="http://schemas.openxmlformats.org/drawingml/2006/main">
              <a:ext uri="{FF2B5EF4-FFF2-40B4-BE49-F238E27FC236}">
                <a16:creationId xmlns:a16="http://schemas.microsoft.com/office/drawing/2014/main" id="{FEC86FB2-A8A7-465A-B3D7-6447CE981A5B}"/>
              </a:ext>
            </a:extLst>
          </p:cNvPr>
          <p:cNvSpPr>
            <a:spLocks xmlns:a="http://schemas.openxmlformats.org/drawingml/2006/main" noGrp="1"/>
          </p:cNvSpPr>
          <p:nvPr/>
        </p:nvSpPr>
        <p:spPr>
          <a:xfrm xmlns:a="http://schemas.openxmlformats.org/drawingml/2006/main">
            <a:off x="4381500" y="174307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C6877"/>
                </a:solidFill>
                <a:latin typeface="Arial"/>
                <a:ea typeface="Arial"/>
                <a:cs typeface="Arial"/>
              </a:defRPr>
            </a:pPr>
            <a:r>
              <a:rPr sz="1425" b="0">
                <a:solidFill>
                  <a:srgbClr val="5C6877"/>
                </a:solidFill>
                <a:latin typeface="Arial"/>
                <a:ea typeface="Arial"/>
                <a:cs typeface="Arial"/>
              </a:rPr>
              <a:t>Normalized score</a:t>
            </a:r>
          </a:p>
        </p:txBody>
      </p:sp>
      <p:graphicFrame>
        <p:nvGraphicFramePr>
          <p:cNvPr id="24" name="Chart"/>
          <p:cNvGraphicFramePr/>
          <p:nvPr/>
        </p:nvGraphicFramePr>
        <p:xfrm>
          <a:off xmlns:a="http://schemas.openxmlformats.org/drawingml/2006/main" x="4267200" y="2057400"/>
          <a:ext xmlns:a="http://schemas.openxmlformats.org/drawingml/2006/main" cx="3714750" cy="3267075"/>
        </p:xfrm>
        <a:graphic xmlns:a="http://schemas.openxmlformats.org/drawingml/2006/main">
          <a:graphicData uri="http://schemas.openxmlformats.org/drawingml/2006/chart">
            <c:chart xmlns:r="http://schemas.openxmlformats.org/officeDocument/2006/relationships" xmlns:c="http://schemas.openxmlformats.org/drawingml/2006/chart" r:id="Rc1c3430c82c843aa"/>
          </a:graphicData>
        </a:graphic>
      </p:graphicFrame>
      <p:sp>
        <p:nvSpPr>
          <p:cNvPr id="11" name="">
            <a:extLst xmlns:a="http://schemas.openxmlformats.org/drawingml/2006/main">
              <a:ext uri="{FF2B5EF4-FFF2-40B4-BE49-F238E27FC236}">
                <a16:creationId xmlns:a16="http://schemas.microsoft.com/office/drawing/2014/main" id="{D4DB98C9-7422-46C5-A292-DD5313502710}"/>
              </a:ext>
            </a:extLst>
          </p:cNvPr>
          <p:cNvSpPr>
            <a:spLocks xmlns:a="http://schemas.openxmlformats.org/drawingml/2006/main" noGrp="1"/>
          </p:cNvSpPr>
          <p:nvPr/>
        </p:nvSpPr>
        <p:spPr>
          <a:xfrm xmlns:a="http://schemas.openxmlformats.org/drawingml/2006/main">
            <a:off x="8239125" y="1333500"/>
            <a:ext cx="358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TD3+BC · Walker</a:t>
            </a:r>
          </a:p>
        </p:txBody>
      </p:sp>
      <p:sp>
        <p:nvSpPr>
          <p:cNvPr id="12" name="">
            <a:extLst xmlns:a="http://schemas.openxmlformats.org/drawingml/2006/main">
              <a:ext uri="{FF2B5EF4-FFF2-40B4-BE49-F238E27FC236}">
                <a16:creationId xmlns:a16="http://schemas.microsoft.com/office/drawing/2014/main" id="{F23BE39D-D63D-4FB4-952B-50B1F851D055}"/>
              </a:ext>
            </a:extLst>
          </p:cNvPr>
          <p:cNvSpPr>
            <a:spLocks xmlns:a="http://schemas.openxmlformats.org/drawingml/2006/main" noGrp="1"/>
          </p:cNvSpPr>
          <p:nvPr/>
        </p:nvSpPr>
        <p:spPr>
          <a:xfrm xmlns:a="http://schemas.openxmlformats.org/drawingml/2006/main">
            <a:off x="8239125" y="174307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C6877"/>
                </a:solidFill>
                <a:latin typeface="Arial"/>
                <a:ea typeface="Arial"/>
                <a:cs typeface="Arial"/>
              </a:defRPr>
            </a:pPr>
            <a:r>
              <a:rPr sz="1425" b="0">
                <a:solidFill>
                  <a:srgbClr val="5C6877"/>
                </a:solidFill>
                <a:latin typeface="Arial"/>
                <a:ea typeface="Arial"/>
                <a:cs typeface="Arial"/>
              </a:rPr>
              <a:t>Normalized score</a:t>
            </a:r>
          </a:p>
        </p:txBody>
      </p:sp>
      <p:graphicFrame>
        <p:nvGraphicFramePr>
          <p:cNvPr id="27" name="Chart"/>
          <p:cNvGraphicFramePr/>
          <p:nvPr/>
        </p:nvGraphicFramePr>
        <p:xfrm>
          <a:off xmlns:a="http://schemas.openxmlformats.org/drawingml/2006/main" x="8124825" y="2057400"/>
          <a:ext xmlns:a="http://schemas.openxmlformats.org/drawingml/2006/main" cx="3714750" cy="3267075"/>
        </p:xfrm>
        <a:graphic xmlns:a="http://schemas.openxmlformats.org/drawingml/2006/main">
          <a:graphicData uri="http://schemas.openxmlformats.org/drawingml/2006/chart">
            <c:chart xmlns:r="http://schemas.openxmlformats.org/officeDocument/2006/relationships" xmlns:c="http://schemas.openxmlformats.org/drawingml/2006/chart" r:id="R4bfeff09c0094a3e"/>
          </a:graphicData>
        </a:graphic>
      </p:graphicFrame>
      <p:sp>
        <p:nvSpPr>
          <p:cNvPr id="14" name="">
            <a:extLst xmlns:a="http://schemas.openxmlformats.org/drawingml/2006/main">
              <a:ext uri="{FF2B5EF4-FFF2-40B4-BE49-F238E27FC236}">
                <a16:creationId xmlns:a16="http://schemas.microsoft.com/office/drawing/2014/main" id="{FD15905B-AB98-4AC4-80B7-4674F0C52A9F}"/>
              </a:ext>
            </a:extLst>
          </p:cNvPr>
          <p:cNvSpPr>
            <a:spLocks xmlns:a="http://schemas.openxmlformats.org/drawingml/2006/main" noGrp="1"/>
          </p:cNvSpPr>
          <p:nvPr/>
        </p:nvSpPr>
        <p:spPr>
          <a:xfrm xmlns:a="http://schemas.openxmlformats.org/drawingml/2006/main">
            <a:off x="590550" y="56292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0365C"/>
                </a:solidFill>
                <a:latin typeface="Arial"/>
                <a:ea typeface="Arial"/>
                <a:cs typeface="Arial"/>
              </a:defRPr>
            </a:pPr>
            <a:r>
              <a:rPr sz="2325" b="1">
                <a:solidFill>
                  <a:srgbClr val="20365C"/>
                </a:solidFill>
                <a:latin typeface="Arial"/>
                <a:ea typeface="Arial"/>
                <a:cs typeface="Arial"/>
              </a:rPr>
              <a:t>BCA does not consistently stay above its host across training.</a:t>
            </a:r>
          </a:p>
        </p:txBody>
      </p:sp>
    </p:spTree>
    <p:extLst>
      <p:ext uri="{BB962C8B-B14F-4D97-AF65-F5344CB8AC3E}">
        <p14:creationId xmlns:p14="http://schemas.microsoft.com/office/powerpoint/2010/main" val="15685771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B64390-77B5-4329-A7B4-D3273CCF6768}"/>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ABC053-B417-4C3E-AB4F-AE6DD48B4D53}"/>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First OOD pilot: benefit is not established</a:t>
            </a:r>
          </a:p>
        </p:txBody>
      </p:sp>
      <p:sp>
        <p:nvSpPr>
          <p:cNvPr id="3" name="">
            <a:extLst xmlns:a="http://schemas.openxmlformats.org/drawingml/2006/main">
              <a:ext uri="{FF2B5EF4-FFF2-40B4-BE49-F238E27FC236}">
                <a16:creationId xmlns:a16="http://schemas.microsoft.com/office/drawing/2014/main" id="{767E8B09-CB5D-4E50-8F1A-1EFC9973B657}"/>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Original pilot only: TD3+BC Hopper, one seed. Revised OOD results remain pending.</a:t>
            </a:r>
          </a:p>
        </p:txBody>
      </p:sp>
      <p:sp>
        <p:nvSpPr>
          <p:cNvPr id="4" name="">
            <a:extLst xmlns:a="http://schemas.openxmlformats.org/drawingml/2006/main">
              <a:ext uri="{FF2B5EF4-FFF2-40B4-BE49-F238E27FC236}">
                <a16:creationId xmlns:a16="http://schemas.microsoft.com/office/drawing/2014/main" id="{556F7C8C-A5D8-4D1D-98A3-685EDBA71BAA}"/>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3DB61ED3-E152-4E6C-BF02-7C729A591E33}"/>
              </a:ext>
            </a:extLst>
          </p:cNvPr>
          <p:cNvSpPr>
            <a:spLocks xmlns:a="http://schemas.openxmlformats.org/drawingml/2006/main" noGrp="1"/>
          </p:cNvSpPr>
          <p:nvPr/>
        </p:nvSpPr>
        <p:spPr>
          <a:xfrm xmlns:a="http://schemas.openxmlformats.org/drawingml/2006/main">
            <a:off x="552450" y="1409700"/>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Ability to rank harmful actions (AUROC)</a:t>
            </a:r>
          </a:p>
        </p:txBody>
      </p:sp>
      <p:graphicFrame>
        <p:nvGraphicFramePr>
          <p:cNvPr id="15" name="Chart"/>
          <p:cNvGraphicFramePr/>
          <p:nvPr/>
        </p:nvGraphicFramePr>
        <p:xfrm>
          <a:off xmlns:a="http://schemas.openxmlformats.org/drawingml/2006/main" x="466725" y="2076450"/>
          <a:ext xmlns:a="http://schemas.openxmlformats.org/drawingml/2006/main" cx="7077075" cy="3381375"/>
        </p:xfrm>
        <a:graphic xmlns:a="http://schemas.openxmlformats.org/drawingml/2006/main">
          <a:graphicData uri="http://schemas.openxmlformats.org/drawingml/2006/chart">
            <c:chart xmlns:r="http://schemas.openxmlformats.org/officeDocument/2006/relationships" xmlns:c="http://schemas.openxmlformats.org/drawingml/2006/chart" r:id="R9ef2e37d42184947"/>
          </a:graphicData>
        </a:graphic>
      </p:graphicFrame>
      <p:sp>
        <p:nvSpPr>
          <p:cNvPr id="7" name="">
            <a:extLst xmlns:a="http://schemas.openxmlformats.org/drawingml/2006/main">
              <a:ext uri="{FF2B5EF4-FFF2-40B4-BE49-F238E27FC236}">
                <a16:creationId xmlns:a16="http://schemas.microsoft.com/office/drawing/2014/main" id="{16FE3326-6C5A-4048-BA83-BE9B48D12F5B}"/>
              </a:ext>
            </a:extLst>
          </p:cNvPr>
          <p:cNvSpPr>
            <a:spLocks xmlns:a="http://schemas.openxmlformats.org/drawingml/2006/main" noGrp="1"/>
          </p:cNvSpPr>
          <p:nvPr/>
        </p:nvSpPr>
        <p:spPr>
          <a:xfrm xmlns:a="http://schemas.openxmlformats.org/drawingml/2006/main">
            <a:off x="7905750" y="1857375"/>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20365C"/>
                </a:solidFill>
                <a:latin typeface="Arial"/>
                <a:ea typeface="Arial"/>
                <a:cs typeface="Arial"/>
              </a:defRPr>
            </a:pPr>
            <a:r>
              <a:rPr sz="2250" b="1">
                <a:solidFill>
                  <a:srgbClr val="20365C"/>
                </a:solidFill>
                <a:latin typeface="Arial"/>
                <a:ea typeface="Arial"/>
                <a:cs typeface="Arial"/>
              </a:rPr>
              <a:t>0.5 = chance ranking</a:t>
            </a:r>
          </a:p>
        </p:txBody>
      </p:sp>
      <p:sp>
        <p:nvSpPr>
          <p:cNvPr id="8" name="">
            <a:extLst xmlns:a="http://schemas.openxmlformats.org/drawingml/2006/main">
              <a:ext uri="{FF2B5EF4-FFF2-40B4-BE49-F238E27FC236}">
                <a16:creationId xmlns:a16="http://schemas.microsoft.com/office/drawing/2014/main" id="{F2BBACF1-860B-44C9-9410-6E0CA788C4BD}"/>
              </a:ext>
            </a:extLst>
          </p:cNvPr>
          <p:cNvSpPr>
            <a:spLocks xmlns:a="http://schemas.openxmlformats.org/drawingml/2006/main" noGrp="1"/>
          </p:cNvSpPr>
          <p:nvPr/>
        </p:nvSpPr>
        <p:spPr>
          <a:xfrm xmlns:a="http://schemas.openxmlformats.org/drawingml/2006/main">
            <a:off x="7905750" y="2781300"/>
            <a:ext cx="36480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900"/>
              </a:spcAft>
              <a:buChar char="•"/>
              <a:defRPr sz="2025" b="0">
                <a:solidFill>
                  <a:srgbClr val="192737"/>
                </a:solidFill>
                <a:latin typeface="Arial"/>
                <a:ea typeface="Arial"/>
                <a:cs typeface="Arial"/>
              </a:defRPr>
            </a:pPr>
            <a:r>
              <a:rPr sz="2025" b="0">
                <a:solidFill>
                  <a:srgbClr val="192737"/>
                </a:solidFill>
                <a:latin typeface="Arial"/>
                <a:ea typeface="Arial"/>
                <a:cs typeface="Arial"/>
              </a:rPr>
              <a:t>Width is only slightly above chance.</a:t>
            </a:r>
          </a:p>
          <a:p xmlns:a="http://schemas.openxmlformats.org/drawingml/2006/main">
            <a:pPr marL="228600" indent="-114300">
              <a:spcAft>
                <a:spcPts val="1900"/>
              </a:spcAft>
              <a:buChar char="•"/>
              <a:defRPr sz="2025" b="0">
                <a:solidFill>
                  <a:srgbClr val="192737"/>
                </a:solidFill>
                <a:latin typeface="Arial"/>
                <a:ea typeface="Arial"/>
                <a:cs typeface="Arial"/>
              </a:defRPr>
            </a:pPr>
            <a:r>
              <a:rPr sz="2025" b="0">
                <a:solidFill>
                  <a:srgbClr val="192737"/>
                </a:solidFill>
                <a:latin typeface="Arial"/>
                <a:ea typeface="Arial"/>
                <a:cs typeface="Arial"/>
              </a:rPr>
              <a:t>The expected warning benefit is not convincing yet.</a:t>
            </a:r>
          </a:p>
          <a:p xmlns:a="http://schemas.openxmlformats.org/drawingml/2006/main">
            <a:pPr marL="228600" indent="-114300">
              <a:spcAft>
                <a:spcPts val="1900"/>
              </a:spcAft>
              <a:buChar char="•"/>
              <a:defRPr sz="2025" b="0">
                <a:solidFill>
                  <a:srgbClr val="192737"/>
                </a:solidFill>
                <a:latin typeface="Arial"/>
                <a:ea typeface="Arial"/>
                <a:cs typeface="Arial"/>
              </a:defRPr>
            </a:pPr>
            <a:r>
              <a:rPr sz="2025" b="0">
                <a:solidFill>
                  <a:srgbClr val="192737"/>
                </a:solidFill>
                <a:latin typeface="Arial"/>
                <a:ea typeface="Arial"/>
                <a:cs typeface="Arial"/>
              </a:rPr>
              <a:t>One seed cannot establish a general failure or success.</a:t>
            </a:r>
          </a:p>
        </p:txBody>
      </p:sp>
      <p:sp>
        <p:nvSpPr>
          <p:cNvPr id="9" name="">
            <a:extLst xmlns:a="http://schemas.openxmlformats.org/drawingml/2006/main">
              <a:ext uri="{FF2B5EF4-FFF2-40B4-BE49-F238E27FC236}">
                <a16:creationId xmlns:a16="http://schemas.microsoft.com/office/drawing/2014/main" id="{E55A2F1A-5C60-4BA8-868A-7B35B6163F85}"/>
              </a:ext>
            </a:extLst>
          </p:cNvPr>
          <p:cNvSpPr>
            <a:spLocks xmlns:a="http://schemas.openxmlformats.org/drawingml/2006/main" noGrp="1"/>
          </p:cNvSpPr>
          <p:nvPr/>
        </p:nvSpPr>
        <p:spPr>
          <a:xfrm xmlns:a="http://schemas.openxmlformats.org/drawingml/2006/main">
            <a:off x="600075" y="57054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BCA first-action gain: −0.12 raw return under the same later policy.</a:t>
            </a:r>
          </a:p>
        </p:txBody>
      </p:sp>
    </p:spTree>
    <p:extLst>
      <p:ext uri="{BB962C8B-B14F-4D97-AF65-F5344CB8AC3E}">
        <p14:creationId xmlns:p14="http://schemas.microsoft.com/office/powerpoint/2010/main" val="8988912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8A8898-6EAB-4407-86A1-F5F3F740C4A8}"/>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88D6CD-1C40-4778-916C-5D1382025DBD}"/>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Why we need all five training seeds</a:t>
            </a:r>
          </a:p>
        </p:txBody>
      </p:sp>
      <p:sp>
        <p:nvSpPr>
          <p:cNvPr id="3" name="">
            <a:extLst xmlns:a="http://schemas.openxmlformats.org/drawingml/2006/main">
              <a:ext uri="{FF2B5EF4-FFF2-40B4-BE49-F238E27FC236}">
                <a16:creationId xmlns:a16="http://schemas.microsoft.com/office/drawing/2014/main" id="{83C5AB5F-6EDC-44FB-9F08-2B68FCB0BA08}"/>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ReBRAC Walker · 3 of 5 declared seeds · final normalized-score change, BCA minus host</a:t>
            </a:r>
          </a:p>
        </p:txBody>
      </p:sp>
      <p:sp>
        <p:nvSpPr>
          <p:cNvPr id="4" name="">
            <a:extLst xmlns:a="http://schemas.openxmlformats.org/drawingml/2006/main">
              <a:ext uri="{FF2B5EF4-FFF2-40B4-BE49-F238E27FC236}">
                <a16:creationId xmlns:a16="http://schemas.microsoft.com/office/drawing/2014/main" id="{4FAD73F8-872D-43F2-9117-86FF0520F0FF}"/>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8</a:t>
            </a:r>
          </a:p>
        </p:txBody>
      </p:sp>
      <p:graphicFrame>
        <p:nvGraphicFramePr>
          <p:cNvPr id="12" name="Chart"/>
          <p:cNvGraphicFramePr/>
          <p:nvPr/>
        </p:nvGraphicFramePr>
        <p:xfrm>
          <a:off xmlns:a="http://schemas.openxmlformats.org/drawingml/2006/main" x="523875" y="1714500"/>
          <a:ext xmlns:a="http://schemas.openxmlformats.org/drawingml/2006/main" cx="7096125" cy="4048125"/>
        </p:xfrm>
        <a:graphic xmlns:a="http://schemas.openxmlformats.org/drawingml/2006/main">
          <a:graphicData uri="http://schemas.openxmlformats.org/drawingml/2006/chart">
            <c:chart xmlns:r="http://schemas.openxmlformats.org/officeDocument/2006/relationships" xmlns:c="http://schemas.openxmlformats.org/drawingml/2006/chart" r:id="R12cbe250bb254758"/>
          </a:graphicData>
        </a:graphic>
      </p:graphicFrame>
      <p:sp>
        <p:nvSpPr>
          <p:cNvPr id="6" name="">
            <a:extLst xmlns:a="http://schemas.openxmlformats.org/drawingml/2006/main">
              <a:ext uri="{FF2B5EF4-FFF2-40B4-BE49-F238E27FC236}">
                <a16:creationId xmlns:a16="http://schemas.microsoft.com/office/drawing/2014/main" id="{B1F6EA0E-BD29-48D6-90C9-4AF46C4589CF}"/>
              </a:ext>
            </a:extLst>
          </p:cNvPr>
          <p:cNvSpPr>
            <a:spLocks xmlns:a="http://schemas.openxmlformats.org/drawingml/2006/main" noGrp="1"/>
          </p:cNvSpPr>
          <p:nvPr/>
        </p:nvSpPr>
        <p:spPr>
          <a:xfrm xmlns:a="http://schemas.openxmlformats.org/drawingml/2006/main">
            <a:off x="7981950" y="1743075"/>
            <a:ext cx="3600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20365C"/>
                </a:solidFill>
                <a:latin typeface="Arial"/>
                <a:ea typeface="Arial"/>
                <a:cs typeface="Arial"/>
              </a:defRPr>
            </a:pPr>
            <a:r>
              <a:rPr sz="2400" b="1">
                <a:solidFill>
                  <a:srgbClr val="20365C"/>
                </a:solidFill>
                <a:latin typeface="Arial"/>
                <a:ea typeface="Arial"/>
                <a:cs typeface="Arial"/>
              </a:rPr>
              <a:t>Mean change: +11.88</a:t>
            </a:r>
          </a:p>
        </p:txBody>
      </p:sp>
      <p:sp>
        <p:nvSpPr>
          <p:cNvPr id="7" name="">
            <a:extLst xmlns:a="http://schemas.openxmlformats.org/drawingml/2006/main">
              <a:ext uri="{FF2B5EF4-FFF2-40B4-BE49-F238E27FC236}">
                <a16:creationId xmlns:a16="http://schemas.microsoft.com/office/drawing/2014/main" id="{40428D93-FB47-4850-B7F6-283E8F653067}"/>
              </a:ext>
            </a:extLst>
          </p:cNvPr>
          <p:cNvSpPr>
            <a:spLocks xmlns:a="http://schemas.openxmlformats.org/drawingml/2006/main" noGrp="1"/>
          </p:cNvSpPr>
          <p:nvPr/>
        </p:nvSpPr>
        <p:spPr>
          <a:xfrm xmlns:a="http://schemas.openxmlformats.org/drawingml/2006/main">
            <a:off x="7981950" y="2828925"/>
            <a:ext cx="35623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900"/>
              </a:spcAft>
              <a:buChar char="•"/>
              <a:defRPr sz="2100" b="0">
                <a:solidFill>
                  <a:srgbClr val="192737"/>
                </a:solidFill>
                <a:latin typeface="Arial"/>
                <a:ea typeface="Arial"/>
                <a:cs typeface="Arial"/>
              </a:defRPr>
            </a:pPr>
            <a:r>
              <a:rPr sz="2100" b="0">
                <a:solidFill>
                  <a:srgbClr val="192737"/>
                </a:solidFill>
                <a:latin typeface="Arial"/>
                <a:ea typeface="Arial"/>
                <a:cs typeface="Arial"/>
              </a:rPr>
              <a:t>One large gain drives the mean.</a:t>
            </a:r>
          </a:p>
          <a:p xmlns:a="http://schemas.openxmlformats.org/drawingml/2006/main">
            <a:pPr marL="228600" indent="-114300">
              <a:spcAft>
                <a:spcPts val="1900"/>
              </a:spcAft>
              <a:buChar char="•"/>
              <a:defRPr sz="2100" b="0">
                <a:solidFill>
                  <a:srgbClr val="192737"/>
                </a:solidFill>
                <a:latin typeface="Arial"/>
                <a:ea typeface="Arial"/>
                <a:cs typeface="Arial"/>
              </a:defRPr>
            </a:pPr>
            <a:r>
              <a:rPr sz="2100" b="0">
                <a:solidFill>
                  <a:srgbClr val="192737"/>
                </a:solidFill>
                <a:latin typeface="Arial"/>
                <a:ea typeface="Arial"/>
                <a:cs typeface="Arial"/>
              </a:rPr>
              <a:t>Another seed favors the host.</a:t>
            </a:r>
          </a:p>
          <a:p xmlns:a="http://schemas.openxmlformats.org/drawingml/2006/main">
            <a:pPr marL="228600" indent="-114300">
              <a:spcAft>
                <a:spcPts val="1900"/>
              </a:spcAft>
              <a:buChar char="•"/>
              <a:defRPr sz="2100" b="0">
                <a:solidFill>
                  <a:srgbClr val="192737"/>
                </a:solidFill>
                <a:latin typeface="Arial"/>
                <a:ea typeface="Arial"/>
                <a:cs typeface="Arial"/>
              </a:defRPr>
            </a:pPr>
            <a:r>
              <a:rPr sz="2100" b="0">
                <a:solidFill>
                  <a:srgbClr val="192737"/>
                </a:solidFill>
                <a:latin typeface="Arial"/>
                <a:ea typeface="Arial"/>
                <a:cs typeface="Arial"/>
              </a:rPr>
              <a:t>Finish the declared seed set before claiming reliability.</a:t>
            </a:r>
          </a:p>
        </p:txBody>
      </p:sp>
    </p:spTree>
    <p:extLst>
      <p:ext uri="{BB962C8B-B14F-4D97-AF65-F5344CB8AC3E}">
        <p14:creationId xmlns:p14="http://schemas.microsoft.com/office/powerpoint/2010/main" val="3965258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511BB6-6287-4232-9B3F-EA0D38E0383E}"/>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484AC1-0B92-4350-826F-E02A14239D2C}"/>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would good or bad OOD results mean?</a:t>
            </a:r>
          </a:p>
        </p:txBody>
      </p:sp>
      <p:sp>
        <p:nvSpPr>
          <p:cNvPr id="3" name="">
            <a:extLst xmlns:a="http://schemas.openxmlformats.org/drawingml/2006/main">
              <a:ext uri="{FF2B5EF4-FFF2-40B4-BE49-F238E27FC236}">
                <a16:creationId xmlns:a16="http://schemas.microsoft.com/office/drawing/2014/main" id="{CDD34647-A5FE-4D3D-B9CE-EB447E85CBAF}"/>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Interpret within each dataset and across training seeds. Coverage, harm ranking and policy return are different claims.</a:t>
            </a:r>
          </a:p>
        </p:txBody>
      </p:sp>
      <p:sp>
        <p:nvSpPr>
          <p:cNvPr id="4" name="">
            <a:extLst xmlns:a="http://schemas.openxmlformats.org/drawingml/2006/main">
              <a:ext uri="{FF2B5EF4-FFF2-40B4-BE49-F238E27FC236}">
                <a16:creationId xmlns:a16="http://schemas.microsoft.com/office/drawing/2014/main" id="{4A6247EB-B865-43DD-9C7A-52EAEB9D2B74}"/>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9</a:t>
            </a:r>
          </a:p>
        </p:txBody>
      </p:sp>
      <p:graphicFrame>
        <p:nvGraphicFramePr>
          <p:cNvPr id="11" name=""/>
          <p:cNvGraphicFramePr/>
          <p:nvPr/>
        </p:nvGraphicFramePr>
        <p:xfrm>
          <a:off xmlns:a="http://schemas.openxmlformats.org/drawingml/2006/main" x="495300" y="1476375"/>
          <a:ext xmlns:a="http://schemas.openxmlformats.org/drawingml/2006/main" cx="11201400" cy="4152900"/>
        </p:xfrm>
        <a:graphic xmlns:a="http://schemas.openxmlformats.org/drawingml/2006/main">
          <a:graphicData uri="http://schemas.openxmlformats.org/drawingml/2006/table">
            <a:tbl>
              <a:tblPr/>
              <a:tblGrid>
                <a:gridCol w="3810000"/>
                <a:gridCol w="3981450"/>
                <a:gridCol w="3409950"/>
              </a:tblGrid>
              <a:tr h="830580">
                <a:tc>
                  <a:txBody>
                    <a:bodyPr>
                      <a:noAutofit/>
                    </a:bodyPr>
                    <a:lstStyle/>
                    <a:p>
                      <a:r>
                        <a:rPr sz="1875" b="1">
                          <a:solidFill>
                            <a:srgbClr val="FFFFFF"/>
                          </a:solidFill>
                          <a:latin typeface="Arial"/>
                          <a:ea typeface="Arial"/>
                          <a:cs typeface="Arial"/>
                        </a:rPr>
                        <a:t>Observed result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Meaning</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Next question</a:t>
                      </a:r>
                    </a:p>
                  </a:txBody>
                  <a:tcPr marL="114300" marR="95250" marT="76200" marB="66675" anchor="ctr">
                    <a:solidFill>
                      <a:srgbClr val="20365C"/>
                    </a:solidFill>
                  </a:tcPr>
                </a:tc>
              </a:tr>
              <a:tr h="830580">
                <a:tc>
                  <a:txBody>
                    <a:bodyPr>
                      <a:noAutofit/>
                    </a:bodyPr>
                    <a:lstStyle/>
                    <a:p>
                      <a:r>
                        <a:rPr sz="1875" b="0">
                          <a:solidFill>
                            <a:srgbClr val="192737"/>
                          </a:solidFill>
                          <a:latin typeface="Arial"/>
                          <a:ea typeface="Arial"/>
                          <a:cs typeface="Arial"/>
                        </a:rPr>
                        <a:t>Higher stressed return AND less degradation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Evidence of useful action-stress robustness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Does it repeat across all five seeds?</a:t>
                      </a:r>
                    </a:p>
                  </a:txBody>
                  <a:tcPr marL="114300" marR="95250" marT="76200" marB="66675" anchor="ctr">
                    <a:solidFill>
                      <a:srgbClr val="FFFFFF"/>
                    </a:solidFill>
                  </a:tcPr>
                </a:tc>
              </a:tr>
              <a:tr h="830580">
                <a:tc>
                  <a:txBody>
                    <a:bodyPr>
                      <a:noAutofit/>
                    </a:bodyPr>
                    <a:lstStyle/>
                    <a:p>
                      <a:r>
                        <a:rPr sz="1875" b="0">
                          <a:solidFill>
                            <a:srgbClr val="192737"/>
                          </a:solidFill>
                          <a:latin typeface="Arial"/>
                          <a:ea typeface="Arial"/>
                          <a:cs typeface="Arial"/>
                        </a:rPr>
                        <a:t>Good warnings; weaker behavior</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Warning may not be used effectively</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Where does the host consume the width?</a:t>
                      </a:r>
                    </a:p>
                  </a:txBody>
                  <a:tcPr marL="114300" marR="95250" marT="76200" marB="66675" anchor="ctr">
                    <a:solidFill>
                      <a:srgbClr val="F1F4F8"/>
                    </a:solidFill>
                  </a:tcPr>
                </a:tc>
              </a:tr>
              <a:tr h="830580">
                <a:tc>
                  <a:txBody>
                    <a:bodyPr>
                      <a:noAutofit/>
                    </a:bodyPr>
                    <a:lstStyle/>
                    <a:p>
                      <a:r>
                        <a:rPr sz="1875" b="0">
                          <a:solidFill>
                            <a:srgbClr val="192737"/>
                          </a:solidFill>
                          <a:latin typeface="Arial"/>
                          <a:ea typeface="Arial"/>
                          <a:cs typeface="Arial"/>
                        </a:rPr>
                        <a:t>Warnings rank harm poorly</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Residual scale may be a weak harm proxy</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Is the error target aligned with decision harm?</a:t>
                      </a:r>
                    </a:p>
                  </a:txBody>
                  <a:tcPr marL="114300" marR="95250" marT="76200" marB="66675" anchor="ctr">
                    <a:solidFill>
                      <a:srgbClr val="FFFFFF"/>
                    </a:solidFill>
                  </a:tcPr>
                </a:tc>
              </a:tr>
              <a:tr h="830580">
                <a:tc>
                  <a:txBody>
                    <a:bodyPr>
                      <a:noAutofit/>
                    </a:bodyPr>
                    <a:lstStyle/>
                    <a:p>
                      <a:r>
                        <a:rPr sz="1875" b="0">
                          <a:solidFill>
                            <a:srgbClr val="192737"/>
                          </a:solidFill>
                          <a:latin typeface="Arial"/>
                          <a:ea typeface="Arial"/>
                          <a:cs typeface="Arial"/>
                        </a:rPr>
                        <a:t>Lower return after the same action</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No benefit in that measured setting</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Which mechanism explains the loss?</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020D93DC-D0B1-4EAB-9620-8A288C7FACB6}"/>
              </a:ext>
            </a:extLst>
          </p:cNvPr>
          <p:cNvSpPr>
            <a:spLocks xmlns:a="http://schemas.openxmlformats.org/drawingml/2006/main" noGrp="1"/>
          </p:cNvSpPr>
          <p:nvPr/>
        </p:nvSpPr>
        <p:spPr>
          <a:xfrm xmlns:a="http://schemas.openxmlformats.org/drawingml/2006/main">
            <a:off x="590550" y="5781675"/>
            <a:ext cx="10982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0365C"/>
                </a:solidFill>
                <a:latin typeface="Arial"/>
                <a:ea typeface="Arial"/>
                <a:cs typeface="Arial"/>
              </a:defRPr>
            </a:pPr>
            <a:r>
              <a:rPr sz="1875" b="1">
                <a:solidFill>
                  <a:srgbClr val="20365C"/>
                </a:solidFill>
                <a:latin typeface="Arial"/>
                <a:ea typeface="Arial"/>
                <a:cs typeface="Arial"/>
              </a:rPr>
              <a:t>An OOD outcome tells us what to investigate; it does not identify the training cause.</a:t>
            </a:r>
          </a:p>
        </p:txBody>
      </p:sp>
    </p:spTree>
    <p:extLst>
      <p:ext uri="{BB962C8B-B14F-4D97-AF65-F5344CB8AC3E}">
        <p14:creationId xmlns:p14="http://schemas.microsoft.com/office/powerpoint/2010/main" val="13578055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AD3645-E1EB-424D-82D5-EF19CC90AC9E}"/>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E84755-D2AC-4DDC-B3A7-38932CAAFA93}"/>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is wrong with the current IW approach?</a:t>
            </a:r>
          </a:p>
        </p:txBody>
      </p:sp>
      <p:sp>
        <p:nvSpPr>
          <p:cNvPr id="3" name="">
            <a:extLst xmlns:a="http://schemas.openxmlformats.org/drawingml/2006/main">
              <a:ext uri="{FF2B5EF4-FFF2-40B4-BE49-F238E27FC236}">
                <a16:creationId xmlns:a16="http://schemas.microsoft.com/office/drawing/2014/main" id="{6B1FA31C-E77C-493B-AD13-4F0D77FA7389}"/>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Standard BCA is the current baseline. Corrected weighted conformal is a separate, not-yet-deployed method.</a:t>
            </a:r>
          </a:p>
        </p:txBody>
      </p:sp>
      <p:sp>
        <p:nvSpPr>
          <p:cNvPr id="4" name="">
            <a:extLst xmlns:a="http://schemas.openxmlformats.org/drawingml/2006/main">
              <a:ext uri="{FF2B5EF4-FFF2-40B4-BE49-F238E27FC236}">
                <a16:creationId xmlns:a16="http://schemas.microsoft.com/office/drawing/2014/main" id="{FC323EBB-BD60-4BEF-9CC8-15A8E1A2BB82}"/>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10</a:t>
            </a:r>
          </a:p>
        </p:txBody>
      </p:sp>
      <p:graphicFrame>
        <p:nvGraphicFramePr>
          <p:cNvPr id="12" name=""/>
          <p:cNvGraphicFramePr/>
          <p:nvPr/>
        </p:nvGraphicFramePr>
        <p:xfrm>
          <a:off xmlns:a="http://schemas.openxmlformats.org/drawingml/2006/main" x="495300" y="1628775"/>
          <a:ext xmlns:a="http://schemas.openxmlformats.org/drawingml/2006/main" cx="11201400" cy="2905125"/>
        </p:xfrm>
        <a:graphic xmlns:a="http://schemas.openxmlformats.org/drawingml/2006/main">
          <a:graphicData uri="http://schemas.openxmlformats.org/drawingml/2006/table">
            <a:tbl>
              <a:tblPr/>
              <a:tblGrid>
                <a:gridCol w="2571750"/>
                <a:gridCol w="4314825"/>
                <a:gridCol w="4314825"/>
              </a:tblGrid>
              <a:tr h="726281">
                <a:tc>
                  <a:txBody>
                    <a:bodyPr>
                      <a:noAutofit/>
                    </a:bodyPr>
                    <a:lstStyle/>
                    <a:p>
                      <a:r>
                        <a:rPr sz="1875" b="1">
                          <a:solidFill>
                            <a:srgbClr val="FFFFFF"/>
                          </a:solidFill>
                          <a:latin typeface="Arial"/>
                          <a:ea typeface="Arial"/>
                          <a:cs typeface="Arial"/>
                        </a:rPr>
                        <a:t>Component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Current implementation</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Needed for intended method</a:t>
                      </a:r>
                    </a:p>
                  </a:txBody>
                  <a:tcPr marL="114300" marR="95250" marT="76200" marB="66675" anchor="ctr">
                    <a:solidFill>
                      <a:srgbClr val="20365C"/>
                    </a:solidFill>
                  </a:tcPr>
                </a:tc>
              </a:tr>
              <a:tr h="726281">
                <a:tc>
                  <a:txBody>
                    <a:bodyPr>
                      <a:noAutofit/>
                    </a:bodyPr>
                    <a:lstStyle/>
                    <a:p>
                      <a:r>
                        <a:rPr sz="1875" b="0">
                          <a:solidFill>
                            <a:srgbClr val="192737"/>
                          </a:solidFill>
                          <a:latin typeface="Arial"/>
                          <a:ea typeface="Arial"/>
                          <a:cs typeface="Arial"/>
                        </a:rPr>
                        <a:t>Scale fitting</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Some earlier arms reweighted fitting errors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Keep fixed first to isolate the correction</a:t>
                      </a:r>
                    </a:p>
                  </a:txBody>
                  <a:tcPr marL="114300" marR="95250" marT="76200" marB="66675" anchor="ctr">
                    <a:solidFill>
                      <a:srgbClr val="FFFFFF"/>
                    </a:solidFill>
                  </a:tcPr>
                </a:tc>
              </a:tr>
              <a:tr h="726281">
                <a:tc>
                  <a:txBody>
                    <a:bodyPr>
                      <a:noAutofit/>
                    </a:bodyPr>
                    <a:lstStyle/>
                    <a:p>
                      <a:r>
                        <a:rPr sz="1875" b="0">
                          <a:solidFill>
                            <a:srgbClr val="192737"/>
                          </a:solidFill>
                          <a:latin typeface="Arial"/>
                          <a:ea typeface="Arial"/>
                          <a:cs typeface="Arial"/>
                        </a:rPr>
                        <a:t>Conformal threshold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Held-out scores effectively had equal masses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Use target/source weights and the query’s mass</a:t>
                      </a:r>
                    </a:p>
                  </a:txBody>
                  <a:tcPr marL="114300" marR="95250" marT="76200" marB="66675" anchor="ctr">
                    <a:solidFill>
                      <a:srgbClr val="F1F4F8"/>
                    </a:solidFill>
                  </a:tcPr>
                </a:tc>
              </a:tr>
              <a:tr h="726281">
                <a:tc>
                  <a:txBody>
                    <a:bodyPr>
                      <a:noAutofit/>
                    </a:bodyPr>
                    <a:lstStyle/>
                    <a:p>
                      <a:r>
                        <a:rPr sz="1875" b="0">
                          <a:solidFill>
                            <a:srgbClr val="192737"/>
                          </a:solidFill>
                          <a:latin typeface="Arial"/>
                          <a:ea typeface="Arial"/>
                          <a:cs typeface="Arial"/>
                        </a:rPr>
                        <a:t>Validation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CPU/reference mathematics checked</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Validate real-data assumptions and host integration</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68E36D1-AAB4-4793-B426-3C3846913332}"/>
              </a:ext>
            </a:extLst>
          </p:cNvPr>
          <p:cNvSpPr>
            <a:spLocks xmlns:a="http://schemas.openxmlformats.org/drawingml/2006/main" noGrp="1"/>
          </p:cNvSpPr>
          <p:nvPr/>
        </p:nvSpPr>
        <p:spPr>
          <a:xfrm xmlns:a="http://schemas.openxmlformats.org/drawingml/2006/main">
            <a:off x="609600" y="48768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Why it could help: calibrate for the population where predictions will be used.</a:t>
            </a:r>
          </a:p>
        </p:txBody>
      </p:sp>
      <p:sp>
        <p:nvSpPr>
          <p:cNvPr id="7" name="">
            <a:extLst xmlns:a="http://schemas.openxmlformats.org/drawingml/2006/main">
              <a:ext uri="{FF2B5EF4-FFF2-40B4-BE49-F238E27FC236}">
                <a16:creationId xmlns:a16="http://schemas.microsoft.com/office/drawing/2014/main" id="{2484DEA6-304A-4D94-B66A-7A9D25116C39}"/>
              </a:ext>
            </a:extLst>
          </p:cNvPr>
          <p:cNvSpPr>
            <a:spLocks xmlns:a="http://schemas.openxmlformats.org/drawingml/2006/main" noGrp="1"/>
          </p:cNvSpPr>
          <p:nvPr/>
        </p:nvSpPr>
        <p:spPr>
          <a:xfrm xmlns:a="http://schemas.openxmlformats.org/drawingml/2006/main">
            <a:off x="609600" y="5638800"/>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Why it may not: weighting cannot create missing evidence or guarantee better actions.</a:t>
            </a:r>
          </a:p>
        </p:txBody>
      </p:sp>
    </p:spTree>
    <p:extLst>
      <p:ext uri="{BB962C8B-B14F-4D97-AF65-F5344CB8AC3E}">
        <p14:creationId xmlns:p14="http://schemas.microsoft.com/office/powerpoint/2010/main" val="11509565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AB2F8B-3639-468A-AE5C-D330C7425DD0}"/>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254AA3-18A1-4B6C-B511-79605C88C038}"/>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Next steps: finish, diagnose, then change</a:t>
            </a:r>
          </a:p>
        </p:txBody>
      </p:sp>
      <p:sp>
        <p:nvSpPr>
          <p:cNvPr id="3" name="">
            <a:extLst xmlns:a="http://schemas.openxmlformats.org/drawingml/2006/main">
              <a:ext uri="{FF2B5EF4-FFF2-40B4-BE49-F238E27FC236}">
                <a16:creationId xmlns:a16="http://schemas.microsoft.com/office/drawing/2014/main" id="{B6093757-FB98-480D-83E5-E0B5857D8059}"/>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Meeting message: the present evidence is weak; the next experiment must identify the limitation, not assume the fix.</a:t>
            </a:r>
          </a:p>
        </p:txBody>
      </p:sp>
      <p:sp>
        <p:nvSpPr>
          <p:cNvPr id="4" name="">
            <a:extLst xmlns:a="http://schemas.openxmlformats.org/drawingml/2006/main">
              <a:ext uri="{FF2B5EF4-FFF2-40B4-BE49-F238E27FC236}">
                <a16:creationId xmlns:a16="http://schemas.microsoft.com/office/drawing/2014/main" id="{E4834882-C59A-477D-825C-E90F8628E9EB}"/>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11</a:t>
            </a:r>
          </a:p>
        </p:txBody>
      </p:sp>
      <p:graphicFrame>
        <p:nvGraphicFramePr>
          <p:cNvPr id="11" name=""/>
          <p:cNvGraphicFramePr/>
          <p:nvPr/>
        </p:nvGraphicFramePr>
        <p:xfrm>
          <a:off xmlns:a="http://schemas.openxmlformats.org/drawingml/2006/main" x="495300" y="1647825"/>
          <a:ext xmlns:a="http://schemas.openxmlformats.org/drawingml/2006/main" cx="11201400" cy="3762375"/>
        </p:xfrm>
        <a:graphic xmlns:a="http://schemas.openxmlformats.org/drawingml/2006/main">
          <a:graphicData uri="http://schemas.openxmlformats.org/drawingml/2006/table">
            <a:tbl>
              <a:tblPr/>
              <a:tblGrid>
                <a:gridCol w="3790950"/>
                <a:gridCol w="3886200"/>
                <a:gridCol w="3524250"/>
              </a:tblGrid>
              <a:tr h="752475">
                <a:tc>
                  <a:txBody>
                    <a:bodyPr>
                      <a:noAutofit/>
                    </a:bodyPr>
                    <a:lstStyle/>
                    <a:p>
                      <a:r>
                        <a:rPr sz="1950" b="1">
                          <a:solidFill>
                            <a:srgbClr val="FFFFFF"/>
                          </a:solidFill>
                          <a:latin typeface="Arial"/>
                          <a:ea typeface="Arial"/>
                          <a:cs typeface="Arial"/>
                        </a:rPr>
                        <a:t>Next action</a:t>
                      </a:r>
                    </a:p>
                  </a:txBody>
                  <a:tcPr marL="114300" marR="95250" marT="76200" marB="66675" anchor="ctr">
                    <a:solidFill>
                      <a:srgbClr val="20365C"/>
                    </a:solidFill>
                  </a:tcPr>
                </a:tc>
                <a:tc>
                  <a:txBody>
                    <a:bodyPr>
                      <a:noAutofit/>
                    </a:bodyPr>
                    <a:lstStyle/>
                    <a:p>
                      <a:r>
                        <a:rPr sz="1950" b="1">
                          <a:solidFill>
                            <a:srgbClr val="FFFFFF"/>
                          </a:solidFill>
                          <a:latin typeface="Arial"/>
                          <a:ea typeface="Arial"/>
                          <a:cs typeface="Arial"/>
                        </a:rPr>
                        <a:t>Why</a:t>
                      </a:r>
                    </a:p>
                  </a:txBody>
                  <a:tcPr marL="114300" marR="95250" marT="76200" marB="66675" anchor="ctr">
                    <a:solidFill>
                      <a:srgbClr val="20365C"/>
                    </a:solidFill>
                  </a:tcPr>
                </a:tc>
                <a:tc>
                  <a:txBody>
                    <a:bodyPr>
                      <a:noAutofit/>
                    </a:bodyPr>
                    <a:lstStyle/>
                    <a:p>
                      <a:r>
                        <a:rPr sz="1950" b="1">
                          <a:solidFill>
                            <a:srgbClr val="FFFFFF"/>
                          </a:solidFill>
                          <a:latin typeface="Arial"/>
                          <a:ea typeface="Arial"/>
                          <a:cs typeface="Arial"/>
                        </a:rPr>
                        <a:t>Deliverable</a:t>
                      </a:r>
                    </a:p>
                  </a:txBody>
                  <a:tcPr marL="114300" marR="95250" marT="76200" marB="66675" anchor="ctr">
                    <a:solidFill>
                      <a:srgbClr val="20365C"/>
                    </a:solidFill>
                  </a:tcPr>
                </a:tc>
              </a:tr>
              <a:tr h="752475">
                <a:tc>
                  <a:txBody>
                    <a:bodyPr>
                      <a:noAutofit/>
                    </a:bodyPr>
                    <a:lstStyle/>
                    <a:p>
                      <a:r>
                        <a:rPr sz="1950" b="0">
                          <a:solidFill>
                            <a:srgbClr val="192737"/>
                          </a:solidFill>
                          <a:latin typeface="Arial"/>
                          <a:ea typeface="Arial"/>
                          <a:cs typeface="Arial"/>
                        </a:rPr>
                        <a:t>Finish and verify active OOD pairs</a:t>
                      </a:r>
                    </a:p>
                  </a:txBody>
                  <a:tcPr marL="114300" marR="95250" marT="76200" marB="66675" anchor="ctr">
                    <a:solidFill>
                      <a:srgbClr val="FFFFFF"/>
                    </a:solidFill>
                  </a:tcPr>
                </a:tc>
                <a:tc>
                  <a:txBody>
                    <a:bodyPr>
                      <a:noAutofit/>
                    </a:bodyPr>
                    <a:lstStyle/>
                    <a:p>
                      <a:r>
                        <a:rPr sz="1950" b="0">
                          <a:solidFill>
                            <a:srgbClr val="192737"/>
                          </a:solidFill>
                          <a:latin typeface="Arial"/>
                          <a:ea typeface="Arial"/>
                          <a:cs typeface="Arial"/>
                        </a:rPr>
                        <a:t>Obtain real, comparable outcomes</a:t>
                      </a:r>
                    </a:p>
                  </a:txBody>
                  <a:tcPr marL="114300" marR="95250" marT="76200" marB="66675" anchor="ctr">
                    <a:solidFill>
                      <a:srgbClr val="FFFFFF"/>
                    </a:solidFill>
                  </a:tcPr>
                </a:tc>
                <a:tc>
                  <a:txBody>
                    <a:bodyPr>
                      <a:noAutofit/>
                    </a:bodyPr>
                    <a:lstStyle/>
                    <a:p>
                      <a:r>
                        <a:rPr sz="1950" b="0">
                          <a:solidFill>
                            <a:srgbClr val="192737"/>
                          </a:solidFill>
                          <a:latin typeface="Arial"/>
                          <a:ea typeface="Arial"/>
                          <a:cs typeface="Arial"/>
                        </a:rPr>
                        <a:t>Stressed return, degradation and warning plots</a:t>
                      </a:r>
                    </a:p>
                  </a:txBody>
                  <a:tcPr marL="114300" marR="95250" marT="76200" marB="66675" anchor="ctr">
                    <a:solidFill>
                      <a:srgbClr val="FFFFFF"/>
                    </a:solidFill>
                  </a:tcPr>
                </a:tc>
              </a:tr>
              <a:tr h="752475">
                <a:tc>
                  <a:txBody>
                    <a:bodyPr>
                      <a:noAutofit/>
                    </a:bodyPr>
                    <a:lstStyle/>
                    <a:p>
                      <a:r>
                        <a:rPr sz="1950" b="0">
                          <a:solidFill>
                            <a:srgbClr val="192737"/>
                          </a:solidFill>
                          <a:latin typeface="Arial"/>
                          <a:ea typeface="Arial"/>
                          <a:cs typeface="Arial"/>
                        </a:rPr>
                        <a:t>Complete the five-seed tranche</a:t>
                      </a:r>
                    </a:p>
                  </a:txBody>
                  <a:tcPr marL="114300" marR="95250" marT="76200" marB="66675" anchor="ctr">
                    <a:solidFill>
                      <a:srgbClr val="F1F4F8"/>
                    </a:solidFill>
                  </a:tcPr>
                </a:tc>
                <a:tc>
                  <a:txBody>
                    <a:bodyPr>
                      <a:noAutofit/>
                    </a:bodyPr>
                    <a:lstStyle/>
                    <a:p>
                      <a:r>
                        <a:rPr sz="1950" b="0">
                          <a:solidFill>
                            <a:srgbClr val="192737"/>
                          </a:solidFill>
                          <a:latin typeface="Arial"/>
                          <a:ea typeface="Arial"/>
                          <a:cs typeface="Arial"/>
                        </a:rPr>
                        <a:t>Separate repeatable effects from randomness</a:t>
                      </a:r>
                    </a:p>
                  </a:txBody>
                  <a:tcPr marL="114300" marR="95250" marT="76200" marB="66675" anchor="ctr">
                    <a:solidFill>
                      <a:srgbClr val="F1F4F8"/>
                    </a:solidFill>
                  </a:tcPr>
                </a:tc>
                <a:tc>
                  <a:txBody>
                    <a:bodyPr>
                      <a:noAutofit/>
                    </a:bodyPr>
                    <a:lstStyle/>
                    <a:p>
                      <a:r>
                        <a:rPr sz="1950" b="0">
                          <a:solidFill>
                            <a:srgbClr val="192737"/>
                          </a:solidFill>
                          <a:latin typeface="Arial"/>
                          <a:ea typeface="Arial"/>
                          <a:cs typeface="Arial"/>
                        </a:rPr>
                        <a:t>All seed effects and uncertainty</a:t>
                      </a:r>
                    </a:p>
                  </a:txBody>
                  <a:tcPr marL="114300" marR="95250" marT="76200" marB="66675" anchor="ctr">
                    <a:solidFill>
                      <a:srgbClr val="F1F4F8"/>
                    </a:solidFill>
                  </a:tcPr>
                </a:tc>
              </a:tr>
              <a:tr h="752475">
                <a:tc>
                  <a:txBody>
                    <a:bodyPr>
                      <a:noAutofit/>
                    </a:bodyPr>
                    <a:lstStyle/>
                    <a:p>
                      <a:r>
                        <a:rPr sz="1950" b="0">
                          <a:solidFill>
                            <a:srgbClr val="192737"/>
                          </a:solidFill>
                          <a:latin typeface="Arial"/>
                          <a:ea typeface="Arial"/>
                          <a:cs typeface="Arial"/>
                        </a:rPr>
                        <a:t>Diagnose the observed limitation</a:t>
                      </a:r>
                    </a:p>
                  </a:txBody>
                  <a:tcPr marL="114300" marR="95250" marT="76200" marB="66675" anchor="ctr">
                    <a:solidFill>
                      <a:srgbClr val="FFFFFF"/>
                    </a:solidFill>
                  </a:tcPr>
                </a:tc>
                <a:tc>
                  <a:txBody>
                    <a:bodyPr>
                      <a:noAutofit/>
                    </a:bodyPr>
                    <a:lstStyle/>
                    <a:p>
                      <a:r>
                        <a:rPr sz="1950" b="0">
                          <a:solidFill>
                            <a:srgbClr val="192737"/>
                          </a:solidFill>
                          <a:latin typeface="Arial"/>
                          <a:ea typeface="Arial"/>
                          <a:cs typeface="Arial"/>
                        </a:rPr>
                        <a:t>Avoid changing the wrong component</a:t>
                      </a:r>
                    </a:p>
                  </a:txBody>
                  <a:tcPr marL="114300" marR="95250" marT="76200" marB="66675" anchor="ctr">
                    <a:solidFill>
                      <a:srgbClr val="FFFFFF"/>
                    </a:solidFill>
                  </a:tcPr>
                </a:tc>
                <a:tc>
                  <a:txBody>
                    <a:bodyPr>
                      <a:noAutofit/>
                    </a:bodyPr>
                    <a:lstStyle/>
                    <a:p>
                      <a:r>
                        <a:rPr sz="1950" b="0">
                          <a:solidFill>
                            <a:srgbClr val="192737"/>
                          </a:solidFill>
                          <a:latin typeface="Arial"/>
                          <a:ea typeface="Arial"/>
                          <a:cs typeface="Arial"/>
                        </a:rPr>
                        <a:t>Target/scale, host attachment or population shift</a:t>
                      </a:r>
                    </a:p>
                  </a:txBody>
                  <a:tcPr marL="114300" marR="95250" marT="76200" marB="66675" anchor="ctr">
                    <a:solidFill>
                      <a:srgbClr val="FFFFFF"/>
                    </a:solidFill>
                  </a:tcPr>
                </a:tc>
              </a:tr>
              <a:tr h="752475">
                <a:tc>
                  <a:txBody>
                    <a:bodyPr>
                      <a:noAutofit/>
                    </a:bodyPr>
                    <a:lstStyle/>
                    <a:p>
                      <a:r>
                        <a:rPr sz="1950" b="0">
                          <a:solidFill>
                            <a:srgbClr val="192737"/>
                          </a:solidFill>
                          <a:latin typeface="Arial"/>
                          <a:ea typeface="Arial"/>
                          <a:cs typeface="Arial"/>
                        </a:rPr>
                        <a:t>Test one justified change at a time</a:t>
                      </a:r>
                    </a:p>
                  </a:txBody>
                  <a:tcPr marL="114300" marR="95250" marT="76200" marB="66675" anchor="ctr">
                    <a:solidFill>
                      <a:srgbClr val="F1F4F8"/>
                    </a:solidFill>
                  </a:tcPr>
                </a:tc>
                <a:tc>
                  <a:txBody>
                    <a:bodyPr>
                      <a:noAutofit/>
                    </a:bodyPr>
                    <a:lstStyle/>
                    <a:p>
                      <a:r>
                        <a:rPr sz="1950" b="0">
                          <a:solidFill>
                            <a:srgbClr val="192737"/>
                          </a:solidFill>
                          <a:latin typeface="Arial"/>
                          <a:ea typeface="Arial"/>
                          <a:cs typeface="Arial"/>
                        </a:rPr>
                        <a:t>Make any improvement interpretable</a:t>
                      </a:r>
                    </a:p>
                  </a:txBody>
                  <a:tcPr marL="114300" marR="95250" marT="76200" marB="66675" anchor="ctr">
                    <a:solidFill>
                      <a:srgbClr val="F1F4F8"/>
                    </a:solidFill>
                  </a:tcPr>
                </a:tc>
                <a:tc>
                  <a:txBody>
                    <a:bodyPr>
                      <a:noAutofit/>
                    </a:bodyPr>
                    <a:lstStyle/>
                    <a:p>
                      <a:r>
                        <a:rPr sz="1950" b="0">
                          <a:solidFill>
                            <a:srgbClr val="192737"/>
                          </a:solidFill>
                          <a:latin typeface="Arial"/>
                          <a:ea typeface="Arial"/>
                          <a:cs typeface="Arial"/>
                        </a:rPr>
                        <a:t>Standard BCA versus a declared correction</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29E19B1D-05CD-4525-90F5-20CE6BAC14EA}"/>
              </a:ext>
            </a:extLst>
          </p:cNvPr>
          <p:cNvSpPr>
            <a:spLocks xmlns:a="http://schemas.openxmlformats.org/drawingml/2006/main" noGrp="1"/>
          </p:cNvSpPr>
          <p:nvPr/>
        </p:nvSpPr>
        <p:spPr>
          <a:xfrm xmlns:a="http://schemas.openxmlformats.org/drawingml/2006/main">
            <a:off x="609600" y="56959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No coverage tuning yet. Importance weighting remains a testable hypothesis.</a:t>
            </a:r>
          </a:p>
        </p:txBody>
      </p:sp>
    </p:spTree>
    <p:extLst>
      <p:ext uri="{BB962C8B-B14F-4D97-AF65-F5344CB8AC3E}">
        <p14:creationId xmlns:p14="http://schemas.microsoft.com/office/powerpoint/2010/main" val="561415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2026-09-29T13:23:10.9980000Z</dcterms:created>
  <dcterms:modified xsi:type="dcterms:W3CDTF">2026-09-29T13:23:10.9980000Z</dcterms:modified>
</coreProperties>
</file>