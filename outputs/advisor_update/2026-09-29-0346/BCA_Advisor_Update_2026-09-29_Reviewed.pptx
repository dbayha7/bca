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42c967997464c07" /><Relationship Type="http://schemas.openxmlformats.org/officeDocument/2006/relationships/extended-properties" Target="/docProps/app.xml" Id="R86c0acef72f347cf" /><Relationship Type="http://schemas.openxmlformats.org/officeDocument/2006/relationships/officeDocument" Target="/ppt/presentation.xml" Id="R9829523563654ebf" /></Relationships>
</file>

<file path=ppt/presentation.xml><?xml version="1.0" encoding="utf-8"?>
<p:presentation xmlns:p="http://schemas.openxmlformats.org/presentationml/2006/main">
  <p:sldMasterIdLst>
    <p:sldMasterId xmlns:r="http://schemas.openxmlformats.org/officeDocument/2006/relationships" id="2147483648" r:id="Rf84a1a08ea1b416d"/>
  </p:sldMasterIdLst>
  <p:notesMasterIdLst>
    <p:notesMasterId xmlns:r="http://schemas.openxmlformats.org/officeDocument/2006/relationships" r:id="R949c9f8447ff4423"/>
  </p:notesMasterIdLst>
  <p:sldIdLst>
    <p:sldId xmlns:r="http://schemas.openxmlformats.org/officeDocument/2006/relationships" id="256" r:id="Rd78a004dc735498f"/>
    <p:sldId xmlns:r="http://schemas.openxmlformats.org/officeDocument/2006/relationships" id="257" r:id="Rf4e1ff70e177473a"/>
    <p:sldId xmlns:r="http://schemas.openxmlformats.org/officeDocument/2006/relationships" id="258" r:id="R8bd397dc44b44405"/>
    <p:sldId xmlns:r="http://schemas.openxmlformats.org/officeDocument/2006/relationships" id="259" r:id="R20dff19c7a254180"/>
    <p:sldId xmlns:r="http://schemas.openxmlformats.org/officeDocument/2006/relationships" id="260" r:id="R239c20608ffb41b1"/>
    <p:sldId xmlns:r="http://schemas.openxmlformats.org/officeDocument/2006/relationships" id="261" r:id="R77c9c02e3640469e"/>
    <p:sldId xmlns:r="http://schemas.openxmlformats.org/officeDocument/2006/relationships" id="262" r:id="R19ec6c640265455a"/>
    <p:sldId xmlns:r="http://schemas.openxmlformats.org/officeDocument/2006/relationships" id="263" r:id="R142e6fbf41874c3c"/>
    <p:sldId xmlns:r="http://schemas.openxmlformats.org/officeDocument/2006/relationships" id="264" r:id="R60f29f0d7d1741d9"/>
    <p:sldId xmlns:r="http://schemas.openxmlformats.org/officeDocument/2006/relationships" id="265" r:id="Rc3c138ca2ca64212"/>
    <p:sldId xmlns:r="http://schemas.openxmlformats.org/officeDocument/2006/relationships" id="266" r:id="Rff022fe026b94eb0"/>
    <p:sldId xmlns:r="http://schemas.openxmlformats.org/officeDocument/2006/relationships" id="267" r:id="R220875f4d3664255"/>
    <p:sldId xmlns:r="http://schemas.openxmlformats.org/officeDocument/2006/relationships" id="268" r:id="R4e0c8859293c4705"/>
    <p:sldId xmlns:r="http://schemas.openxmlformats.org/officeDocument/2006/relationships" id="269" r:id="Ra510fbb7c1ef4f22"/>
    <p:sldId xmlns:r="http://schemas.openxmlformats.org/officeDocument/2006/relationships" id="270" r:id="Re8945ddc25644c82"/>
    <p:sldId xmlns:r="http://schemas.openxmlformats.org/officeDocument/2006/relationships" id="271" r:id="Rb781fb819eab4e5b"/>
    <p:sldId xmlns:r="http://schemas.openxmlformats.org/officeDocument/2006/relationships" id="272" r:id="Rd2a64f61e4cc4114"/>
    <p:sldId xmlns:r="http://schemas.openxmlformats.org/officeDocument/2006/relationships" id="273" r:id="Ra39c62a7d2f04d9f"/>
    <p:sldId xmlns:r="http://schemas.openxmlformats.org/officeDocument/2006/relationships" id="274" r:id="Rabfa5b73d51746f8"/>
    <p:sldId xmlns:r="http://schemas.openxmlformats.org/officeDocument/2006/relationships" id="275" r:id="R66cdacd97ab64a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4221f6c0604262" /><Relationship Type="http://schemas.openxmlformats.org/officeDocument/2006/relationships/slideMaster" Target="/ppt/slideMasters/slideMaster1.xml" Id="Rf84a1a08ea1b416d" /><Relationship Type="http://schemas.openxmlformats.org/officeDocument/2006/relationships/notesMaster" Target="/ppt/notesMasters/notesMaster1.xml" Id="R949c9f8447ff4423" /><Relationship Type="http://schemas.openxmlformats.org/officeDocument/2006/relationships/presProps" Target="/ppt/presProps.xml" Id="R7191319a37b64b65" /><Relationship Type="http://schemas.openxmlformats.org/officeDocument/2006/relationships/tableStyles" Target="/ppt/tableStyles.xml" Id="R3f356e84adeb464f" /><Relationship Type="http://schemas.openxmlformats.org/officeDocument/2006/relationships/slide" Target="/ppt/slides/slide1.xml" Id="Rd78a004dc735498f" /><Relationship Type="http://schemas.openxmlformats.org/officeDocument/2006/relationships/slide" Target="/ppt/slides/slide2.xml" Id="Rf4e1ff70e177473a" /><Relationship Type="http://schemas.openxmlformats.org/officeDocument/2006/relationships/slide" Target="/ppt/slides/slide3.xml" Id="R8bd397dc44b44405" /><Relationship Type="http://schemas.openxmlformats.org/officeDocument/2006/relationships/slide" Target="/ppt/slides/slide4.xml" Id="R20dff19c7a254180" /><Relationship Type="http://schemas.openxmlformats.org/officeDocument/2006/relationships/slide" Target="/ppt/slides/slide5.xml" Id="R239c20608ffb41b1" /><Relationship Type="http://schemas.openxmlformats.org/officeDocument/2006/relationships/slide" Target="/ppt/slides/slide6.xml" Id="R77c9c02e3640469e" /><Relationship Type="http://schemas.openxmlformats.org/officeDocument/2006/relationships/slide" Target="/ppt/slides/slide7.xml" Id="R19ec6c640265455a" /><Relationship Type="http://schemas.openxmlformats.org/officeDocument/2006/relationships/slide" Target="/ppt/slides/slide8.xml" Id="R142e6fbf41874c3c" /><Relationship Type="http://schemas.openxmlformats.org/officeDocument/2006/relationships/slide" Target="/ppt/slides/slide9.xml" Id="R60f29f0d7d1741d9" /><Relationship Type="http://schemas.openxmlformats.org/officeDocument/2006/relationships/slide" Target="/ppt/slides/slide10.xml" Id="Rc3c138ca2ca64212" /><Relationship Type="http://schemas.openxmlformats.org/officeDocument/2006/relationships/slide" Target="/ppt/slides/slide11.xml" Id="Rff022fe026b94eb0" /><Relationship Type="http://schemas.openxmlformats.org/officeDocument/2006/relationships/slide" Target="/ppt/slides/slide12.xml" Id="R220875f4d3664255" /><Relationship Type="http://schemas.openxmlformats.org/officeDocument/2006/relationships/slide" Target="/ppt/slides/slide13.xml" Id="R4e0c8859293c4705" /><Relationship Type="http://schemas.openxmlformats.org/officeDocument/2006/relationships/slide" Target="/ppt/slides/slide14.xml" Id="Ra510fbb7c1ef4f22" /><Relationship Type="http://schemas.openxmlformats.org/officeDocument/2006/relationships/slide" Target="/ppt/slides/slide15.xml" Id="Re8945ddc25644c82" /><Relationship Type="http://schemas.openxmlformats.org/officeDocument/2006/relationships/slide" Target="/ppt/slides/slide16.xml" Id="Rb781fb819eab4e5b" /><Relationship Type="http://schemas.openxmlformats.org/officeDocument/2006/relationships/slide" Target="/ppt/slides/slide17.xml" Id="Rd2a64f61e4cc4114" /><Relationship Type="http://schemas.openxmlformats.org/officeDocument/2006/relationships/slide" Target="/ppt/slides/slide18.xml" Id="Ra39c62a7d2f04d9f" /><Relationship Type="http://schemas.openxmlformats.org/officeDocument/2006/relationships/slide" Target="/ppt/slides/slide19.xml" Id="Rabfa5b73d51746f8" /><Relationship Type="http://schemas.openxmlformats.org/officeDocument/2006/relationships/slide" Target="/ppt/slides/slide20.xml" Id="R66cdacd97ab64a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5ea37435274d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8289746e02453b" /><Relationship Type="http://schemas.openxmlformats.org/officeDocument/2006/relationships/notesMaster" Target="/ppt/notesMasters/notesMaster1.xml" Id="R62e3a332aa0747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19e4c028df4bbd" /><Relationship Type="http://schemas.openxmlformats.org/officeDocument/2006/relationships/notesMaster" Target="/ppt/notesMasters/notesMaster1.xml" Id="R6f942766fc1647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c7773c82fb426a" /><Relationship Type="http://schemas.openxmlformats.org/officeDocument/2006/relationships/notesMaster" Target="/ppt/notesMasters/notesMaster1.xml" Id="R1ff57624549945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81a2ae30ac4721" /><Relationship Type="http://schemas.openxmlformats.org/officeDocument/2006/relationships/notesMaster" Target="/ppt/notesMasters/notesMaster1.xml" Id="R67954c9de20040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49faf62e9347cc" /><Relationship Type="http://schemas.openxmlformats.org/officeDocument/2006/relationships/notesMaster" Target="/ppt/notesMasters/notesMaster1.xml" Id="Rb9f390408e0548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9697d4aa404615" /><Relationship Type="http://schemas.openxmlformats.org/officeDocument/2006/relationships/notesMaster" Target="/ppt/notesMasters/notesMaster1.xml" Id="Ree0e3cdbad6844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4c0d65c967459e" /><Relationship Type="http://schemas.openxmlformats.org/officeDocument/2006/relationships/notesMaster" Target="/ppt/notesMasters/notesMaster1.xml" Id="R490774198d764a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7c3d5fd01f4ae9" /><Relationship Type="http://schemas.openxmlformats.org/officeDocument/2006/relationships/notesMaster" Target="/ppt/notesMasters/notesMaster1.xml" Id="Rf22c2bbfb1f743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2fe65554b64ee0" /><Relationship Type="http://schemas.openxmlformats.org/officeDocument/2006/relationships/notesMaster" Target="/ppt/notesMasters/notesMaster1.xml" Id="R1fa5dc8300b541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8581f5cc294d76" /><Relationship Type="http://schemas.openxmlformats.org/officeDocument/2006/relationships/notesMaster" Target="/ppt/notesMasters/notesMaster1.xml" Id="R65b0822f4a7144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0e206ea4cf4241" /><Relationship Type="http://schemas.openxmlformats.org/officeDocument/2006/relationships/notesMaster" Target="/ppt/notesMasters/notesMaster1.xml" Id="R81bbf908cfed42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08a877cc9048e7" /><Relationship Type="http://schemas.openxmlformats.org/officeDocument/2006/relationships/notesMaster" Target="/ppt/notesMasters/notesMaster1.xml" Id="R3415cc56773941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d3aeaec1c0410f" /><Relationship Type="http://schemas.openxmlformats.org/officeDocument/2006/relationships/notesMaster" Target="/ppt/notesMasters/notesMaster1.xml" Id="R8bc95a1d92a345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61afda3fe647a6" /><Relationship Type="http://schemas.openxmlformats.org/officeDocument/2006/relationships/notesMaster" Target="/ppt/notesMasters/notesMaster1.xml" Id="R7724fcd1823646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eb5c7c87734150" /><Relationship Type="http://schemas.openxmlformats.org/officeDocument/2006/relationships/notesMaster" Target="/ppt/notesMasters/notesMaster1.xml" Id="R75b2d18f65e44d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c67a2213204b81" /><Relationship Type="http://schemas.openxmlformats.org/officeDocument/2006/relationships/notesMaster" Target="/ppt/notesMasters/notesMaster1.xml" Id="R9a46442fb9d74ac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82684fe9a84509" /><Relationship Type="http://schemas.openxmlformats.org/officeDocument/2006/relationships/notesMaster" Target="/ppt/notesMasters/notesMaster1.xml" Id="R2d2fedff77dd49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d75ae3f60144a18" /><Relationship Type="http://schemas.openxmlformats.org/officeDocument/2006/relationships/notesMaster" Target="/ppt/notesMasters/notesMaster1.xml" Id="Rae56b74d2c644f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6e18ebb8e545a1" /><Relationship Type="http://schemas.openxmlformats.org/officeDocument/2006/relationships/notesMaster" Target="/ppt/notesMasters/notesMaster1.xml" Id="R7a02a992866646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f2027d782ab4e09" /><Relationship Type="http://schemas.openxmlformats.org/officeDocument/2006/relationships/notesMaster" Target="/ppt/notesMasters/notesMaster1.xml" Id="R71f4f45b94f64e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have more completed training, but only one completed OOD training seed. The core research question is whether BCA helps with poorly represented actions. Our current data do not yet demonstrate that benefit. The slides separate execution closure, scientific audit acceptance, OOD results, and the synthetic weighted-conformal correction.</a:t>
            </a:r>
          </a:p>
          <a:p xmlns:a="http://schemas.openxmlformats.org/drawingml/2006/main">
            <a:r>
              <a:t>Snapshot 2026-09-29 03:46 UTC, equivalent to September 28 11:46 p.m. EDT.</a:t>
            </a:r>
          </a:p>
          <a:p xmlns:a="http://schemas.openxmlformats.org/drawingml/2006/main">
            <a:r>
              <a:t>Repository evidence: C:/Users/David Bayha/Documents/GitHub/BCA/docs/STANDARD_BCA_STATUS.md</a:t>
            </a:r>
          </a:p>
          <a:p xmlns:a="http://schemas.openxmlformats.org/drawingml/2006/main">
            <a:r>
              <a:t>Repository evidence: C:/Users/David Bayha/Documents/GitHub/BCA/docs/OOD_ACTION_COLLECTION_STATUS.md</a:t>
            </a:r>
          </a:p>
          <a:p xmlns:a="http://schemas.openxmlformats.org/drawingml/2006/main">
            <a:r>
              <a:t>Repository evidence: C:/Users/David Bayha/Documents/GitHub/BCA/outputs/advisor_update/2026-09-29-0346/cluster_snapshot.json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Why are you doing this and what does it accomplish? Training return does not isolate the effect of unfamiliar actions. A low Bellman error does not prove the value estimate matches true long-run return, because the target is bootstrapped. The study separates warning quality, first-action choice and continuation behavior. BCA may help only if the quantities it learns and the way a host consumes them improve these decisions. This is a research hypothesis, not an established mechanism.</a:t>
            </a:r>
          </a:p>
          <a:p xmlns:a="http://schemas.openxmlformats.org/drawingml/2006/main">
            <a:r>
              <a:t>Repository evidence: C:/Users/David Bayha/Documents/GitHub/BCA/outputs/advisor_progress/2026-09-29/ADVISOR_BRIEF.md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standard study is distinct from earlier native and full-width experiments. Both Bayesian and conformal components remain, and fitting importance factors are equal. Bayesian random masses remain active. The frozen matrix has 280 physical runs and 315 actor trajectories because the IQL paired branch shares Q/V with an additional actor. Five declared seeds remain required. Do not treat those actors as independent seed replicates.</a:t>
            </a:r>
          </a:p>
          <a:p xmlns:a="http://schemas.openxmlformats.org/drawingml/2006/main">
            <a:r>
              <a:t>Repository evidence: C:/Users/David Bayha/Documents/GitHub/BCA/experiments/standard_bca/README.md</a:t>
            </a:r>
          </a:p>
          <a:p xmlns:a="http://schemas.openxmlformats.org/drawingml/2006/main">
            <a:r>
              <a:t>Repository evidence: C:/Users/David Bayha/Documents/GitHub/BCA/experiments/standard_bca/RUNTIME.md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supplies evaluation outcomes after training. It does not train the actor or calibrator during these rollouts. We restore complete states, fix candidate actions and randomness before observing outcomes, and compare continuations from the same first action. Legal and distant are not synonyms for harmful. The v1 panel uses host-action harm reference. Prospective v2 uses a nearest-recorded common anchor and explicit support bands.</a:t>
            </a:r>
          </a:p>
          <a:p xmlns:a="http://schemas.openxmlformats.org/drawingml/2006/main">
            <a:r>
              <a:t>Repository evidence: C:/Users/David Bayha/Documents/GitHub/BCA/docs/superpowers/plans/2026-09-28-ood-robustness-v2.md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width is translated into a host-specific training adjustment, rather than being subtracted universally from every Q-value. TD3+BC and ReBRAC modify actor behavior-cloning strength. ReBRAC critic BC is unchanged. CQL attaches a transition-level multiplier to its conservative critic gap using a recorded-action width, which must not be called separate candidate-action uncertainty. IQL shrinks the capped actor advantage weight's excess above one, using shared nuisance Q/V and fixed gain 1.</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03:46:29 UTC the original cluster controller and current worker match their saved commands, start ticks and process group/session. Job 27045057 on str-gpu13 has 64 completed receipts, 32 ReBRAC and 32 IQL, all worker exit zero and learner completed. Third seed ReBRAC HalfCheetah host is at 960k. The controller and current worker have no final actual exits yet. The local controller has actual exit 1 from September 27 after CQL result validation. Across both lanes 66/280 closures exist, while 14/280 are accepted and 52 cluster closures await full audits. The v2 guard implementation has not passed real runtime/simulator gates, so no v2 outcomes exist. Do not equate synthetic guard tests with simulator acceptance.</a:t>
            </a:r>
          </a:p>
          <a:p xmlns:a="http://schemas.openxmlformats.org/drawingml/2006/main">
            <a:r>
              <a:t>Repository evidence: C:/Users/David Bayha/Documents/GitHub/BCA/docs/STANDARD_BCA_STATUS.md</a:t>
            </a:r>
          </a:p>
          <a:p xmlns:a="http://schemas.openxmlformats.org/drawingml/2006/main">
            <a:r>
              <a:t>Repository evidence: C:/Users/David Bayha/Documents/GitHub/BCA/docs/OOD_ACTION_COLLECTION_STATUS.md</a:t>
            </a:r>
          </a:p>
          <a:p xmlns:a="http://schemas.openxmlformats.org/drawingml/2006/main">
            <a:r>
              <a:t>Repository evidence: C:/Users/David Bayha/Documents/GitHub/BCA/outputs/advisor_update/2026-09-29-0346/cluster_snapshot.json</a:t>
            </a:r>
          </a:p>
          <a:p xmlns:a="http://schemas.openxmlformats.org/drawingml/2006/main">
            <a:r>
              <a:t>Repository evidence: C:/Users/David Bayha/Documents/GitHub/BCA/outputs/advisor_update/2026-09-29-0346/local_snapshot.json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rows use final twenty-episode normalized-score means. Curve difference is the arithmetic mean across 200 periodic evaluation banks, not the periodic score at 1M. The first seed suffix is 171, etc. Every row retains all original episodes and is based on one paired training seed. Fourteen physical runs form these seven pairs. ReBRAC Hopper and Walker each have 3/5 accepted seeds, while TD3 Hopper has 1/5. Final and learning-time comparisons differ. The large third Walker difference coexists with a highly variable host final bank, whose episode SD is 39.12 versus BCA 15.02. This does not establish a training cause or OOD benefit.</a:t>
            </a:r>
          </a:p>
          <a:p xmlns:a="http://schemas.openxmlformats.org/drawingml/2006/main">
            <a:r>
              <a:t>Repository evidence: C:/Users/David Bayha/Documents/GitHub/BCA/outputs/advisor_update/2026-09-29-0346/accepted_training_pairs.csv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Curves retain every saved periodic bank and show no smoothing. Embedded chart values round to eight decimal places for spreadsheet portability; exact source values remain in data.json. TD3 Hopper has one accepted training seed. The two ReBRAC panels show the arithmetic mean of the three accepted training seeds at each update. They are descriptive means with no training-seed interval, and the paired final contrasts on the preceding slide show important variation. Periodic bank means have ten episodes; final evaluation uses a separate twenty-episode bank. Final endpoints in the preceding slide therefore need not equal these final plotted points.</a:t>
            </a:r>
          </a:p>
          <a:p xmlns:a="http://schemas.openxmlformats.org/drawingml/2006/main">
            <a:r>
              <a:t>Repository evidence: C:/Users/David Bayha/Documents/GitHub/BCA/outputs/advisor_update/2026-09-29-0346/data.json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all seven datasets from the already saved two-seed cluster extraction at September 28 22:37 UTC. They are preliminary saved evaluation summaries, not a fresh full scientific acceptance. ReBRAC Hopper and Walker rows now have accepted audits; remaining rows including IQL still await full audits. IQL comparisons use paired actors sharing Q/V. Do not combine normalized deltas across tasks into a single inferential average. ReBRAC Maze changes sign dramatically between seeds, and the small IQL differences are mixed. This motivates retaining the full declared seed set.</a:t>
            </a:r>
          </a:p>
          <a:p xmlns:a="http://schemas.openxmlformats.org/drawingml/2006/main">
            <a:r>
              <a:t>Repository evidence: C:/Users/David Bayha/Documents/GitHub/BCA/outputs/advisor_progress/2026-09-29/cluster_pair_results.csv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accepted TD3+BC Hopper result is standard BCA at seed 202609171. It contains 5,120 rollouts, 256 captured rows and 64 shared reset blocks, with 1.28 million outcome environment steps. Under BCA continuation, harm means a loss greater than 1 raw reward unit relative to the host first action at the same state. There are 276 harmful alternatives among 2,304 and 111/256 panels with both classes. The plotted metric is the equal-four-stratum mean of within-state AUROC. Constant scores give 0.5 and the precommitted random score realizes 0.513 in this panel. There is no significance or replicated benefit claim. Pooled width AUROC 0.431776 measures a different comparison and is deliberately not substituted.</a:t>
            </a:r>
          </a:p>
          <a:p xmlns:a="http://schemas.openxmlformats.org/drawingml/2006/main">
            <a:r>
              <a:t>Repository evidence: C:/Users/David Bayha/Documents/GitHub/BCA/outputs/advisor_progress/2026-09-29/ADVISOR_BRIEF.md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isolates first-action choice under the same BCA continuation, on the accepted v1 panel. The other two rows are the separately labelled post-hoc support-distant bridge using 233 actions across 193 states, selected using saved support labels. They are not prospective v2 outcomes. A equals BCA return minus host return after the exact same imposed action. D compares each continuation's loss relative to a common familiar anchor. BCA is lower by about 5.046 raw return units after the distant action. D is about -0.019, almost zero, indicating no degradation advantage against that anchor. Distant actions actually improve the average relative to the anchor under both policies, so these quantities cannot be described as universal harmful attacks.</a:t>
            </a:r>
          </a:p>
          <a:p xmlns:a="http://schemas.openxmlformats.org/drawingml/2006/main">
            <a:r>
              <a:t>Repository evidence: C:/Users/David Bayha/Documents/GitHub/BCA/outputs/advisor_progress/2026-09-29/ADVISOR_BRIEF.md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Why do minor changes make sense, and what should they accomplish? V2 was specified after inspecting v1 and before new v2 outcomes. It is not a retroactive preregistration. It holds coverage and training recipes fixed. The first tranche remains 20 pairs: TD3+BC and ReBRAC, Hopper and Walker, five seeds. CQL/IQL and other datasets require additional adapters. Pure selection and known-answer tests do not count as scientific completion. The single seed collision amendment was explicitly approved and changes only 404735174 to 404735181. All original streams/failures remain.</a:t>
            </a:r>
          </a:p>
          <a:p xmlns:a="http://schemas.openxmlformats.org/drawingml/2006/main">
            <a:r>
              <a:t>Repository evidence: C:/Users/David Bayha/Documents/GitHub/BCA/docs/superpowers/plans/2026-09-28-ood-robustness-v2.md</a:t>
            </a:r>
          </a:p>
          <a:p xmlns:a="http://schemas.openxmlformats.org/drawingml/2006/main">
            <a:r>
              <a:t>Repository evidence: C:/Users/David Bayha/Documents/GitHub/BCA/docs/OOD_V2_STREAM_AMENDMENT_20260928.md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prediction interval and a useful control policy answer different questions. Coverage can be correct while width cannot rank harmful actions, because Bellman-target residuals may be a poor proxy for finite-horizon harm. A favorable ranking alone does not prove a better policy. A lower within-state AUROC does not falsify a conformal coverage theorem, whose response, population and assumptions differ. A favorable performance result still needs all declared seeds and the protocol's intervals. V2 requires both adjusted lower bounds positive for stressed-return advantage and degradation advantage, under its explicit scope.</a:t>
            </a:r>
          </a:p>
          <a:p xmlns:a="http://schemas.openxmlformats.org/drawingml/2006/main">
            <a:r>
              <a:t>Repository evidence: C:/Users/David Bayha/Documents/GitHub/BCA/docs/superpowers/plans/2026-09-28-ood-robustness-v2.md</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no-IW experiment intentionally uses equal importance factors. Its identity does not change. The separate earlier IW implementations changed scale-fitting weights but refreshed radius with equal calibration masses and query mass 1. The intended method was weighted conformal prediction, so describing those variants as fully weighted conformal would overstate the implementation. Existing generic low-level routines accepting weights do not prove the actual host path supplies valid ratios. Current four hosts use one cached scalar radius. This implementation gap is independent evidence and does not prove it caused the unfavorable Hopper OOD behavior.</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mathematical reference preserves both components. The conformal floor uses target/source covariate ratios at calibration examples and the query. Finite-sample marginal coverage needs the appropriate fixed score, sampling/independence, overlap and unchanged conditional response law. Density estimates add estimation error; policy density alone omits the behavior denominator. Deterministic TD3/ReBRAC policy targets can be singular relative to continuous behavior. Smoothing defines a new target and cannot silently justify the original. Reusing a calibration bank to influence later policies creates feedback; freezing afterward does not undo it. Fresh independent validation is needed. Infinity remains unbounded in coverage reporting, and host behavior must be separately declared.</a:t>
            </a:r>
          </a:p>
          <a:p xmlns:a="http://schemas.openxmlformats.org/drawingml/2006/main">
            <a:r>
              <a:t>Repository evidence: C:/Users/David Bayha/Documents/GitHub/BCA/docs/WEIGHTED_CONFORMAL_DESIGN.md</a:t>
            </a:r>
          </a:p>
          <a:p xmlns:a="http://schemas.openxmlformats.org/drawingml/2006/main">
            <a:r>
              <a:t>Primary source: https://www.stat.berkeley.edu/~ryantibs/papers/weightedcp.pdf, equations (5)-(7), Corollary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controlled scalar simulation, not an RL or OOD-policy result. In 2,000 independent trials, each bank has 199 calibration examples. Source has 20% hard examples and target has 80%, while conditional responses remain fixed: easy Uniform(0,1), hard Uniform(0,6). The predictor is zero, scale one, and exact target/source weights are 0.25 and 4. The conformal calculation applies weights to both calibration examples and query. Coverage counts are 1820,1221,1814,1879. Exact 95% binomial intervals: [89.66,92.22], [58.87,63.19], [89.34,91.94], [92.81,94.95] percent. Means of finite radii are 2.999,2.999,5.295,5.590. Extra Bayesian coverage comes with wider bands and does not establish greater efficiency or a 95%-confidence population-risk bound. Fifteen tests and independent reconstruction passed; original numerical failures remain preserved.</a:t>
            </a:r>
          </a:p>
          <a:p xmlns:a="http://schemas.openxmlformats.org/drawingml/2006/main">
            <a:r>
              <a:t>Repository evidence: C:/Users/David Bayha/Documents/GitHub/BCA/outputs/weighted_conformal/2026-09-29-v2/READOUT.md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timing promise is made because the native/runtime blocker is unresolved. The immediate OOD priority is a source-bound runtime integration followed by actual checkpoint and simulator gates, then the declared first tranche. A new synthetic fixture does not close this step. Local CQL recovery should preserve the exit-1 record and reuse saved final evaluations and checkpoints rather than repeat training. A separately documented schema-only saved-artifact validation is the next recovery proposal, not a completed recovery. Cluster training continues under its original controller; independent audits proceed in fixed order as resources allow. IW proceeds first through a frozen-score known-ratio real-data/simulator sampling contract, not by selecting weights from final OOD outcomes.</a:t>
            </a:r>
          </a:p>
          <a:p xmlns:a="http://schemas.openxmlformats.org/drawingml/2006/main">
            <a:r>
              <a:t>Repository evidence: C:/Users/David Bayha/Documents/GitHub/BCA/docs/STANDARD_BCA_STATUS.md</a:t>
            </a:r>
          </a:p>
          <a:p xmlns:a="http://schemas.openxmlformats.org/drawingml/2006/main">
            <a:r>
              <a:t>Repository evidence: C:/Users/David Bayha/Documents/GitHub/BCA/docs/OOD_ACTION_COLLECTION_STATUS.md</a:t>
            </a:r>
          </a:p>
          <a:p xmlns:a="http://schemas.openxmlformats.org/drawingml/2006/main">
            <a:r>
              <a:t>Repository evidence: C:/Users/David Bayha/Documents/GitHub/BCA/outputs/advisor_update/2026-09-29-0346/cluster_snapshot.json</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script: We are asking whether BCA's residual bands help with actions that have weak dataset support. The OOD test adds controlled action interventions, which return curves cannot provide. Our first TD3 Hopper seed shows weak warning quality and no demonstrated action-stress advantage, so we are keeping the negative evidence. ReBRAC's training results vary across seeds and do not answer that OOD question. The next experiment balances action support and separates stressed return from degradation, while holding coverage fixed. Separately, our implementation audit confirmed the previous fitting-IW route did not implement the intended weighted conformal threshold. The corrected threshold passes a known-ratio toy test, but its real-data assumptions and host integration remain unfinished. We should judge every change by the specific limitation it addresses and by whether the predeclared result supports that expectation.</a:t>
            </a:r>
          </a:p>
          <a:p xmlns:a="http://schemas.openxmlformats.org/drawingml/2006/main">
            <a:r>
              <a:t>Repository evidence: C:/Users/David Bayha/Documents/GitHub/BCA/outputs/advisor_progress/2026-09-29/ADVISOR_BRIEF.md</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row counts are for the accepted first TD3+BC Hopper pair only, not universal across tasks. Both methods use the same 998895 training rows and 1103 held-out rows. BCA uses a 1024-row training reference. Normalization fits the training complement. The calibrator fits detached host-target prediction errors. Posterior refreshes use reserved offline transitions, with 198 refreshes through 1M. Evaluation observes simulator rewards with frozen parameters; the OOD rollout may log widths but does not refit them. The reuse of a held-out bank to influence later training prevents treating a later checkpoint as automatically independent of that bank.</a:t>
            </a:r>
          </a:p>
          <a:p xmlns:a="http://schemas.openxmlformats.org/drawingml/2006/main">
            <a:r>
              <a:t>Repository evidence: C:/Users/David Bayha/Documents/GitHub/BCA/outputs/standard_bca/td3_bc/hopper/bca_noiw/s202609171/README.md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only at alpha 0.4 to keep four scores readable. Production alpha remains 0.1. Scores are normalized absolute errors against a frozen host target, not known true-Q errors. Weighted conformal's finite-sample target/source construction needs the query's mass at infinity. Using a common normalization cancels; normalizing query separately does not. If observed cumulative mass cannot reach the cutoff, return infinity and retain it. Width is scale times the maximum of the conformal and Bayesian radii.</a:t>
            </a:r>
          </a:p>
          <a:p xmlns:a="http://schemas.openxmlformats.org/drawingml/2006/main">
            <a:r>
              <a:t>Repository evidence: C:/Users/David Bayha/Documents/GitHub/BCA/docs/WEIGHTED_CONFORMAL_DESIGN.md</a:t>
            </a:r>
          </a:p>
          <a:p xmlns:a="http://schemas.openxmlformats.org/drawingml/2006/main">
            <a:r>
              <a:t>Primary source: https://www.stat.berkeley.edu/~ryantibs/papers/weightedcp.pdf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fe5d8439524a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82adba14264c64" /><Relationship Type="http://schemas.openxmlformats.org/officeDocument/2006/relationships/slideLayout" Target="/ppt/slideLayouts/slideLayout1.xml" Id="R713f388fe38941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3f388fe38941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33ba9f7ba04849" /><Relationship Type="http://schemas.openxmlformats.org/officeDocument/2006/relationships/notesSlide" Target="/ppt/notesSlides/notesSlide1.xml" Id="R844a28ccfbee41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e75fbc70ac4923" /><Relationship Type="http://schemas.openxmlformats.org/officeDocument/2006/relationships/notesSlide" Target="/ppt/notesSlides/notesSlide2.xml" Id="R23bda2f1ce8a41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738c968874404e" /><Relationship Type="http://schemas.openxmlformats.org/officeDocument/2006/relationships/notesSlide" Target="/ppt/notesSlides/notesSlide3.xml" Id="R0a9bb671ebb24f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7f5e70bdfe4ce4" /><Relationship Type="http://schemas.openxmlformats.org/officeDocument/2006/relationships/notesSlide" Target="/ppt/notesSlides/notesSlide4.xml" Id="Rce9e3477e1da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7ee05fca214fc1" /><Relationship Type="http://schemas.openxmlformats.org/officeDocument/2006/relationships/notesSlide" Target="/ppt/notesSlides/notesSlide5.xml" Id="Rc9684b85cf294b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6ae53a68144e34" /><Relationship Type="http://schemas.openxmlformats.org/officeDocument/2006/relationships/notesSlide" Target="/ppt/notesSlides/notesSlide6.xml" Id="Rb7dc6162c4b342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efd9b946264316" /><Relationship Type="http://schemas.openxmlformats.org/officeDocument/2006/relationships/notesSlide" Target="/ppt/notesSlides/notesSlide7.xml" Id="R7e064c39e0754e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093a35dff1410e" /><Relationship Type="http://schemas.openxmlformats.org/officeDocument/2006/relationships/chart" Target="/ppt/slides/charts/chart1.xml" Id="R7827ecdd529c4e10" /><Relationship Type="http://schemas.openxmlformats.org/officeDocument/2006/relationships/chart" Target="/ppt/slides/charts/chart2.xml" Id="Rda13650ddcd9479c" /><Relationship Type="http://schemas.openxmlformats.org/officeDocument/2006/relationships/chart" Target="/ppt/slides/charts/chart3.xml" Id="Re5c81571159a4334" /><Relationship Type="http://schemas.openxmlformats.org/officeDocument/2006/relationships/notesSlide" Target="/ppt/notesSlides/notesSlide8.xml" Id="R13813b1b62d042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fcf4833ed847d7" /><Relationship Type="http://schemas.openxmlformats.org/officeDocument/2006/relationships/notesSlide" Target="/ppt/notesSlides/notesSlide9.xml" Id="Rc834af7b528c47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8fb2ffa03b43d4" /><Relationship Type="http://schemas.openxmlformats.org/officeDocument/2006/relationships/chart" Target="/ppt/slides/charts/chart4.xml" Id="R1951dbccf22c4961" /><Relationship Type="http://schemas.openxmlformats.org/officeDocument/2006/relationships/notesSlide" Target="/ppt/notesSlides/notesSlide10.xml" Id="R5e454f78c9224e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39df4a962c4a20" /><Relationship Type="http://schemas.openxmlformats.org/officeDocument/2006/relationships/notesSlide" Target="/ppt/notesSlides/notesSlide11.xml" Id="Re30fc4fb25a44f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df87330cd64e46" /><Relationship Type="http://schemas.openxmlformats.org/officeDocument/2006/relationships/notesSlide" Target="/ppt/notesSlides/notesSlide12.xml" Id="R74cfd859d11644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7ca24c23e54a1a" /><Relationship Type="http://schemas.openxmlformats.org/officeDocument/2006/relationships/notesSlide" Target="/ppt/notesSlides/notesSlide13.xml" Id="Rb7eda4fdeb2142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5334a36e0e4752" /><Relationship Type="http://schemas.openxmlformats.org/officeDocument/2006/relationships/notesSlide" Target="/ppt/notesSlides/notesSlide14.xml" Id="Rc6155b8bfad140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451203cacf244a6" /><Relationship Type="http://schemas.openxmlformats.org/officeDocument/2006/relationships/notesSlide" Target="/ppt/notesSlides/notesSlide15.xml" Id="R7f0ff133bae248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e122e883bf42f9" /><Relationship Type="http://schemas.openxmlformats.org/officeDocument/2006/relationships/chart" Target="/ppt/slides/charts/chart5.xml" Id="R12c29e77ac0c488b" /><Relationship Type="http://schemas.openxmlformats.org/officeDocument/2006/relationships/notesSlide" Target="/ppt/notesSlides/notesSlide16.xml" Id="Rd81c018041fc4d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217a9dfcbe4f12" /><Relationship Type="http://schemas.openxmlformats.org/officeDocument/2006/relationships/notesSlide" Target="/ppt/notesSlides/notesSlide17.xml" Id="R9e9206c37e6841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01e1f2753df4788" /><Relationship Type="http://schemas.openxmlformats.org/officeDocument/2006/relationships/notesSlide" Target="/ppt/notesSlides/notesSlide18.xml" Id="R87bf1468705b4c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3a6b5864dc74466" /><Relationship Type="http://schemas.openxmlformats.org/officeDocument/2006/relationships/notesSlide" Target="/ppt/notesSlides/notesSlide19.xml" Id="R85f9ddb0c49b4d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c4ab5ed167240f5" /><Relationship Type="http://schemas.openxmlformats.org/officeDocument/2006/relationships/notesSlide" Target="/ppt/notesSlides/notesSlide20.xml" Id="R179e9fe3c2b845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51.25409683</c:v>
                </c:pt>
                <c:pt idx="1">
                  <c:v>54.63286471</c:v>
                </c:pt>
                <c:pt idx="2">
                  <c:v>41.48185247</c:v>
                </c:pt>
                <c:pt idx="3">
                  <c:v>52.79834143</c:v>
                </c:pt>
                <c:pt idx="4">
                  <c:v>52.04065608</c:v>
                </c:pt>
                <c:pt idx="5">
                  <c:v>40.55203289</c:v>
                </c:pt>
                <c:pt idx="6">
                  <c:v>56.57371586</c:v>
                </c:pt>
                <c:pt idx="7">
                  <c:v>45.90078885</c:v>
                </c:pt>
                <c:pt idx="8">
                  <c:v>33.90726186</c:v>
                </c:pt>
                <c:pt idx="9">
                  <c:v>51.87035172</c:v>
                </c:pt>
                <c:pt idx="10">
                  <c:v>47.93333094</c:v>
                </c:pt>
                <c:pt idx="11">
                  <c:v>44.5467844</c:v>
                </c:pt>
                <c:pt idx="12">
                  <c:v>46.47870768</c:v>
                </c:pt>
                <c:pt idx="13">
                  <c:v>39.47727546</c:v>
                </c:pt>
                <c:pt idx="14">
                  <c:v>48.30740951</c:v>
                </c:pt>
                <c:pt idx="15">
                  <c:v>60.62001321</c:v>
                </c:pt>
                <c:pt idx="16">
                  <c:v>45.84067059</c:v>
                </c:pt>
                <c:pt idx="17">
                  <c:v>60.27376716</c:v>
                </c:pt>
                <c:pt idx="18">
                  <c:v>45.34786169</c:v>
                </c:pt>
                <c:pt idx="19">
                  <c:v>53.88115895</c:v>
                </c:pt>
                <c:pt idx="20">
                  <c:v>48.28831434</c:v>
                </c:pt>
                <c:pt idx="21">
                  <c:v>54.66418083</c:v>
                </c:pt>
                <c:pt idx="22">
                  <c:v>54.64205899</c:v>
                </c:pt>
                <c:pt idx="23">
                  <c:v>61.10021561</c:v>
                </c:pt>
                <c:pt idx="24">
                  <c:v>67.2638946</c:v>
                </c:pt>
                <c:pt idx="25">
                  <c:v>52.74212462</c:v>
                </c:pt>
                <c:pt idx="26">
                  <c:v>51.20470257</c:v>
                </c:pt>
                <c:pt idx="27">
                  <c:v>52.98341048</c:v>
                </c:pt>
                <c:pt idx="28">
                  <c:v>58.07571355</c:v>
                </c:pt>
                <c:pt idx="29">
                  <c:v>58.18830253</c:v>
                </c:pt>
                <c:pt idx="30">
                  <c:v>59.18825287</c:v>
                </c:pt>
                <c:pt idx="31">
                  <c:v>50.91553471</c:v>
                </c:pt>
                <c:pt idx="32">
                  <c:v>54.75950799</c:v>
                </c:pt>
                <c:pt idx="33">
                  <c:v>44.76493997</c:v>
                </c:pt>
                <c:pt idx="34">
                  <c:v>45.57527353</c:v>
                </c:pt>
                <c:pt idx="35">
                  <c:v>63.40145952</c:v>
                </c:pt>
                <c:pt idx="36">
                  <c:v>57.98139431</c:v>
                </c:pt>
                <c:pt idx="37">
                  <c:v>45.26209431</c:v>
                </c:pt>
                <c:pt idx="38">
                  <c:v>52.65657763</c:v>
                </c:pt>
                <c:pt idx="39">
                  <c:v>64.38608675</c:v>
                </c:pt>
                <c:pt idx="40">
                  <c:v>59.41319221</c:v>
                </c:pt>
                <c:pt idx="41">
                  <c:v>65.01149172</c:v>
                </c:pt>
                <c:pt idx="42">
                  <c:v>63.55682562</c:v>
                </c:pt>
                <c:pt idx="43">
                  <c:v>56.59058626</c:v>
                </c:pt>
                <c:pt idx="44">
                  <c:v>49.67868853</c:v>
                </c:pt>
                <c:pt idx="45">
                  <c:v>51.5682063</c:v>
                </c:pt>
                <c:pt idx="46">
                  <c:v>65.79677513</c:v>
                </c:pt>
                <c:pt idx="47">
                  <c:v>57.47209809</c:v>
                </c:pt>
                <c:pt idx="48">
                  <c:v>51.67324441</c:v>
                </c:pt>
                <c:pt idx="49">
                  <c:v>62.48221083</c:v>
                </c:pt>
                <c:pt idx="50">
                  <c:v>56.06295208</c:v>
                </c:pt>
                <c:pt idx="51">
                  <c:v>48.47378456</c:v>
                </c:pt>
                <c:pt idx="52">
                  <c:v>57.96013951</c:v>
                </c:pt>
                <c:pt idx="53">
                  <c:v>51.05855714</c:v>
                </c:pt>
                <c:pt idx="54">
                  <c:v>53.24569652</c:v>
                </c:pt>
                <c:pt idx="55">
                  <c:v>55.5509086</c:v>
                </c:pt>
                <c:pt idx="56">
                  <c:v>60.85982659</c:v>
                </c:pt>
                <c:pt idx="57">
                  <c:v>51.55136346</c:v>
                </c:pt>
                <c:pt idx="58">
                  <c:v>52.81144107</c:v>
                </c:pt>
                <c:pt idx="59">
                  <c:v>51.90337936</c:v>
                </c:pt>
                <c:pt idx="60">
                  <c:v>60.68661555</c:v>
                </c:pt>
                <c:pt idx="61">
                  <c:v>58.06657479</c:v>
                </c:pt>
                <c:pt idx="62">
                  <c:v>54.68315192</c:v>
                </c:pt>
                <c:pt idx="63">
                  <c:v>57.4748391</c:v>
                </c:pt>
                <c:pt idx="64">
                  <c:v>53.11322374</c:v>
                </c:pt>
                <c:pt idx="65">
                  <c:v>28.99601777</c:v>
                </c:pt>
                <c:pt idx="66">
                  <c:v>45.06566697</c:v>
                </c:pt>
                <c:pt idx="67">
                  <c:v>48.20039959</c:v>
                </c:pt>
                <c:pt idx="68">
                  <c:v>53.32869275</c:v>
                </c:pt>
                <c:pt idx="69">
                  <c:v>69.60155676</c:v>
                </c:pt>
                <c:pt idx="70">
                  <c:v>63.01326906</c:v>
                </c:pt>
                <c:pt idx="71">
                  <c:v>56.44754786</c:v>
                </c:pt>
                <c:pt idx="72">
                  <c:v>59.90190995</c:v>
                </c:pt>
                <c:pt idx="73">
                  <c:v>53.88326562</c:v>
                </c:pt>
                <c:pt idx="74">
                  <c:v>48.43798679</c:v>
                </c:pt>
                <c:pt idx="75">
                  <c:v>59.36095748</c:v>
                </c:pt>
                <c:pt idx="76">
                  <c:v>56.54069686</c:v>
                </c:pt>
                <c:pt idx="77">
                  <c:v>53.78101822</c:v>
                </c:pt>
                <c:pt idx="78">
                  <c:v>71.56028932</c:v>
                </c:pt>
                <c:pt idx="79">
                  <c:v>52.04750968</c:v>
                </c:pt>
                <c:pt idx="80">
                  <c:v>58.99841029</c:v>
                </c:pt>
                <c:pt idx="81">
                  <c:v>56.52760982</c:v>
                </c:pt>
                <c:pt idx="82">
                  <c:v>56.22121385</c:v>
                </c:pt>
                <c:pt idx="83">
                  <c:v>57.79568519</c:v>
                </c:pt>
                <c:pt idx="84">
                  <c:v>60.70394327</c:v>
                </c:pt>
                <c:pt idx="85">
                  <c:v>53.12221143</c:v>
                </c:pt>
                <c:pt idx="86">
                  <c:v>56.24674333</c:v>
                </c:pt>
                <c:pt idx="87">
                  <c:v>53.31751219</c:v>
                </c:pt>
                <c:pt idx="88">
                  <c:v>56.77018563</c:v>
                </c:pt>
                <c:pt idx="89">
                  <c:v>59.95712852</c:v>
                </c:pt>
                <c:pt idx="90">
                  <c:v>66.45557111</c:v>
                </c:pt>
                <c:pt idx="91">
                  <c:v>62.77910085</c:v>
                </c:pt>
                <c:pt idx="92">
                  <c:v>56.63529491</c:v>
                </c:pt>
                <c:pt idx="93">
                  <c:v>61.81034547</c:v>
                </c:pt>
                <c:pt idx="94">
                  <c:v>55.36840585</c:v>
                </c:pt>
                <c:pt idx="95">
                  <c:v>60.36875444</c:v>
                </c:pt>
                <c:pt idx="96">
                  <c:v>60.64709933</c:v>
                </c:pt>
                <c:pt idx="97">
                  <c:v>56.72701571</c:v>
                </c:pt>
                <c:pt idx="98">
                  <c:v>55.36211316</c:v>
                </c:pt>
                <c:pt idx="99">
                  <c:v>60.04311738</c:v>
                </c:pt>
                <c:pt idx="100">
                  <c:v>55.5441412</c:v>
                </c:pt>
                <c:pt idx="101">
                  <c:v>53.60300635</c:v>
                </c:pt>
                <c:pt idx="102">
                  <c:v>58.69389807</c:v>
                </c:pt>
                <c:pt idx="103">
                  <c:v>59.75173991</c:v>
                </c:pt>
                <c:pt idx="104">
                  <c:v>55.38535652</c:v>
                </c:pt>
                <c:pt idx="105">
                  <c:v>57.54773886</c:v>
                </c:pt>
                <c:pt idx="106">
                  <c:v>61.97671523</c:v>
                </c:pt>
                <c:pt idx="107">
                  <c:v>56.15827899</c:v>
                </c:pt>
                <c:pt idx="108">
                  <c:v>60.23330065</c:v>
                </c:pt>
                <c:pt idx="109">
                  <c:v>54.71062353</c:v>
                </c:pt>
                <c:pt idx="110">
                  <c:v>55.13523706</c:v>
                </c:pt>
                <c:pt idx="111">
                  <c:v>59.05426552</c:v>
                </c:pt>
                <c:pt idx="112">
                  <c:v>61.26927223</c:v>
                </c:pt>
                <c:pt idx="113">
                  <c:v>56.67030438</c:v>
                </c:pt>
                <c:pt idx="114">
                  <c:v>55.51468199</c:v>
                </c:pt>
                <c:pt idx="115">
                  <c:v>56.76443004</c:v>
                </c:pt>
                <c:pt idx="116">
                  <c:v>64.17915547</c:v>
                </c:pt>
                <c:pt idx="117">
                  <c:v>57.37880721</c:v>
                </c:pt>
                <c:pt idx="118">
                  <c:v>63.5750365</c:v>
                </c:pt>
                <c:pt idx="119">
                  <c:v>62.09999153</c:v>
                </c:pt>
                <c:pt idx="120">
                  <c:v>58.73889043</c:v>
                </c:pt>
                <c:pt idx="121">
                  <c:v>57.28381128</c:v>
                </c:pt>
                <c:pt idx="122">
                  <c:v>56.32192323</c:v>
                </c:pt>
                <c:pt idx="123">
                  <c:v>61.20222682</c:v>
                </c:pt>
                <c:pt idx="124">
                  <c:v>67.08748577</c:v>
                </c:pt>
                <c:pt idx="125">
                  <c:v>56.92107378</c:v>
                </c:pt>
                <c:pt idx="126">
                  <c:v>62.95397365</c:v>
                </c:pt>
                <c:pt idx="127">
                  <c:v>62.38729178</c:v>
                </c:pt>
                <c:pt idx="128">
                  <c:v>67.25051413</c:v>
                </c:pt>
                <c:pt idx="129">
                  <c:v>67.89695038</c:v>
                </c:pt>
                <c:pt idx="130">
                  <c:v>57.66863931</c:v>
                </c:pt>
                <c:pt idx="131">
                  <c:v>55.05580995</c:v>
                </c:pt>
                <c:pt idx="132">
                  <c:v>56.00000243</c:v>
                </c:pt>
                <c:pt idx="133">
                  <c:v>58.3971466</c:v>
                </c:pt>
                <c:pt idx="134">
                  <c:v>60.83490565</c:v>
                </c:pt>
                <c:pt idx="135">
                  <c:v>62.84326353</c:v>
                </c:pt>
                <c:pt idx="136">
                  <c:v>62.05635405</c:v>
                </c:pt>
                <c:pt idx="137">
                  <c:v>61.83155583</c:v>
                </c:pt>
                <c:pt idx="138">
                  <c:v>60.7973652</c:v>
                </c:pt>
                <c:pt idx="139">
                  <c:v>55.02063164</c:v>
                </c:pt>
                <c:pt idx="140">
                  <c:v>53.35270306</c:v>
                </c:pt>
                <c:pt idx="141">
                  <c:v>68.38682632</c:v>
                </c:pt>
                <c:pt idx="142">
                  <c:v>63.72953325</c:v>
                </c:pt>
                <c:pt idx="143">
                  <c:v>60.30869419</c:v>
                </c:pt>
                <c:pt idx="144">
                  <c:v>57.80352235</c:v>
                </c:pt>
                <c:pt idx="145">
                  <c:v>64.80281712</c:v>
                </c:pt>
                <c:pt idx="146">
                  <c:v>59.71252773</c:v>
                </c:pt>
                <c:pt idx="147">
                  <c:v>59.3254846</c:v>
                </c:pt>
                <c:pt idx="148">
                  <c:v>56.64218296</c:v>
                </c:pt>
                <c:pt idx="149">
                  <c:v>59.34884216</c:v>
                </c:pt>
                <c:pt idx="150">
                  <c:v>61.40341244</c:v>
                </c:pt>
                <c:pt idx="151">
                  <c:v>64.79711925</c:v>
                </c:pt>
                <c:pt idx="152">
                  <c:v>58.90288792</c:v>
                </c:pt>
                <c:pt idx="153">
                  <c:v>54.34353027</c:v>
                </c:pt>
                <c:pt idx="154">
                  <c:v>55.11755867</c:v>
                </c:pt>
                <c:pt idx="155">
                  <c:v>59.09191372</c:v>
                </c:pt>
                <c:pt idx="156">
                  <c:v>61.42763585</c:v>
                </c:pt>
                <c:pt idx="157">
                  <c:v>65.96717806</c:v>
                </c:pt>
                <c:pt idx="158">
                  <c:v>65.77721891</c:v>
                </c:pt>
                <c:pt idx="159">
                  <c:v>57.29433327</c:v>
                </c:pt>
                <c:pt idx="160">
                  <c:v>57.48828149</c:v>
                </c:pt>
                <c:pt idx="161">
                  <c:v>53.06998304</c:v>
                </c:pt>
                <c:pt idx="162">
                  <c:v>69.56459668</c:v>
                </c:pt>
                <c:pt idx="163">
                  <c:v>62.28080405</c:v>
                </c:pt>
                <c:pt idx="164">
                  <c:v>63.6421438</c:v>
                </c:pt>
                <c:pt idx="165">
                  <c:v>59.6458789</c:v>
                </c:pt>
                <c:pt idx="166">
                  <c:v>52.77784883</c:v>
                </c:pt>
                <c:pt idx="167">
                  <c:v>50.81962476</c:v>
                </c:pt>
                <c:pt idx="168">
                  <c:v>53.69339146</c:v>
                </c:pt>
                <c:pt idx="169">
                  <c:v>56.43818502</c:v>
                </c:pt>
                <c:pt idx="170">
                  <c:v>65.28535873</c:v>
                </c:pt>
                <c:pt idx="171">
                  <c:v>62.35266795</c:v>
                </c:pt>
                <c:pt idx="172">
                  <c:v>57.79970231</c:v>
                </c:pt>
                <c:pt idx="173">
                  <c:v>63.4498143</c:v>
                </c:pt>
                <c:pt idx="174">
                  <c:v>57.65716283</c:v>
                </c:pt>
                <c:pt idx="175">
                  <c:v>56.5148817</c:v>
                </c:pt>
                <c:pt idx="176">
                  <c:v>60.49581215</c:v>
                </c:pt>
                <c:pt idx="177">
                  <c:v>55.05175174</c:v>
                </c:pt>
                <c:pt idx="178">
                  <c:v>62.46363529</c:v>
                </c:pt>
                <c:pt idx="179">
                  <c:v>55.04806612</c:v>
                </c:pt>
                <c:pt idx="180">
                  <c:v>61.45179015</c:v>
                </c:pt>
                <c:pt idx="181">
                  <c:v>67.31002917</c:v>
                </c:pt>
                <c:pt idx="182">
                  <c:v>65.30956287</c:v>
                </c:pt>
                <c:pt idx="183">
                  <c:v>60.81233344</c:v>
                </c:pt>
                <c:pt idx="184">
                  <c:v>53.39878794</c:v>
                </c:pt>
                <c:pt idx="185">
                  <c:v>59.3118062</c:v>
                </c:pt>
                <c:pt idx="186">
                  <c:v>62.83273867</c:v>
                </c:pt>
                <c:pt idx="187">
                  <c:v>65.01556737</c:v>
                </c:pt>
                <c:pt idx="188">
                  <c:v>58.22101067</c:v>
                </c:pt>
                <c:pt idx="189">
                  <c:v>52.20476867</c:v>
                </c:pt>
                <c:pt idx="190">
                  <c:v>60.90996276</c:v>
                </c:pt>
                <c:pt idx="191">
                  <c:v>66.16119549</c:v>
                </c:pt>
                <c:pt idx="192">
                  <c:v>67.10255547</c:v>
                </c:pt>
                <c:pt idx="193">
                  <c:v>66.13694312</c:v>
                </c:pt>
                <c:pt idx="194">
                  <c:v>57.91837492</c:v>
                </c:pt>
                <c:pt idx="195">
                  <c:v>58.49797938</c:v>
                </c:pt>
                <c:pt idx="196">
                  <c:v>55.8932117</c:v>
                </c:pt>
                <c:pt idx="197">
                  <c:v>56.68038092</c:v>
                </c:pt>
                <c:pt idx="198">
                  <c:v>54.09968714</c:v>
                </c:pt>
                <c:pt idx="199">
                  <c:v>58.83013439</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43.99123983</c:v>
                </c:pt>
                <c:pt idx="1">
                  <c:v>52.13338559</c:v>
                </c:pt>
                <c:pt idx="2">
                  <c:v>47.92747031</c:v>
                </c:pt>
                <c:pt idx="3">
                  <c:v>52.43804013</c:v>
                </c:pt>
                <c:pt idx="4">
                  <c:v>51.75693614</c:v>
                </c:pt>
                <c:pt idx="5">
                  <c:v>39.61930992</c:v>
                </c:pt>
                <c:pt idx="6">
                  <c:v>55.32489674</c:v>
                </c:pt>
                <c:pt idx="7">
                  <c:v>46.88147375</c:v>
                </c:pt>
                <c:pt idx="8">
                  <c:v>38.5493643</c:v>
                </c:pt>
                <c:pt idx="9">
                  <c:v>57.03673114</c:v>
                </c:pt>
                <c:pt idx="10">
                  <c:v>61.02690016</c:v>
                </c:pt>
                <c:pt idx="11">
                  <c:v>50.58967046</c:v>
                </c:pt>
                <c:pt idx="12">
                  <c:v>51.50985795</c:v>
                </c:pt>
                <c:pt idx="13">
                  <c:v>41.6769141</c:v>
                </c:pt>
                <c:pt idx="14">
                  <c:v>52.12775245</c:v>
                </c:pt>
                <c:pt idx="15">
                  <c:v>57.39619656</c:v>
                </c:pt>
                <c:pt idx="16">
                  <c:v>49.26827615</c:v>
                </c:pt>
                <c:pt idx="17">
                  <c:v>52.70174838</c:v>
                </c:pt>
                <c:pt idx="18">
                  <c:v>49.50844503</c:v>
                </c:pt>
                <c:pt idx="19">
                  <c:v>46.10836253</c:v>
                </c:pt>
                <c:pt idx="20">
                  <c:v>50.88641228</c:v>
                </c:pt>
                <c:pt idx="21">
                  <c:v>54.47581233</c:v>
                </c:pt>
                <c:pt idx="22">
                  <c:v>53.97501189</c:v>
                </c:pt>
                <c:pt idx="23">
                  <c:v>50.19435724</c:v>
                </c:pt>
                <c:pt idx="24">
                  <c:v>59.57703525</c:v>
                </c:pt>
                <c:pt idx="25">
                  <c:v>46.62357682</c:v>
                </c:pt>
                <c:pt idx="26">
                  <c:v>43.15397266</c:v>
                </c:pt>
                <c:pt idx="27">
                  <c:v>56.29268184</c:v>
                </c:pt>
                <c:pt idx="28">
                  <c:v>60.28641504</c:v>
                </c:pt>
                <c:pt idx="29">
                  <c:v>65.72904928</c:v>
                </c:pt>
                <c:pt idx="30">
                  <c:v>51.91637778</c:v>
                </c:pt>
                <c:pt idx="31">
                  <c:v>57.52070814</c:v>
                </c:pt>
                <c:pt idx="32">
                  <c:v>50.07747018</c:v>
                </c:pt>
                <c:pt idx="33">
                  <c:v>39.73417195</c:v>
                </c:pt>
                <c:pt idx="34">
                  <c:v>52.38828599</c:v>
                </c:pt>
                <c:pt idx="35">
                  <c:v>58.2154152</c:v>
                </c:pt>
                <c:pt idx="36">
                  <c:v>54.93269059</c:v>
                </c:pt>
                <c:pt idx="37">
                  <c:v>45.45917388</c:v>
                </c:pt>
                <c:pt idx="38">
                  <c:v>53.9060616</c:v>
                </c:pt>
                <c:pt idx="39">
                  <c:v>53.12220536</c:v>
                </c:pt>
                <c:pt idx="40">
                  <c:v>53.24590098</c:v>
                </c:pt>
                <c:pt idx="41">
                  <c:v>58.21469242</c:v>
                </c:pt>
                <c:pt idx="42">
                  <c:v>62.00025221</c:v>
                </c:pt>
                <c:pt idx="43">
                  <c:v>54.06391135</c:v>
                </c:pt>
                <c:pt idx="44">
                  <c:v>50.88115869</c:v>
                </c:pt>
                <c:pt idx="45">
                  <c:v>54.83308353</c:v>
                </c:pt>
                <c:pt idx="46">
                  <c:v>68.40879217</c:v>
                </c:pt>
                <c:pt idx="47">
                  <c:v>55.81762121</c:v>
                </c:pt>
                <c:pt idx="48">
                  <c:v>53.36375563</c:v>
                </c:pt>
                <c:pt idx="49">
                  <c:v>57.76654009</c:v>
                </c:pt>
                <c:pt idx="50">
                  <c:v>51.3320394</c:v>
                </c:pt>
                <c:pt idx="51">
                  <c:v>45.87449928</c:v>
                </c:pt>
                <c:pt idx="52">
                  <c:v>51.88642013</c:v>
                </c:pt>
                <c:pt idx="53">
                  <c:v>51.48093791</c:v>
                </c:pt>
                <c:pt idx="54">
                  <c:v>50.08761285</c:v>
                </c:pt>
                <c:pt idx="55">
                  <c:v>54.81716089</c:v>
                </c:pt>
                <c:pt idx="56">
                  <c:v>52.53398337</c:v>
                </c:pt>
                <c:pt idx="57">
                  <c:v>54.03394202</c:v>
                </c:pt>
                <c:pt idx="58">
                  <c:v>56.20165766</c:v>
                </c:pt>
                <c:pt idx="59">
                  <c:v>52.90763924</c:v>
                </c:pt>
                <c:pt idx="60">
                  <c:v>56.82360469</c:v>
                </c:pt>
                <c:pt idx="61">
                  <c:v>57.88649901</c:v>
                </c:pt>
                <c:pt idx="62">
                  <c:v>54.90845072</c:v>
                </c:pt>
                <c:pt idx="63">
                  <c:v>57.848515</c:v>
                </c:pt>
                <c:pt idx="64">
                  <c:v>56.44689388</c:v>
                </c:pt>
                <c:pt idx="65">
                  <c:v>41.21861594</c:v>
                </c:pt>
                <c:pt idx="66">
                  <c:v>53.17278243</c:v>
                </c:pt>
                <c:pt idx="67">
                  <c:v>43.72089515</c:v>
                </c:pt>
                <c:pt idx="68">
                  <c:v>59.28231314</c:v>
                </c:pt>
                <c:pt idx="69">
                  <c:v>65.94316281</c:v>
                </c:pt>
                <c:pt idx="70">
                  <c:v>59.94403972</c:v>
                </c:pt>
                <c:pt idx="71">
                  <c:v>59.71193475</c:v>
                </c:pt>
                <c:pt idx="72">
                  <c:v>61.56193939</c:v>
                </c:pt>
                <c:pt idx="73">
                  <c:v>50.90446615</c:v>
                </c:pt>
                <c:pt idx="74">
                  <c:v>46.30540169</c:v>
                </c:pt>
                <c:pt idx="75">
                  <c:v>68.01990436</c:v>
                </c:pt>
                <c:pt idx="76">
                  <c:v>55.70554611</c:v>
                </c:pt>
                <c:pt idx="77">
                  <c:v>61.49592477</c:v>
                </c:pt>
                <c:pt idx="78">
                  <c:v>55.69430903</c:v>
                </c:pt>
                <c:pt idx="79">
                  <c:v>55.76386974</c:v>
                </c:pt>
                <c:pt idx="80">
                  <c:v>56.57977442</c:v>
                </c:pt>
                <c:pt idx="81">
                  <c:v>52.79413377</c:v>
                </c:pt>
                <c:pt idx="82">
                  <c:v>56.65893395</c:v>
                </c:pt>
                <c:pt idx="83">
                  <c:v>57.78287692</c:v>
                </c:pt>
                <c:pt idx="84">
                  <c:v>57.00940519</c:v>
                </c:pt>
                <c:pt idx="85">
                  <c:v>56.11758264</c:v>
                </c:pt>
                <c:pt idx="86">
                  <c:v>58.15953089</c:v>
                </c:pt>
                <c:pt idx="87">
                  <c:v>53.21371377</c:v>
                </c:pt>
                <c:pt idx="88">
                  <c:v>57.01659874</c:v>
                </c:pt>
                <c:pt idx="89">
                  <c:v>53.86148915</c:v>
                </c:pt>
                <c:pt idx="90">
                  <c:v>60.95551364</c:v>
                </c:pt>
                <c:pt idx="91">
                  <c:v>63.57289528</c:v>
                </c:pt>
                <c:pt idx="92">
                  <c:v>58.67571508</c:v>
                </c:pt>
                <c:pt idx="93">
                  <c:v>53.53560203</c:v>
                </c:pt>
                <c:pt idx="94">
                  <c:v>51.884064</c:v>
                </c:pt>
                <c:pt idx="95">
                  <c:v>56.04899016</c:v>
                </c:pt>
                <c:pt idx="96">
                  <c:v>62.72779855</c:v>
                </c:pt>
                <c:pt idx="97">
                  <c:v>58.68233182</c:v>
                </c:pt>
                <c:pt idx="98">
                  <c:v>54.91984499</c:v>
                </c:pt>
                <c:pt idx="99">
                  <c:v>53.72711582</c:v>
                </c:pt>
                <c:pt idx="100">
                  <c:v>52.77779378</c:v>
                </c:pt>
                <c:pt idx="101">
                  <c:v>53.25955958</c:v>
                </c:pt>
                <c:pt idx="102">
                  <c:v>51.01397091</c:v>
                </c:pt>
                <c:pt idx="103">
                  <c:v>58.35829452</c:v>
                </c:pt>
                <c:pt idx="104">
                  <c:v>51.54891827</c:v>
                </c:pt>
                <c:pt idx="105">
                  <c:v>56.84919803</c:v>
                </c:pt>
                <c:pt idx="106">
                  <c:v>55.74903795</c:v>
                </c:pt>
                <c:pt idx="107">
                  <c:v>58.41989367</c:v>
                </c:pt>
                <c:pt idx="108">
                  <c:v>52.79918361</c:v>
                </c:pt>
                <c:pt idx="109">
                  <c:v>59.97882797</c:v>
                </c:pt>
                <c:pt idx="110">
                  <c:v>65.6517511</c:v>
                </c:pt>
                <c:pt idx="111">
                  <c:v>56.85534271</c:v>
                </c:pt>
                <c:pt idx="112">
                  <c:v>60.47541572</c:v>
                </c:pt>
                <c:pt idx="113">
                  <c:v>54.7187063</c:v>
                </c:pt>
                <c:pt idx="114">
                  <c:v>52.09200824</c:v>
                </c:pt>
                <c:pt idx="115">
                  <c:v>57.2102156</c:v>
                </c:pt>
                <c:pt idx="116">
                  <c:v>54.36766634</c:v>
                </c:pt>
                <c:pt idx="117">
                  <c:v>53.75720068</c:v>
                </c:pt>
                <c:pt idx="118">
                  <c:v>61.27399704</c:v>
                </c:pt>
                <c:pt idx="119">
                  <c:v>57.33727458</c:v>
                </c:pt>
                <c:pt idx="120">
                  <c:v>49.70771861</c:v>
                </c:pt>
                <c:pt idx="121">
                  <c:v>53.27010104</c:v>
                </c:pt>
                <c:pt idx="122">
                  <c:v>60.11257316</c:v>
                </c:pt>
                <c:pt idx="123">
                  <c:v>58.36773798</c:v>
                </c:pt>
                <c:pt idx="124">
                  <c:v>55.73762813</c:v>
                </c:pt>
                <c:pt idx="125">
                  <c:v>57.13253365</c:v>
                </c:pt>
                <c:pt idx="126">
                  <c:v>56.30263652</c:v>
                </c:pt>
                <c:pt idx="127">
                  <c:v>61.70398969</c:v>
                </c:pt>
                <c:pt idx="128">
                  <c:v>67.21176483</c:v>
                </c:pt>
                <c:pt idx="129">
                  <c:v>55.87055637</c:v>
                </c:pt>
                <c:pt idx="130">
                  <c:v>59.04702959</c:v>
                </c:pt>
                <c:pt idx="131">
                  <c:v>59.79618559</c:v>
                </c:pt>
                <c:pt idx="132">
                  <c:v>60.28397855</c:v>
                </c:pt>
                <c:pt idx="133">
                  <c:v>60.45367953</c:v>
                </c:pt>
                <c:pt idx="134">
                  <c:v>59.18220033</c:v>
                </c:pt>
                <c:pt idx="135">
                  <c:v>61.76577789</c:v>
                </c:pt>
                <c:pt idx="136">
                  <c:v>54.40546301</c:v>
                </c:pt>
                <c:pt idx="137">
                  <c:v>59.75979981</c:v>
                </c:pt>
                <c:pt idx="138">
                  <c:v>59.77815393</c:v>
                </c:pt>
                <c:pt idx="139">
                  <c:v>56.87986452</c:v>
                </c:pt>
                <c:pt idx="140">
                  <c:v>55.92785941</c:v>
                </c:pt>
                <c:pt idx="141">
                  <c:v>57.92085942</c:v>
                </c:pt>
                <c:pt idx="142">
                  <c:v>57.31161477</c:v>
                </c:pt>
                <c:pt idx="143">
                  <c:v>58.87308262</c:v>
                </c:pt>
                <c:pt idx="144">
                  <c:v>54.62250793</c:v>
                </c:pt>
                <c:pt idx="145">
                  <c:v>56.70491006</c:v>
                </c:pt>
                <c:pt idx="146">
                  <c:v>56.56393538</c:v>
                </c:pt>
                <c:pt idx="147">
                  <c:v>62.47116459</c:v>
                </c:pt>
                <c:pt idx="148">
                  <c:v>54.04497851</c:v>
                </c:pt>
                <c:pt idx="149">
                  <c:v>59.32920434</c:v>
                </c:pt>
                <c:pt idx="150">
                  <c:v>55.0115842</c:v>
                </c:pt>
                <c:pt idx="151">
                  <c:v>54.73010209</c:v>
                </c:pt>
                <c:pt idx="152">
                  <c:v>62.0609756</c:v>
                </c:pt>
                <c:pt idx="153">
                  <c:v>55.70756486</c:v>
                </c:pt>
                <c:pt idx="154">
                  <c:v>57.96391567</c:v>
                </c:pt>
                <c:pt idx="155">
                  <c:v>59.2690268</c:v>
                </c:pt>
                <c:pt idx="156">
                  <c:v>58.21771783</c:v>
                </c:pt>
                <c:pt idx="157">
                  <c:v>59.48932556</c:v>
                </c:pt>
                <c:pt idx="158">
                  <c:v>56.62646452</c:v>
                </c:pt>
                <c:pt idx="159">
                  <c:v>55.44677607</c:v>
                </c:pt>
                <c:pt idx="160">
                  <c:v>57.24487587</c:v>
                </c:pt>
                <c:pt idx="161">
                  <c:v>53.46914776</c:v>
                </c:pt>
                <c:pt idx="162">
                  <c:v>58.04476494</c:v>
                </c:pt>
                <c:pt idx="163">
                  <c:v>57.93912785</c:v>
                </c:pt>
                <c:pt idx="164">
                  <c:v>58.51105345</c:v>
                </c:pt>
                <c:pt idx="165">
                  <c:v>62.84374267</c:v>
                </c:pt>
                <c:pt idx="166">
                  <c:v>54.89193367</c:v>
                </c:pt>
                <c:pt idx="167">
                  <c:v>49.91333344</c:v>
                </c:pt>
                <c:pt idx="168">
                  <c:v>59.93529933</c:v>
                </c:pt>
                <c:pt idx="169">
                  <c:v>54.37756438</c:v>
                </c:pt>
                <c:pt idx="170">
                  <c:v>58.58832078</c:v>
                </c:pt>
                <c:pt idx="171">
                  <c:v>56.00894618</c:v>
                </c:pt>
                <c:pt idx="172">
                  <c:v>56.3021241</c:v>
                </c:pt>
                <c:pt idx="173">
                  <c:v>63.47038473</c:v>
                </c:pt>
                <c:pt idx="174">
                  <c:v>64.12434712</c:v>
                </c:pt>
                <c:pt idx="175">
                  <c:v>49.75069076</c:v>
                </c:pt>
                <c:pt idx="176">
                  <c:v>60.64258316</c:v>
                </c:pt>
                <c:pt idx="177">
                  <c:v>53.78506606</c:v>
                </c:pt>
                <c:pt idx="178">
                  <c:v>62.70841191</c:v>
                </c:pt>
                <c:pt idx="179">
                  <c:v>56.47518668</c:v>
                </c:pt>
                <c:pt idx="180">
                  <c:v>55.67578686</c:v>
                </c:pt>
                <c:pt idx="181">
                  <c:v>53.01304138</c:v>
                </c:pt>
                <c:pt idx="182">
                  <c:v>61.35092221</c:v>
                </c:pt>
                <c:pt idx="183">
                  <c:v>58.44721335</c:v>
                </c:pt>
                <c:pt idx="184">
                  <c:v>59.27882653</c:v>
                </c:pt>
                <c:pt idx="185">
                  <c:v>63.70261708</c:v>
                </c:pt>
                <c:pt idx="186">
                  <c:v>60.38114148</c:v>
                </c:pt>
                <c:pt idx="187">
                  <c:v>53.53658752</c:v>
                </c:pt>
                <c:pt idx="188">
                  <c:v>57.43924528</c:v>
                </c:pt>
                <c:pt idx="189">
                  <c:v>52.47363297</c:v>
                </c:pt>
                <c:pt idx="190">
                  <c:v>56.74978203</c:v>
                </c:pt>
                <c:pt idx="191">
                  <c:v>56.96059393</c:v>
                </c:pt>
                <c:pt idx="192">
                  <c:v>70.21959447</c:v>
                </c:pt>
                <c:pt idx="193">
                  <c:v>52.18894511</c:v>
                </c:pt>
                <c:pt idx="194">
                  <c:v>55.32221939</c:v>
                </c:pt>
                <c:pt idx="195">
                  <c:v>55.50060383</c:v>
                </c:pt>
                <c:pt idx="196">
                  <c:v>52.15731093</c:v>
                </c:pt>
                <c:pt idx="197">
                  <c:v>52.84456631</c:v>
                </c:pt>
                <c:pt idx="198">
                  <c:v>56.05270722</c:v>
                </c:pt>
                <c:pt idx="199">
                  <c:v>60.23204284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3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6.52953423</c:v>
                </c:pt>
                <c:pt idx="1">
                  <c:v>7.57513573</c:v>
                </c:pt>
                <c:pt idx="2">
                  <c:v>8.01784782</c:v>
                </c:pt>
                <c:pt idx="3">
                  <c:v>13.67387391</c:v>
                </c:pt>
                <c:pt idx="4">
                  <c:v>15.10265687</c:v>
                </c:pt>
                <c:pt idx="5">
                  <c:v>12.90587566</c:v>
                </c:pt>
                <c:pt idx="6">
                  <c:v>16.28447225</c:v>
                </c:pt>
                <c:pt idx="7">
                  <c:v>16.65853159</c:v>
                </c:pt>
                <c:pt idx="8">
                  <c:v>17.67302845</c:v>
                </c:pt>
                <c:pt idx="9">
                  <c:v>18.01890633</c:v>
                </c:pt>
                <c:pt idx="10">
                  <c:v>20.46500485</c:v>
                </c:pt>
                <c:pt idx="11">
                  <c:v>19.87966817</c:v>
                </c:pt>
                <c:pt idx="12">
                  <c:v>22.90963915</c:v>
                </c:pt>
                <c:pt idx="13">
                  <c:v>28.08986539</c:v>
                </c:pt>
                <c:pt idx="14">
                  <c:v>30.10125963</c:v>
                </c:pt>
                <c:pt idx="15">
                  <c:v>28.19656002</c:v>
                </c:pt>
                <c:pt idx="16">
                  <c:v>29.93811677</c:v>
                </c:pt>
                <c:pt idx="17">
                  <c:v>31.72011653</c:v>
                </c:pt>
                <c:pt idx="18">
                  <c:v>43.43437526</c:v>
                </c:pt>
                <c:pt idx="19">
                  <c:v>43.69145876</c:v>
                </c:pt>
                <c:pt idx="20">
                  <c:v>43.22146782</c:v>
                </c:pt>
                <c:pt idx="21">
                  <c:v>49.34578498</c:v>
                </c:pt>
                <c:pt idx="22">
                  <c:v>50.40057373</c:v>
                </c:pt>
                <c:pt idx="23">
                  <c:v>68.06929042</c:v>
                </c:pt>
                <c:pt idx="24">
                  <c:v>70.83571353</c:v>
                </c:pt>
                <c:pt idx="25">
                  <c:v>69.42098148</c:v>
                </c:pt>
                <c:pt idx="26">
                  <c:v>62.01713937</c:v>
                </c:pt>
                <c:pt idx="27">
                  <c:v>91.48891925</c:v>
                </c:pt>
                <c:pt idx="28">
                  <c:v>90.83980657</c:v>
                </c:pt>
                <c:pt idx="29">
                  <c:v>88.26595688</c:v>
                </c:pt>
                <c:pt idx="30">
                  <c:v>96.30988974</c:v>
                </c:pt>
                <c:pt idx="31">
                  <c:v>87.47645378</c:v>
                </c:pt>
                <c:pt idx="32">
                  <c:v>83.52114065</c:v>
                </c:pt>
                <c:pt idx="33">
                  <c:v>91.30635467</c:v>
                </c:pt>
                <c:pt idx="34">
                  <c:v>100.90205914</c:v>
                </c:pt>
                <c:pt idx="35">
                  <c:v>90.5131899</c:v>
                </c:pt>
                <c:pt idx="36">
                  <c:v>87.93974071</c:v>
                </c:pt>
                <c:pt idx="37">
                  <c:v>98.50067956</c:v>
                </c:pt>
                <c:pt idx="38">
                  <c:v>96.8636656</c:v>
                </c:pt>
                <c:pt idx="39">
                  <c:v>99.91624235</c:v>
                </c:pt>
                <c:pt idx="40">
                  <c:v>100.77030826</c:v>
                </c:pt>
                <c:pt idx="41">
                  <c:v>102.23806399</c:v>
                </c:pt>
                <c:pt idx="42">
                  <c:v>90.93461012</c:v>
                </c:pt>
                <c:pt idx="43">
                  <c:v>99.88420719</c:v>
                </c:pt>
                <c:pt idx="44">
                  <c:v>102.2251304</c:v>
                </c:pt>
                <c:pt idx="45">
                  <c:v>100.30678535</c:v>
                </c:pt>
                <c:pt idx="46">
                  <c:v>98.15022386</c:v>
                </c:pt>
                <c:pt idx="47">
                  <c:v>101.36574607</c:v>
                </c:pt>
                <c:pt idx="48">
                  <c:v>101.92808561</c:v>
                </c:pt>
                <c:pt idx="49">
                  <c:v>99.87944982</c:v>
                </c:pt>
                <c:pt idx="50">
                  <c:v>100.94575851</c:v>
                </c:pt>
                <c:pt idx="51">
                  <c:v>102.02422516</c:v>
                </c:pt>
                <c:pt idx="52">
                  <c:v>97.76476067</c:v>
                </c:pt>
                <c:pt idx="53">
                  <c:v>101.12146297</c:v>
                </c:pt>
                <c:pt idx="54">
                  <c:v>102.38925758</c:v>
                </c:pt>
                <c:pt idx="55">
                  <c:v>102.11870504</c:v>
                </c:pt>
                <c:pt idx="56">
                  <c:v>102.03640993</c:v>
                </c:pt>
                <c:pt idx="57">
                  <c:v>102.15515655</c:v>
                </c:pt>
                <c:pt idx="58">
                  <c:v>102.12428645</c:v>
                </c:pt>
                <c:pt idx="59">
                  <c:v>101.86752264</c:v>
                </c:pt>
                <c:pt idx="60">
                  <c:v>101.58256381</c:v>
                </c:pt>
                <c:pt idx="61">
                  <c:v>102.00892275</c:v>
                </c:pt>
                <c:pt idx="62">
                  <c:v>97.73205105</c:v>
                </c:pt>
                <c:pt idx="63">
                  <c:v>102.31327255</c:v>
                </c:pt>
                <c:pt idx="64">
                  <c:v>102.17689767</c:v>
                </c:pt>
                <c:pt idx="65">
                  <c:v>100.85884018</c:v>
                </c:pt>
                <c:pt idx="66">
                  <c:v>102.14656197</c:v>
                </c:pt>
                <c:pt idx="67">
                  <c:v>101.82186143</c:v>
                </c:pt>
                <c:pt idx="68">
                  <c:v>102.16671416</c:v>
                </c:pt>
                <c:pt idx="69">
                  <c:v>102.2638435</c:v>
                </c:pt>
                <c:pt idx="70">
                  <c:v>102.16103137</c:v>
                </c:pt>
                <c:pt idx="71">
                  <c:v>102.08823247</c:v>
                </c:pt>
                <c:pt idx="72">
                  <c:v>98.36935487</c:v>
                </c:pt>
                <c:pt idx="73">
                  <c:v>102.40444996</c:v>
                </c:pt>
                <c:pt idx="74">
                  <c:v>101.04030535</c:v>
                </c:pt>
                <c:pt idx="75">
                  <c:v>102.22856598</c:v>
                </c:pt>
                <c:pt idx="76">
                  <c:v>102.088387</c:v>
                </c:pt>
                <c:pt idx="77">
                  <c:v>102.2581719</c:v>
                </c:pt>
                <c:pt idx="78">
                  <c:v>102.24161824</c:v>
                </c:pt>
                <c:pt idx="79">
                  <c:v>102.24315732</c:v>
                </c:pt>
                <c:pt idx="80">
                  <c:v>102.31503689</c:v>
                </c:pt>
                <c:pt idx="81">
                  <c:v>101.97430018</c:v>
                </c:pt>
                <c:pt idx="82">
                  <c:v>101.78168034</c:v>
                </c:pt>
                <c:pt idx="83">
                  <c:v>102.12533898</c:v>
                </c:pt>
                <c:pt idx="84">
                  <c:v>102.18529039</c:v>
                </c:pt>
                <c:pt idx="85">
                  <c:v>102.30041231</c:v>
                </c:pt>
                <c:pt idx="86">
                  <c:v>100.87296273</c:v>
                </c:pt>
                <c:pt idx="87">
                  <c:v>102.39847383</c:v>
                </c:pt>
                <c:pt idx="88">
                  <c:v>102.15404697</c:v>
                </c:pt>
                <c:pt idx="89">
                  <c:v>102.35044591</c:v>
                </c:pt>
                <c:pt idx="90">
                  <c:v>102.16779232</c:v>
                </c:pt>
                <c:pt idx="91">
                  <c:v>99.45923222</c:v>
                </c:pt>
                <c:pt idx="92">
                  <c:v>102.42992032</c:v>
                </c:pt>
                <c:pt idx="93">
                  <c:v>99.02231358</c:v>
                </c:pt>
                <c:pt idx="94">
                  <c:v>102.12358048</c:v>
                </c:pt>
                <c:pt idx="95">
                  <c:v>101.1639675</c:v>
                </c:pt>
                <c:pt idx="96">
                  <c:v>102.56850926</c:v>
                </c:pt>
                <c:pt idx="97">
                  <c:v>100.93947534</c:v>
                </c:pt>
                <c:pt idx="98">
                  <c:v>102.37860469</c:v>
                </c:pt>
                <c:pt idx="99">
                  <c:v>101.51154363</c:v>
                </c:pt>
                <c:pt idx="100">
                  <c:v>102.35792738</c:v>
                </c:pt>
                <c:pt idx="101">
                  <c:v>99.97368702</c:v>
                </c:pt>
                <c:pt idx="102">
                  <c:v>102.54292274</c:v>
                </c:pt>
                <c:pt idx="103">
                  <c:v>102.36250133</c:v>
                </c:pt>
                <c:pt idx="104">
                  <c:v>102.18299973</c:v>
                </c:pt>
                <c:pt idx="105">
                  <c:v>101.912403</c:v>
                </c:pt>
                <c:pt idx="106">
                  <c:v>102.23650866</c:v>
                </c:pt>
                <c:pt idx="107">
                  <c:v>102.16366</c:v>
                </c:pt>
                <c:pt idx="108">
                  <c:v>102.23255949</c:v>
                </c:pt>
                <c:pt idx="109">
                  <c:v>100.36661462</c:v>
                </c:pt>
                <c:pt idx="110">
                  <c:v>102.20226075</c:v>
                </c:pt>
                <c:pt idx="111">
                  <c:v>102.40158193</c:v>
                </c:pt>
                <c:pt idx="112">
                  <c:v>101.25196332</c:v>
                </c:pt>
                <c:pt idx="113">
                  <c:v>102.29164682</c:v>
                </c:pt>
                <c:pt idx="114">
                  <c:v>101.1291866</c:v>
                </c:pt>
                <c:pt idx="115">
                  <c:v>101.18991477</c:v>
                </c:pt>
                <c:pt idx="116">
                  <c:v>97.99912139</c:v>
                </c:pt>
                <c:pt idx="117">
                  <c:v>102.31098241</c:v>
                </c:pt>
                <c:pt idx="118">
                  <c:v>102.34341257</c:v>
                </c:pt>
                <c:pt idx="119">
                  <c:v>99.89382204</c:v>
                </c:pt>
                <c:pt idx="120">
                  <c:v>101.42784128</c:v>
                </c:pt>
                <c:pt idx="121">
                  <c:v>98.94649069</c:v>
                </c:pt>
                <c:pt idx="122">
                  <c:v>102.30826961</c:v>
                </c:pt>
                <c:pt idx="123">
                  <c:v>100.26248293</c:v>
                </c:pt>
                <c:pt idx="124">
                  <c:v>102.29143437</c:v>
                </c:pt>
                <c:pt idx="125">
                  <c:v>102.01787058</c:v>
                </c:pt>
                <c:pt idx="126">
                  <c:v>97.57825362</c:v>
                </c:pt>
                <c:pt idx="127">
                  <c:v>100.38354706</c:v>
                </c:pt>
                <c:pt idx="128">
                  <c:v>101.32626872</c:v>
                </c:pt>
                <c:pt idx="129">
                  <c:v>94.13747228</c:v>
                </c:pt>
                <c:pt idx="130">
                  <c:v>101.34951691</c:v>
                </c:pt>
                <c:pt idx="131">
                  <c:v>102.01522437</c:v>
                </c:pt>
                <c:pt idx="132">
                  <c:v>101.2310804</c:v>
                </c:pt>
                <c:pt idx="133">
                  <c:v>100.70521476</c:v>
                </c:pt>
                <c:pt idx="134">
                  <c:v>95.30082298</c:v>
                </c:pt>
                <c:pt idx="135">
                  <c:v>98.26987495</c:v>
                </c:pt>
                <c:pt idx="136">
                  <c:v>100.974713</c:v>
                </c:pt>
                <c:pt idx="137">
                  <c:v>102.29020069</c:v>
                </c:pt>
                <c:pt idx="138">
                  <c:v>102.19114164</c:v>
                </c:pt>
                <c:pt idx="139">
                  <c:v>94.60037128</c:v>
                </c:pt>
                <c:pt idx="140">
                  <c:v>98.96026</c:v>
                </c:pt>
                <c:pt idx="141">
                  <c:v>101.48066715</c:v>
                </c:pt>
                <c:pt idx="142">
                  <c:v>98.04360432</c:v>
                </c:pt>
                <c:pt idx="143">
                  <c:v>100.88604444</c:v>
                </c:pt>
                <c:pt idx="144">
                  <c:v>96.89447169</c:v>
                </c:pt>
                <c:pt idx="145">
                  <c:v>89.64950947</c:v>
                </c:pt>
                <c:pt idx="146">
                  <c:v>102.21130489</c:v>
                </c:pt>
                <c:pt idx="147">
                  <c:v>102.4345206</c:v>
                </c:pt>
                <c:pt idx="148">
                  <c:v>102.30316269</c:v>
                </c:pt>
                <c:pt idx="149">
                  <c:v>100.79364253</c:v>
                </c:pt>
                <c:pt idx="150">
                  <c:v>101.80478785</c:v>
                </c:pt>
                <c:pt idx="151">
                  <c:v>101.62721361</c:v>
                </c:pt>
                <c:pt idx="152">
                  <c:v>102.22770814</c:v>
                </c:pt>
                <c:pt idx="153">
                  <c:v>102.0107847</c:v>
                </c:pt>
                <c:pt idx="154">
                  <c:v>99.76119614</c:v>
                </c:pt>
                <c:pt idx="155">
                  <c:v>101.1632107</c:v>
                </c:pt>
                <c:pt idx="156">
                  <c:v>99.7239293</c:v>
                </c:pt>
                <c:pt idx="157">
                  <c:v>100.11312031</c:v>
                </c:pt>
                <c:pt idx="158">
                  <c:v>102.20011687</c:v>
                </c:pt>
                <c:pt idx="159">
                  <c:v>101.76647944</c:v>
                </c:pt>
                <c:pt idx="160">
                  <c:v>102.38257324</c:v>
                </c:pt>
                <c:pt idx="161">
                  <c:v>98.95990856</c:v>
                </c:pt>
                <c:pt idx="162">
                  <c:v>102.08016505</c:v>
                </c:pt>
                <c:pt idx="163">
                  <c:v>102.19970572</c:v>
                </c:pt>
                <c:pt idx="164">
                  <c:v>102.21748184</c:v>
                </c:pt>
                <c:pt idx="165">
                  <c:v>102.11981661</c:v>
                </c:pt>
                <c:pt idx="166">
                  <c:v>102.15264047</c:v>
                </c:pt>
                <c:pt idx="167">
                  <c:v>100.25081705</c:v>
                </c:pt>
                <c:pt idx="168">
                  <c:v>99.22951376</c:v>
                </c:pt>
                <c:pt idx="169">
                  <c:v>100.66708558</c:v>
                </c:pt>
                <c:pt idx="170">
                  <c:v>100.58280975</c:v>
                </c:pt>
                <c:pt idx="171">
                  <c:v>102.397824</c:v>
                </c:pt>
                <c:pt idx="172">
                  <c:v>101.93144479</c:v>
                </c:pt>
                <c:pt idx="173">
                  <c:v>102.28030435</c:v>
                </c:pt>
                <c:pt idx="174">
                  <c:v>98.14487678</c:v>
                </c:pt>
                <c:pt idx="175">
                  <c:v>98.94822024</c:v>
                </c:pt>
                <c:pt idx="176">
                  <c:v>101.80836006</c:v>
                </c:pt>
                <c:pt idx="177">
                  <c:v>94.6295621</c:v>
                </c:pt>
                <c:pt idx="178">
                  <c:v>96.91792632</c:v>
                </c:pt>
                <c:pt idx="179">
                  <c:v>99.92509795</c:v>
                </c:pt>
                <c:pt idx="180">
                  <c:v>99.23148994</c:v>
                </c:pt>
                <c:pt idx="181">
                  <c:v>96.22330209</c:v>
                </c:pt>
                <c:pt idx="182">
                  <c:v>102.14035034</c:v>
                </c:pt>
                <c:pt idx="183">
                  <c:v>102.07130903</c:v>
                </c:pt>
                <c:pt idx="184">
                  <c:v>98.95540885</c:v>
                </c:pt>
                <c:pt idx="185">
                  <c:v>97.31186349</c:v>
                </c:pt>
                <c:pt idx="186">
                  <c:v>96.59706761</c:v>
                </c:pt>
                <c:pt idx="187">
                  <c:v>90.6806111</c:v>
                </c:pt>
                <c:pt idx="188">
                  <c:v>96.39884159</c:v>
                </c:pt>
                <c:pt idx="189">
                  <c:v>96.4063351</c:v>
                </c:pt>
                <c:pt idx="190">
                  <c:v>102.15611317</c:v>
                </c:pt>
                <c:pt idx="191">
                  <c:v>98.80876951</c:v>
                </c:pt>
                <c:pt idx="192">
                  <c:v>101.71115287</c:v>
                </c:pt>
                <c:pt idx="193">
                  <c:v>102.28911907</c:v>
                </c:pt>
                <c:pt idx="194">
                  <c:v>94.97563125</c:v>
                </c:pt>
                <c:pt idx="195">
                  <c:v>100.95492855</c:v>
                </c:pt>
                <c:pt idx="196">
                  <c:v>102.27630599</c:v>
                </c:pt>
                <c:pt idx="197">
                  <c:v>101.44536687</c:v>
                </c:pt>
                <c:pt idx="198">
                  <c:v>98.51250143</c:v>
                </c:pt>
                <c:pt idx="199">
                  <c:v>102.33749907</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8.18785921</c:v>
                </c:pt>
                <c:pt idx="1">
                  <c:v>7.45367965</c:v>
                </c:pt>
                <c:pt idx="2">
                  <c:v>10.83347076</c:v>
                </c:pt>
                <c:pt idx="3">
                  <c:v>14.23275798</c:v>
                </c:pt>
                <c:pt idx="4">
                  <c:v>15.7732074</c:v>
                </c:pt>
                <c:pt idx="5">
                  <c:v>17.31456995</c:v>
                </c:pt>
                <c:pt idx="6">
                  <c:v>15.29780331</c:v>
                </c:pt>
                <c:pt idx="7">
                  <c:v>18.04109848</c:v>
                </c:pt>
                <c:pt idx="8">
                  <c:v>18.71498164</c:v>
                </c:pt>
                <c:pt idx="9">
                  <c:v>19.43677518</c:v>
                </c:pt>
                <c:pt idx="10">
                  <c:v>22.58450704</c:v>
                </c:pt>
                <c:pt idx="11">
                  <c:v>24.19782429</c:v>
                </c:pt>
                <c:pt idx="12">
                  <c:v>25.35630431</c:v>
                </c:pt>
                <c:pt idx="13">
                  <c:v>29.87225883</c:v>
                </c:pt>
                <c:pt idx="14">
                  <c:v>29.9186069</c:v>
                </c:pt>
                <c:pt idx="15">
                  <c:v>28.6399548</c:v>
                </c:pt>
                <c:pt idx="16">
                  <c:v>30.51165602</c:v>
                </c:pt>
                <c:pt idx="17">
                  <c:v>35.91491532</c:v>
                </c:pt>
                <c:pt idx="18">
                  <c:v>33.20668475</c:v>
                </c:pt>
                <c:pt idx="19">
                  <c:v>35.23077644</c:v>
                </c:pt>
                <c:pt idx="20">
                  <c:v>45.54026331</c:v>
                </c:pt>
                <c:pt idx="21">
                  <c:v>62.54294827</c:v>
                </c:pt>
                <c:pt idx="22">
                  <c:v>77.88693421</c:v>
                </c:pt>
                <c:pt idx="23">
                  <c:v>76.65833534</c:v>
                </c:pt>
                <c:pt idx="24">
                  <c:v>81.94746366</c:v>
                </c:pt>
                <c:pt idx="25">
                  <c:v>80.15443091</c:v>
                </c:pt>
                <c:pt idx="26">
                  <c:v>80.61564199</c:v>
                </c:pt>
                <c:pt idx="27">
                  <c:v>82.17635458</c:v>
                </c:pt>
                <c:pt idx="28">
                  <c:v>79.6444042</c:v>
                </c:pt>
                <c:pt idx="29">
                  <c:v>81.16407961</c:v>
                </c:pt>
                <c:pt idx="30">
                  <c:v>92.79842699</c:v>
                </c:pt>
                <c:pt idx="31">
                  <c:v>89.72202429</c:v>
                </c:pt>
                <c:pt idx="32">
                  <c:v>90.16118351</c:v>
                </c:pt>
                <c:pt idx="33">
                  <c:v>87.96985962</c:v>
                </c:pt>
                <c:pt idx="34">
                  <c:v>90.03685182</c:v>
                </c:pt>
                <c:pt idx="35">
                  <c:v>101.78398271</c:v>
                </c:pt>
                <c:pt idx="36">
                  <c:v>99.77714033</c:v>
                </c:pt>
                <c:pt idx="37">
                  <c:v>96.61545394</c:v>
                </c:pt>
                <c:pt idx="38">
                  <c:v>100.35148472</c:v>
                </c:pt>
                <c:pt idx="39">
                  <c:v>101.55697663</c:v>
                </c:pt>
                <c:pt idx="40">
                  <c:v>101.75540813</c:v>
                </c:pt>
                <c:pt idx="41">
                  <c:v>99.38780561</c:v>
                </c:pt>
                <c:pt idx="42">
                  <c:v>101.85890282</c:v>
                </c:pt>
                <c:pt idx="43">
                  <c:v>99.5803729</c:v>
                </c:pt>
                <c:pt idx="44">
                  <c:v>100.42445234</c:v>
                </c:pt>
                <c:pt idx="45">
                  <c:v>101.56144797</c:v>
                </c:pt>
                <c:pt idx="46">
                  <c:v>98.00554624</c:v>
                </c:pt>
                <c:pt idx="47">
                  <c:v>90.88982844</c:v>
                </c:pt>
                <c:pt idx="48">
                  <c:v>93.78683528</c:v>
                </c:pt>
                <c:pt idx="49">
                  <c:v>100.42930504</c:v>
                </c:pt>
                <c:pt idx="50">
                  <c:v>97.87285255</c:v>
                </c:pt>
                <c:pt idx="51">
                  <c:v>102.02726389</c:v>
                </c:pt>
                <c:pt idx="52">
                  <c:v>101.66053938</c:v>
                </c:pt>
                <c:pt idx="53">
                  <c:v>93.78286108</c:v>
                </c:pt>
                <c:pt idx="54">
                  <c:v>101.72302422</c:v>
                </c:pt>
                <c:pt idx="55">
                  <c:v>101.75163183</c:v>
                </c:pt>
                <c:pt idx="56">
                  <c:v>100.46531669</c:v>
                </c:pt>
                <c:pt idx="57">
                  <c:v>98.78987145</c:v>
                </c:pt>
                <c:pt idx="58">
                  <c:v>99.31728221</c:v>
                </c:pt>
                <c:pt idx="59">
                  <c:v>99.38218347</c:v>
                </c:pt>
                <c:pt idx="60">
                  <c:v>101.63664678</c:v>
                </c:pt>
                <c:pt idx="61">
                  <c:v>101.69695673</c:v>
                </c:pt>
                <c:pt idx="62">
                  <c:v>100.60248714</c:v>
                </c:pt>
                <c:pt idx="63">
                  <c:v>101.86690897</c:v>
                </c:pt>
                <c:pt idx="64">
                  <c:v>101.99093208</c:v>
                </c:pt>
                <c:pt idx="65">
                  <c:v>101.74149679</c:v>
                </c:pt>
                <c:pt idx="66">
                  <c:v>101.32767843</c:v>
                </c:pt>
                <c:pt idx="67">
                  <c:v>101.43330177</c:v>
                </c:pt>
                <c:pt idx="68">
                  <c:v>97.38805255</c:v>
                </c:pt>
                <c:pt idx="69">
                  <c:v>102.11101278</c:v>
                </c:pt>
                <c:pt idx="70">
                  <c:v>102.04840308</c:v>
                </c:pt>
                <c:pt idx="71">
                  <c:v>101.16336217</c:v>
                </c:pt>
                <c:pt idx="72">
                  <c:v>101.3802803</c:v>
                </c:pt>
                <c:pt idx="73">
                  <c:v>100.81151905</c:v>
                </c:pt>
                <c:pt idx="74">
                  <c:v>99.37875575</c:v>
                </c:pt>
                <c:pt idx="75">
                  <c:v>100.54158742</c:v>
                </c:pt>
                <c:pt idx="76">
                  <c:v>95.56942888</c:v>
                </c:pt>
                <c:pt idx="77">
                  <c:v>100.52527091</c:v>
                </c:pt>
                <c:pt idx="78">
                  <c:v>85.66913137</c:v>
                </c:pt>
                <c:pt idx="79">
                  <c:v>102.2415283</c:v>
                </c:pt>
                <c:pt idx="80">
                  <c:v>100.45104815</c:v>
                </c:pt>
                <c:pt idx="81">
                  <c:v>99.57679995</c:v>
                </c:pt>
                <c:pt idx="82">
                  <c:v>101.98580145</c:v>
                </c:pt>
                <c:pt idx="83">
                  <c:v>102.2180693</c:v>
                </c:pt>
                <c:pt idx="84">
                  <c:v>102.262798</c:v>
                </c:pt>
                <c:pt idx="85">
                  <c:v>102.1252429</c:v>
                </c:pt>
                <c:pt idx="86">
                  <c:v>98.14736972</c:v>
                </c:pt>
                <c:pt idx="87">
                  <c:v>97.90922685</c:v>
                </c:pt>
                <c:pt idx="88">
                  <c:v>99.72504191</c:v>
                </c:pt>
                <c:pt idx="89">
                  <c:v>102.33785506</c:v>
                </c:pt>
                <c:pt idx="90">
                  <c:v>100.69656164</c:v>
                </c:pt>
                <c:pt idx="91">
                  <c:v>101.50652959</c:v>
                </c:pt>
                <c:pt idx="92">
                  <c:v>100.47807635</c:v>
                </c:pt>
                <c:pt idx="93">
                  <c:v>100.48531077</c:v>
                </c:pt>
                <c:pt idx="94">
                  <c:v>102.25706552</c:v>
                </c:pt>
                <c:pt idx="95">
                  <c:v>102.13351502</c:v>
                </c:pt>
                <c:pt idx="96">
                  <c:v>101.17887627</c:v>
                </c:pt>
                <c:pt idx="97">
                  <c:v>98.43166561</c:v>
                </c:pt>
                <c:pt idx="98">
                  <c:v>102.0789047</c:v>
                </c:pt>
                <c:pt idx="99">
                  <c:v>101.5576406</c:v>
                </c:pt>
                <c:pt idx="100">
                  <c:v>101.04261701</c:v>
                </c:pt>
                <c:pt idx="101">
                  <c:v>102.07910081</c:v>
                </c:pt>
                <c:pt idx="102">
                  <c:v>102.3954011</c:v>
                </c:pt>
                <c:pt idx="103">
                  <c:v>101.0915467</c:v>
                </c:pt>
                <c:pt idx="104">
                  <c:v>102.33597066</c:v>
                </c:pt>
                <c:pt idx="105">
                  <c:v>101.09708771</c:v>
                </c:pt>
                <c:pt idx="106">
                  <c:v>101.36001966</c:v>
                </c:pt>
                <c:pt idx="107">
                  <c:v>101.86319593</c:v>
                </c:pt>
                <c:pt idx="108">
                  <c:v>100.99093646</c:v>
                </c:pt>
                <c:pt idx="109">
                  <c:v>100.79460678</c:v>
                </c:pt>
                <c:pt idx="110">
                  <c:v>102.25301421</c:v>
                </c:pt>
                <c:pt idx="111">
                  <c:v>102.26280073</c:v>
                </c:pt>
                <c:pt idx="112">
                  <c:v>102.09493659</c:v>
                </c:pt>
                <c:pt idx="113">
                  <c:v>102.17961174</c:v>
                </c:pt>
                <c:pt idx="114">
                  <c:v>102.0835892</c:v>
                </c:pt>
                <c:pt idx="115">
                  <c:v>102.16009602</c:v>
                </c:pt>
                <c:pt idx="116">
                  <c:v>102.12666967</c:v>
                </c:pt>
                <c:pt idx="117">
                  <c:v>102.04196585</c:v>
                </c:pt>
                <c:pt idx="118">
                  <c:v>102.21461589</c:v>
                </c:pt>
                <c:pt idx="119">
                  <c:v>102.26754304</c:v>
                </c:pt>
                <c:pt idx="120">
                  <c:v>102.22575823</c:v>
                </c:pt>
                <c:pt idx="121">
                  <c:v>102.00105408</c:v>
                </c:pt>
                <c:pt idx="122">
                  <c:v>100.14155746</c:v>
                </c:pt>
                <c:pt idx="123">
                  <c:v>101.99019986</c:v>
                </c:pt>
                <c:pt idx="124">
                  <c:v>102.16151144</c:v>
                </c:pt>
                <c:pt idx="125">
                  <c:v>101.88967004</c:v>
                </c:pt>
                <c:pt idx="126">
                  <c:v>102.03649473</c:v>
                </c:pt>
                <c:pt idx="127">
                  <c:v>102.01645064</c:v>
                </c:pt>
                <c:pt idx="128">
                  <c:v>101.95827191</c:v>
                </c:pt>
                <c:pt idx="129">
                  <c:v>101.88180039</c:v>
                </c:pt>
                <c:pt idx="130">
                  <c:v>102.19924817</c:v>
                </c:pt>
                <c:pt idx="131">
                  <c:v>102.15352358</c:v>
                </c:pt>
                <c:pt idx="132">
                  <c:v>102.12656653</c:v>
                </c:pt>
                <c:pt idx="133">
                  <c:v>102.00859646</c:v>
                </c:pt>
                <c:pt idx="134">
                  <c:v>102.07282954</c:v>
                </c:pt>
                <c:pt idx="135">
                  <c:v>102.12368498</c:v>
                </c:pt>
                <c:pt idx="136">
                  <c:v>102.09242333</c:v>
                </c:pt>
                <c:pt idx="137">
                  <c:v>99.32098688</c:v>
                </c:pt>
                <c:pt idx="138">
                  <c:v>102.09449935</c:v>
                </c:pt>
                <c:pt idx="139">
                  <c:v>101.3184455</c:v>
                </c:pt>
                <c:pt idx="140">
                  <c:v>102.14015329</c:v>
                </c:pt>
                <c:pt idx="141">
                  <c:v>102.16510164</c:v>
                </c:pt>
                <c:pt idx="142">
                  <c:v>102.12631558</c:v>
                </c:pt>
                <c:pt idx="143">
                  <c:v>102.19454781</c:v>
                </c:pt>
                <c:pt idx="144">
                  <c:v>102.00419627</c:v>
                </c:pt>
                <c:pt idx="145">
                  <c:v>102.11870429</c:v>
                </c:pt>
                <c:pt idx="146">
                  <c:v>102.00755146</c:v>
                </c:pt>
                <c:pt idx="147">
                  <c:v>102.00980068</c:v>
                </c:pt>
                <c:pt idx="148">
                  <c:v>102.29193382</c:v>
                </c:pt>
                <c:pt idx="149">
                  <c:v>102.19042596</c:v>
                </c:pt>
                <c:pt idx="150">
                  <c:v>101.09115776</c:v>
                </c:pt>
                <c:pt idx="151">
                  <c:v>100.3990518</c:v>
                </c:pt>
                <c:pt idx="152">
                  <c:v>102.29230534</c:v>
                </c:pt>
                <c:pt idx="153">
                  <c:v>102.2008312</c:v>
                </c:pt>
                <c:pt idx="154">
                  <c:v>102.27340957</c:v>
                </c:pt>
                <c:pt idx="155">
                  <c:v>101.88859096</c:v>
                </c:pt>
                <c:pt idx="156">
                  <c:v>102.00201248</c:v>
                </c:pt>
                <c:pt idx="157">
                  <c:v>101.89913583</c:v>
                </c:pt>
                <c:pt idx="158">
                  <c:v>101.98292475</c:v>
                </c:pt>
                <c:pt idx="159">
                  <c:v>102.16008847</c:v>
                </c:pt>
                <c:pt idx="160">
                  <c:v>102.3491974</c:v>
                </c:pt>
                <c:pt idx="161">
                  <c:v>102.27888378</c:v>
                </c:pt>
                <c:pt idx="162">
                  <c:v>102.27737167</c:v>
                </c:pt>
                <c:pt idx="163">
                  <c:v>102.40216218</c:v>
                </c:pt>
                <c:pt idx="164">
                  <c:v>102.04176838</c:v>
                </c:pt>
                <c:pt idx="165">
                  <c:v>102.20362662</c:v>
                </c:pt>
                <c:pt idx="166">
                  <c:v>102.29298127</c:v>
                </c:pt>
                <c:pt idx="167">
                  <c:v>102.46815171</c:v>
                </c:pt>
                <c:pt idx="168">
                  <c:v>102.46410122</c:v>
                </c:pt>
                <c:pt idx="169">
                  <c:v>102.29218785</c:v>
                </c:pt>
                <c:pt idx="170">
                  <c:v>102.35701012</c:v>
                </c:pt>
                <c:pt idx="171">
                  <c:v>102.26472281</c:v>
                </c:pt>
                <c:pt idx="172">
                  <c:v>102.27222744</c:v>
                </c:pt>
                <c:pt idx="173">
                  <c:v>102.29072237</c:v>
                </c:pt>
                <c:pt idx="174">
                  <c:v>102.08052804</c:v>
                </c:pt>
                <c:pt idx="175">
                  <c:v>102.20783791</c:v>
                </c:pt>
                <c:pt idx="176">
                  <c:v>102.16670844</c:v>
                </c:pt>
                <c:pt idx="177">
                  <c:v>102.29843193</c:v>
                </c:pt>
                <c:pt idx="178">
                  <c:v>102.25810424</c:v>
                </c:pt>
                <c:pt idx="179">
                  <c:v>102.26937278</c:v>
                </c:pt>
                <c:pt idx="180">
                  <c:v>102.11774981</c:v>
                </c:pt>
                <c:pt idx="181">
                  <c:v>102.1600628</c:v>
                </c:pt>
                <c:pt idx="182">
                  <c:v>101.98754437</c:v>
                </c:pt>
                <c:pt idx="183">
                  <c:v>102.15748458</c:v>
                </c:pt>
                <c:pt idx="184">
                  <c:v>102.38298481</c:v>
                </c:pt>
                <c:pt idx="185">
                  <c:v>100.49356143</c:v>
                </c:pt>
                <c:pt idx="186">
                  <c:v>102.14233808</c:v>
                </c:pt>
                <c:pt idx="187">
                  <c:v>102.2335021</c:v>
                </c:pt>
                <c:pt idx="188">
                  <c:v>102.23018599</c:v>
                </c:pt>
                <c:pt idx="189">
                  <c:v>102.07362264</c:v>
                </c:pt>
                <c:pt idx="190">
                  <c:v>102.11574957</c:v>
                </c:pt>
                <c:pt idx="191">
                  <c:v>101.98899604</c:v>
                </c:pt>
                <c:pt idx="192">
                  <c:v>102.20324586</c:v>
                </c:pt>
                <c:pt idx="193">
                  <c:v>100.07256267</c:v>
                </c:pt>
                <c:pt idx="194">
                  <c:v>102.08039042</c:v>
                </c:pt>
                <c:pt idx="195">
                  <c:v>102.2953344</c:v>
                </c:pt>
                <c:pt idx="196">
                  <c:v>101.88016111</c:v>
                </c:pt>
                <c:pt idx="197">
                  <c:v>102.02052155</c:v>
                </c:pt>
                <c:pt idx="198">
                  <c:v>102.12970931</c:v>
                </c:pt>
                <c:pt idx="199">
                  <c:v>102.19922781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3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5.80415024</c:v>
                </c:pt>
                <c:pt idx="1">
                  <c:v>8.10305737</c:v>
                </c:pt>
                <c:pt idx="2">
                  <c:v>8.71328013</c:v>
                </c:pt>
                <c:pt idx="3">
                  <c:v>7.76327331</c:v>
                </c:pt>
                <c:pt idx="4">
                  <c:v>15.37421546</c:v>
                </c:pt>
                <c:pt idx="5">
                  <c:v>12.35912782</c:v>
                </c:pt>
                <c:pt idx="6">
                  <c:v>15.8262887</c:v>
                </c:pt>
                <c:pt idx="7">
                  <c:v>13.58412855</c:v>
                </c:pt>
                <c:pt idx="8">
                  <c:v>34.28067199</c:v>
                </c:pt>
                <c:pt idx="9">
                  <c:v>51.37045761</c:v>
                </c:pt>
                <c:pt idx="10">
                  <c:v>56.57862525</c:v>
                </c:pt>
                <c:pt idx="11">
                  <c:v>66.15662237</c:v>
                </c:pt>
                <c:pt idx="12">
                  <c:v>61.0697689</c:v>
                </c:pt>
                <c:pt idx="13">
                  <c:v>71.27507346</c:v>
                </c:pt>
                <c:pt idx="14">
                  <c:v>78.99613726</c:v>
                </c:pt>
                <c:pt idx="15">
                  <c:v>76.22728962</c:v>
                </c:pt>
                <c:pt idx="16">
                  <c:v>67.77314321</c:v>
                </c:pt>
                <c:pt idx="17">
                  <c:v>75.54298782</c:v>
                </c:pt>
                <c:pt idx="18">
                  <c:v>73.89641238</c:v>
                </c:pt>
                <c:pt idx="19">
                  <c:v>82.6360309</c:v>
                </c:pt>
                <c:pt idx="20">
                  <c:v>80.33864544</c:v>
                </c:pt>
                <c:pt idx="21">
                  <c:v>80.75038882</c:v>
                </c:pt>
                <c:pt idx="22">
                  <c:v>81.48305706</c:v>
                </c:pt>
                <c:pt idx="23">
                  <c:v>76.4597061</c:v>
                </c:pt>
                <c:pt idx="24">
                  <c:v>70.71299583</c:v>
                </c:pt>
                <c:pt idx="25">
                  <c:v>78.04791615</c:v>
                </c:pt>
                <c:pt idx="26">
                  <c:v>79.8622234</c:v>
                </c:pt>
                <c:pt idx="27">
                  <c:v>71.90544966</c:v>
                </c:pt>
                <c:pt idx="28">
                  <c:v>68.73989827</c:v>
                </c:pt>
                <c:pt idx="29">
                  <c:v>82.58748015</c:v>
                </c:pt>
                <c:pt idx="30">
                  <c:v>64.86933171</c:v>
                </c:pt>
                <c:pt idx="31">
                  <c:v>62.01476282</c:v>
                </c:pt>
                <c:pt idx="32">
                  <c:v>68.991361</c:v>
                </c:pt>
                <c:pt idx="33">
                  <c:v>74.59096739</c:v>
                </c:pt>
                <c:pt idx="34">
                  <c:v>67.75703315</c:v>
                </c:pt>
                <c:pt idx="35">
                  <c:v>71.33294053</c:v>
                </c:pt>
                <c:pt idx="36">
                  <c:v>82.53908364</c:v>
                </c:pt>
                <c:pt idx="37">
                  <c:v>81.97054445</c:v>
                </c:pt>
                <c:pt idx="38">
                  <c:v>74.61505937</c:v>
                </c:pt>
                <c:pt idx="39">
                  <c:v>78.13401186</c:v>
                </c:pt>
                <c:pt idx="40">
                  <c:v>80.03805093</c:v>
                </c:pt>
                <c:pt idx="41">
                  <c:v>82.20402981</c:v>
                </c:pt>
                <c:pt idx="42">
                  <c:v>75.84582265</c:v>
                </c:pt>
                <c:pt idx="43">
                  <c:v>75.99579103</c:v>
                </c:pt>
                <c:pt idx="44">
                  <c:v>70.49246354</c:v>
                </c:pt>
                <c:pt idx="45">
                  <c:v>85.17960827</c:v>
                </c:pt>
                <c:pt idx="46">
                  <c:v>76.60226738</c:v>
                </c:pt>
                <c:pt idx="47">
                  <c:v>79.95296553</c:v>
                </c:pt>
                <c:pt idx="48">
                  <c:v>73.70343765</c:v>
                </c:pt>
                <c:pt idx="49">
                  <c:v>69.56967978</c:v>
                </c:pt>
                <c:pt idx="50">
                  <c:v>79.18321629</c:v>
                </c:pt>
                <c:pt idx="51">
                  <c:v>68.6794523</c:v>
                </c:pt>
                <c:pt idx="52">
                  <c:v>83.0889504</c:v>
                </c:pt>
                <c:pt idx="53">
                  <c:v>82.84266526</c:v>
                </c:pt>
                <c:pt idx="54">
                  <c:v>79.25388005</c:v>
                </c:pt>
                <c:pt idx="55">
                  <c:v>63.25000342</c:v>
                </c:pt>
                <c:pt idx="56">
                  <c:v>66.51376027</c:v>
                </c:pt>
                <c:pt idx="57">
                  <c:v>69.08587926</c:v>
                </c:pt>
                <c:pt idx="58">
                  <c:v>66.56737999</c:v>
                </c:pt>
                <c:pt idx="59">
                  <c:v>76.89205795</c:v>
                </c:pt>
                <c:pt idx="60">
                  <c:v>82.71620829</c:v>
                </c:pt>
                <c:pt idx="61">
                  <c:v>82.13158774</c:v>
                </c:pt>
                <c:pt idx="62">
                  <c:v>79.16725931</c:v>
                </c:pt>
                <c:pt idx="63">
                  <c:v>79.26619302</c:v>
                </c:pt>
                <c:pt idx="64">
                  <c:v>71.63702435</c:v>
                </c:pt>
                <c:pt idx="65">
                  <c:v>83.55375722</c:v>
                </c:pt>
                <c:pt idx="66">
                  <c:v>76.52050592</c:v>
                </c:pt>
                <c:pt idx="67">
                  <c:v>74.64786263</c:v>
                </c:pt>
                <c:pt idx="68">
                  <c:v>78.99521878</c:v>
                </c:pt>
                <c:pt idx="69">
                  <c:v>77.38085562</c:v>
                </c:pt>
                <c:pt idx="70">
                  <c:v>74.30333049</c:v>
                </c:pt>
                <c:pt idx="71">
                  <c:v>81.87064473</c:v>
                </c:pt>
                <c:pt idx="72">
                  <c:v>85.66622279</c:v>
                </c:pt>
                <c:pt idx="73">
                  <c:v>78.57031936</c:v>
                </c:pt>
                <c:pt idx="74">
                  <c:v>79.68269585</c:v>
                </c:pt>
                <c:pt idx="75">
                  <c:v>71.56748091</c:v>
                </c:pt>
                <c:pt idx="76">
                  <c:v>82.95360606</c:v>
                </c:pt>
                <c:pt idx="77">
                  <c:v>78.60479928</c:v>
                </c:pt>
                <c:pt idx="78">
                  <c:v>82.93939713</c:v>
                </c:pt>
                <c:pt idx="79">
                  <c:v>74.47245974</c:v>
                </c:pt>
                <c:pt idx="80">
                  <c:v>81.64156505</c:v>
                </c:pt>
                <c:pt idx="81">
                  <c:v>69.55480602</c:v>
                </c:pt>
                <c:pt idx="82">
                  <c:v>83.67223927</c:v>
                </c:pt>
                <c:pt idx="83">
                  <c:v>79.46120945</c:v>
                </c:pt>
                <c:pt idx="84">
                  <c:v>80.10811579</c:v>
                </c:pt>
                <c:pt idx="85">
                  <c:v>74.24956682</c:v>
                </c:pt>
                <c:pt idx="86">
                  <c:v>79.17989841</c:v>
                </c:pt>
                <c:pt idx="87">
                  <c:v>80.62815868</c:v>
                </c:pt>
                <c:pt idx="88">
                  <c:v>80.67413441</c:v>
                </c:pt>
                <c:pt idx="89">
                  <c:v>61.58964001</c:v>
                </c:pt>
                <c:pt idx="90">
                  <c:v>74.4485518</c:v>
                </c:pt>
                <c:pt idx="91">
                  <c:v>83.47253684</c:v>
                </c:pt>
                <c:pt idx="92">
                  <c:v>71.77719689</c:v>
                </c:pt>
                <c:pt idx="93">
                  <c:v>72.78686249</c:v>
                </c:pt>
                <c:pt idx="94">
                  <c:v>72.89269286</c:v>
                </c:pt>
                <c:pt idx="95">
                  <c:v>81.26128818</c:v>
                </c:pt>
                <c:pt idx="96">
                  <c:v>81.67864097</c:v>
                </c:pt>
                <c:pt idx="97">
                  <c:v>75.31821809</c:v>
                </c:pt>
                <c:pt idx="98">
                  <c:v>78.68532615</c:v>
                </c:pt>
                <c:pt idx="99">
                  <c:v>83.63438252</c:v>
                </c:pt>
                <c:pt idx="100">
                  <c:v>74.87762613</c:v>
                </c:pt>
                <c:pt idx="101">
                  <c:v>66.95720623</c:v>
                </c:pt>
                <c:pt idx="102">
                  <c:v>74.87456981</c:v>
                </c:pt>
                <c:pt idx="103">
                  <c:v>76.96457087</c:v>
                </c:pt>
                <c:pt idx="104">
                  <c:v>71.46885954</c:v>
                </c:pt>
                <c:pt idx="105">
                  <c:v>74.35708817</c:v>
                </c:pt>
                <c:pt idx="106">
                  <c:v>78.41792327</c:v>
                </c:pt>
                <c:pt idx="107">
                  <c:v>77.89292047</c:v>
                </c:pt>
                <c:pt idx="108">
                  <c:v>79.91798731</c:v>
                </c:pt>
                <c:pt idx="109">
                  <c:v>82.05249934</c:v>
                </c:pt>
                <c:pt idx="110">
                  <c:v>73.46891671</c:v>
                </c:pt>
                <c:pt idx="111">
                  <c:v>76.06043478</c:v>
                </c:pt>
                <c:pt idx="112">
                  <c:v>82.91531535</c:v>
                </c:pt>
                <c:pt idx="113">
                  <c:v>75.23913945</c:v>
                </c:pt>
                <c:pt idx="114">
                  <c:v>75.90780342</c:v>
                </c:pt>
                <c:pt idx="115">
                  <c:v>72.65441905</c:v>
                </c:pt>
                <c:pt idx="116">
                  <c:v>76.06278238</c:v>
                </c:pt>
                <c:pt idx="117">
                  <c:v>62.54742568</c:v>
                </c:pt>
                <c:pt idx="118">
                  <c:v>83.35147286</c:v>
                </c:pt>
                <c:pt idx="119">
                  <c:v>86.64152114</c:v>
                </c:pt>
                <c:pt idx="120">
                  <c:v>73.82860422</c:v>
                </c:pt>
                <c:pt idx="121">
                  <c:v>75.53075069</c:v>
                </c:pt>
                <c:pt idx="122">
                  <c:v>79.26308072</c:v>
                </c:pt>
                <c:pt idx="123">
                  <c:v>77.31458204</c:v>
                </c:pt>
                <c:pt idx="124">
                  <c:v>82.04188062</c:v>
                </c:pt>
                <c:pt idx="125">
                  <c:v>71.51886758</c:v>
                </c:pt>
                <c:pt idx="126">
                  <c:v>87.98756823</c:v>
                </c:pt>
                <c:pt idx="127">
                  <c:v>80.29277042</c:v>
                </c:pt>
                <c:pt idx="128">
                  <c:v>73.99096546</c:v>
                </c:pt>
                <c:pt idx="129">
                  <c:v>79.29603809</c:v>
                </c:pt>
                <c:pt idx="130">
                  <c:v>69.80645466</c:v>
                </c:pt>
                <c:pt idx="131">
                  <c:v>82.72758325</c:v>
                </c:pt>
                <c:pt idx="132">
                  <c:v>69.60733596</c:v>
                </c:pt>
                <c:pt idx="133">
                  <c:v>75.85727357</c:v>
                </c:pt>
                <c:pt idx="134">
                  <c:v>81.68975186</c:v>
                </c:pt>
                <c:pt idx="135">
                  <c:v>64.17742797</c:v>
                </c:pt>
                <c:pt idx="136">
                  <c:v>81.77065427</c:v>
                </c:pt>
                <c:pt idx="137">
                  <c:v>73.86716455</c:v>
                </c:pt>
                <c:pt idx="138">
                  <c:v>86.58191728</c:v>
                </c:pt>
                <c:pt idx="139">
                  <c:v>75.52973686</c:v>
                </c:pt>
                <c:pt idx="140">
                  <c:v>68.03262119</c:v>
                </c:pt>
                <c:pt idx="141">
                  <c:v>75.17884878</c:v>
                </c:pt>
                <c:pt idx="142">
                  <c:v>71.42122997</c:v>
                </c:pt>
                <c:pt idx="143">
                  <c:v>85.41327898</c:v>
                </c:pt>
                <c:pt idx="144">
                  <c:v>78.35630278</c:v>
                </c:pt>
                <c:pt idx="145">
                  <c:v>80.28268373</c:v>
                </c:pt>
                <c:pt idx="146">
                  <c:v>84.3512178</c:v>
                </c:pt>
                <c:pt idx="147">
                  <c:v>76.91485123</c:v>
                </c:pt>
                <c:pt idx="148">
                  <c:v>73.36741239</c:v>
                </c:pt>
                <c:pt idx="149">
                  <c:v>81.12860919</c:v>
                </c:pt>
                <c:pt idx="150">
                  <c:v>81.67441965</c:v>
                </c:pt>
                <c:pt idx="151">
                  <c:v>81.11299614</c:v>
                </c:pt>
                <c:pt idx="152">
                  <c:v>78.45336818</c:v>
                </c:pt>
                <c:pt idx="153">
                  <c:v>82.88589102</c:v>
                </c:pt>
                <c:pt idx="154">
                  <c:v>84.37508527</c:v>
                </c:pt>
                <c:pt idx="155">
                  <c:v>82.29038251</c:v>
                </c:pt>
                <c:pt idx="156">
                  <c:v>82.61735199</c:v>
                </c:pt>
                <c:pt idx="157">
                  <c:v>81.87128668</c:v>
                </c:pt>
                <c:pt idx="158">
                  <c:v>77.32146695</c:v>
                </c:pt>
                <c:pt idx="159">
                  <c:v>75.45097948</c:v>
                </c:pt>
                <c:pt idx="160">
                  <c:v>79.7540594</c:v>
                </c:pt>
                <c:pt idx="161">
                  <c:v>78.93510809</c:v>
                </c:pt>
                <c:pt idx="162">
                  <c:v>81.37555573</c:v>
                </c:pt>
                <c:pt idx="163">
                  <c:v>73.65302862</c:v>
                </c:pt>
                <c:pt idx="164">
                  <c:v>82.2042484</c:v>
                </c:pt>
                <c:pt idx="165">
                  <c:v>73.36395056</c:v>
                </c:pt>
                <c:pt idx="166">
                  <c:v>85.83955234</c:v>
                </c:pt>
                <c:pt idx="167">
                  <c:v>75.73959885</c:v>
                </c:pt>
                <c:pt idx="168">
                  <c:v>64.71100793</c:v>
                </c:pt>
                <c:pt idx="169">
                  <c:v>76.1377778</c:v>
                </c:pt>
                <c:pt idx="170">
                  <c:v>77.37112562</c:v>
                </c:pt>
                <c:pt idx="171">
                  <c:v>80.78332575</c:v>
                </c:pt>
                <c:pt idx="172">
                  <c:v>84.14699142</c:v>
                </c:pt>
                <c:pt idx="173">
                  <c:v>69.33269655</c:v>
                </c:pt>
                <c:pt idx="174">
                  <c:v>87.26087609</c:v>
                </c:pt>
                <c:pt idx="175">
                  <c:v>76.90011669</c:v>
                </c:pt>
                <c:pt idx="176">
                  <c:v>80.20242264</c:v>
                </c:pt>
                <c:pt idx="177">
                  <c:v>79.99452905</c:v>
                </c:pt>
                <c:pt idx="178">
                  <c:v>77.31680732</c:v>
                </c:pt>
                <c:pt idx="179">
                  <c:v>86.31021573</c:v>
                </c:pt>
                <c:pt idx="180">
                  <c:v>78.83784796</c:v>
                </c:pt>
                <c:pt idx="181">
                  <c:v>82.28466528</c:v>
                </c:pt>
                <c:pt idx="182">
                  <c:v>77.79035285</c:v>
                </c:pt>
                <c:pt idx="183">
                  <c:v>80.07761377</c:v>
                </c:pt>
                <c:pt idx="184">
                  <c:v>82.0589772</c:v>
                </c:pt>
                <c:pt idx="185">
                  <c:v>80.75024273</c:v>
                </c:pt>
                <c:pt idx="186">
                  <c:v>81.35694455</c:v>
                </c:pt>
                <c:pt idx="187">
                  <c:v>61.86736738</c:v>
                </c:pt>
                <c:pt idx="188">
                  <c:v>71.15119572</c:v>
                </c:pt>
                <c:pt idx="189">
                  <c:v>80.12757848</c:v>
                </c:pt>
                <c:pt idx="190">
                  <c:v>87.74235939</c:v>
                </c:pt>
                <c:pt idx="191">
                  <c:v>76.9636207</c:v>
                </c:pt>
                <c:pt idx="192">
                  <c:v>80.59272067</c:v>
                </c:pt>
                <c:pt idx="193">
                  <c:v>80.69598637</c:v>
                </c:pt>
                <c:pt idx="194">
                  <c:v>73.07854668</c:v>
                </c:pt>
                <c:pt idx="195">
                  <c:v>81.92013403</c:v>
                </c:pt>
                <c:pt idx="196">
                  <c:v>82.03447515</c:v>
                </c:pt>
                <c:pt idx="197">
                  <c:v>82.48767155</c:v>
                </c:pt>
                <c:pt idx="198">
                  <c:v>82.16919759</c:v>
                </c:pt>
                <c:pt idx="199">
                  <c:v>74.52514149</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7.07201446</c:v>
                </c:pt>
                <c:pt idx="1">
                  <c:v>6.4237282</c:v>
                </c:pt>
                <c:pt idx="2">
                  <c:v>10.14820586</c:v>
                </c:pt>
                <c:pt idx="3">
                  <c:v>9.84055906</c:v>
                </c:pt>
                <c:pt idx="4">
                  <c:v>16.91797267</c:v>
                </c:pt>
                <c:pt idx="5">
                  <c:v>19.90711685</c:v>
                </c:pt>
                <c:pt idx="6">
                  <c:v>25.37857135</c:v>
                </c:pt>
                <c:pt idx="7">
                  <c:v>21.92703162</c:v>
                </c:pt>
                <c:pt idx="8">
                  <c:v>36.03470773</c:v>
                </c:pt>
                <c:pt idx="9">
                  <c:v>47.49525715</c:v>
                </c:pt>
                <c:pt idx="10">
                  <c:v>50.02138514</c:v>
                </c:pt>
                <c:pt idx="11">
                  <c:v>52.06788608</c:v>
                </c:pt>
                <c:pt idx="12">
                  <c:v>58.64319322</c:v>
                </c:pt>
                <c:pt idx="13">
                  <c:v>69.16614942</c:v>
                </c:pt>
                <c:pt idx="14">
                  <c:v>66.61624162</c:v>
                </c:pt>
                <c:pt idx="15">
                  <c:v>69.50179928</c:v>
                </c:pt>
                <c:pt idx="16">
                  <c:v>69.6374986</c:v>
                </c:pt>
                <c:pt idx="17">
                  <c:v>71.45078013</c:v>
                </c:pt>
                <c:pt idx="18">
                  <c:v>83.49814089</c:v>
                </c:pt>
                <c:pt idx="19">
                  <c:v>83.95374831</c:v>
                </c:pt>
                <c:pt idx="20">
                  <c:v>82.52279777</c:v>
                </c:pt>
                <c:pt idx="21">
                  <c:v>71.74085536</c:v>
                </c:pt>
                <c:pt idx="22">
                  <c:v>85.7041498</c:v>
                </c:pt>
                <c:pt idx="23">
                  <c:v>83.05398148</c:v>
                </c:pt>
                <c:pt idx="24">
                  <c:v>79.16169644</c:v>
                </c:pt>
                <c:pt idx="25">
                  <c:v>81.64933687</c:v>
                </c:pt>
                <c:pt idx="26">
                  <c:v>72.30980376</c:v>
                </c:pt>
                <c:pt idx="27">
                  <c:v>85.21254058</c:v>
                </c:pt>
                <c:pt idx="28">
                  <c:v>82.88329223</c:v>
                </c:pt>
                <c:pt idx="29">
                  <c:v>80.65379329</c:v>
                </c:pt>
                <c:pt idx="30">
                  <c:v>77.06396885</c:v>
                </c:pt>
                <c:pt idx="31">
                  <c:v>75.78329451</c:v>
                </c:pt>
                <c:pt idx="32">
                  <c:v>60.04700424</c:v>
                </c:pt>
                <c:pt idx="33">
                  <c:v>79.1419606</c:v>
                </c:pt>
                <c:pt idx="34">
                  <c:v>72.82289707</c:v>
                </c:pt>
                <c:pt idx="35">
                  <c:v>77.78215004</c:v>
                </c:pt>
                <c:pt idx="36">
                  <c:v>80.6740419</c:v>
                </c:pt>
                <c:pt idx="37">
                  <c:v>82.53300873</c:v>
                </c:pt>
                <c:pt idx="38">
                  <c:v>85.31332975</c:v>
                </c:pt>
                <c:pt idx="39">
                  <c:v>76.37457575</c:v>
                </c:pt>
                <c:pt idx="40">
                  <c:v>68.10482463</c:v>
                </c:pt>
                <c:pt idx="41">
                  <c:v>80.7230998</c:v>
                </c:pt>
                <c:pt idx="42">
                  <c:v>74.0233357</c:v>
                </c:pt>
                <c:pt idx="43">
                  <c:v>72.49723974</c:v>
                </c:pt>
                <c:pt idx="44">
                  <c:v>83.07786598</c:v>
                </c:pt>
                <c:pt idx="45">
                  <c:v>82.14979434</c:v>
                </c:pt>
                <c:pt idx="46">
                  <c:v>72.36407254</c:v>
                </c:pt>
                <c:pt idx="47">
                  <c:v>81.51443143</c:v>
                </c:pt>
                <c:pt idx="48">
                  <c:v>62.29477743</c:v>
                </c:pt>
                <c:pt idx="49">
                  <c:v>79.79588125</c:v>
                </c:pt>
                <c:pt idx="50">
                  <c:v>84.99882581</c:v>
                </c:pt>
                <c:pt idx="51">
                  <c:v>77.86375233</c:v>
                </c:pt>
                <c:pt idx="52">
                  <c:v>84.46798973</c:v>
                </c:pt>
                <c:pt idx="53">
                  <c:v>85.98547981</c:v>
                </c:pt>
                <c:pt idx="54">
                  <c:v>81.82355069</c:v>
                </c:pt>
                <c:pt idx="55">
                  <c:v>83.05820823</c:v>
                </c:pt>
                <c:pt idx="56">
                  <c:v>81.55952063</c:v>
                </c:pt>
                <c:pt idx="57">
                  <c:v>76.80549714</c:v>
                </c:pt>
                <c:pt idx="58">
                  <c:v>72.89600885</c:v>
                </c:pt>
                <c:pt idx="59">
                  <c:v>81.28742829</c:v>
                </c:pt>
                <c:pt idx="60">
                  <c:v>74.67771907</c:v>
                </c:pt>
                <c:pt idx="61">
                  <c:v>81.22367319</c:v>
                </c:pt>
                <c:pt idx="62">
                  <c:v>83.70703426</c:v>
                </c:pt>
                <c:pt idx="63">
                  <c:v>86.44641238</c:v>
                </c:pt>
                <c:pt idx="64">
                  <c:v>79.25770152</c:v>
                </c:pt>
                <c:pt idx="65">
                  <c:v>84.53611678</c:v>
                </c:pt>
                <c:pt idx="66">
                  <c:v>78.2167598</c:v>
                </c:pt>
                <c:pt idx="67">
                  <c:v>82.30432594</c:v>
                </c:pt>
                <c:pt idx="68">
                  <c:v>65.64654401</c:v>
                </c:pt>
                <c:pt idx="69">
                  <c:v>82.05289343</c:v>
                </c:pt>
                <c:pt idx="70">
                  <c:v>79.20798125</c:v>
                </c:pt>
                <c:pt idx="71">
                  <c:v>76.817509</c:v>
                </c:pt>
                <c:pt idx="72">
                  <c:v>83.7964918</c:v>
                </c:pt>
                <c:pt idx="73">
                  <c:v>81.417117</c:v>
                </c:pt>
                <c:pt idx="74">
                  <c:v>79.25416792</c:v>
                </c:pt>
                <c:pt idx="75">
                  <c:v>75.89184529</c:v>
                </c:pt>
                <c:pt idx="76">
                  <c:v>86.2150427</c:v>
                </c:pt>
                <c:pt idx="77">
                  <c:v>86.02042479</c:v>
                </c:pt>
                <c:pt idx="78">
                  <c:v>81.70463157</c:v>
                </c:pt>
                <c:pt idx="79">
                  <c:v>86.16421205</c:v>
                </c:pt>
                <c:pt idx="80">
                  <c:v>75.76339583</c:v>
                </c:pt>
                <c:pt idx="81">
                  <c:v>75.46097978</c:v>
                </c:pt>
                <c:pt idx="82">
                  <c:v>83.09121964</c:v>
                </c:pt>
                <c:pt idx="83">
                  <c:v>80.04644071</c:v>
                </c:pt>
                <c:pt idx="84">
                  <c:v>78.19499493</c:v>
                </c:pt>
                <c:pt idx="85">
                  <c:v>83.86144886</c:v>
                </c:pt>
                <c:pt idx="86">
                  <c:v>78.14400633</c:v>
                </c:pt>
                <c:pt idx="87">
                  <c:v>85.38850554</c:v>
                </c:pt>
                <c:pt idx="88">
                  <c:v>83.48928701</c:v>
                </c:pt>
                <c:pt idx="89">
                  <c:v>81.31018349</c:v>
                </c:pt>
                <c:pt idx="90">
                  <c:v>75.74363533</c:v>
                </c:pt>
                <c:pt idx="91">
                  <c:v>74.41482695</c:v>
                </c:pt>
                <c:pt idx="92">
                  <c:v>82.9319272</c:v>
                </c:pt>
                <c:pt idx="93">
                  <c:v>82.20333511</c:v>
                </c:pt>
                <c:pt idx="94">
                  <c:v>78.08466229</c:v>
                </c:pt>
                <c:pt idx="95">
                  <c:v>80.43667746</c:v>
                </c:pt>
                <c:pt idx="96">
                  <c:v>77.62912592</c:v>
                </c:pt>
                <c:pt idx="97">
                  <c:v>77.97645108</c:v>
                </c:pt>
                <c:pt idx="98">
                  <c:v>80.88569347</c:v>
                </c:pt>
                <c:pt idx="99">
                  <c:v>82.4715927</c:v>
                </c:pt>
                <c:pt idx="100">
                  <c:v>77.57096407</c:v>
                </c:pt>
                <c:pt idx="101">
                  <c:v>83.44758637</c:v>
                </c:pt>
                <c:pt idx="102">
                  <c:v>81.74576697</c:v>
                </c:pt>
                <c:pt idx="103">
                  <c:v>84.39745491</c:v>
                </c:pt>
                <c:pt idx="104">
                  <c:v>79.14041367</c:v>
                </c:pt>
                <c:pt idx="105">
                  <c:v>82.07449335</c:v>
                </c:pt>
                <c:pt idx="106">
                  <c:v>75.87934916</c:v>
                </c:pt>
                <c:pt idx="107">
                  <c:v>72.3903468</c:v>
                </c:pt>
                <c:pt idx="108">
                  <c:v>78.70815885</c:v>
                </c:pt>
                <c:pt idx="109">
                  <c:v>74.87287918</c:v>
                </c:pt>
                <c:pt idx="110">
                  <c:v>80.95994333</c:v>
                </c:pt>
                <c:pt idx="111">
                  <c:v>77.19417976</c:v>
                </c:pt>
                <c:pt idx="112">
                  <c:v>84.77278083</c:v>
                </c:pt>
                <c:pt idx="113">
                  <c:v>83.29517715</c:v>
                </c:pt>
                <c:pt idx="114">
                  <c:v>82.82077776</c:v>
                </c:pt>
                <c:pt idx="115">
                  <c:v>79.84871625</c:v>
                </c:pt>
                <c:pt idx="116">
                  <c:v>82.94001037</c:v>
                </c:pt>
                <c:pt idx="117">
                  <c:v>75.8139857</c:v>
                </c:pt>
                <c:pt idx="118">
                  <c:v>79.59454418</c:v>
                </c:pt>
                <c:pt idx="119">
                  <c:v>75.4450972</c:v>
                </c:pt>
                <c:pt idx="120">
                  <c:v>85.16417779</c:v>
                </c:pt>
                <c:pt idx="121">
                  <c:v>85.46594475</c:v>
                </c:pt>
                <c:pt idx="122">
                  <c:v>79.37593746</c:v>
                </c:pt>
                <c:pt idx="123">
                  <c:v>84.29363958</c:v>
                </c:pt>
                <c:pt idx="124">
                  <c:v>82.61277645</c:v>
                </c:pt>
                <c:pt idx="125">
                  <c:v>80.68670082</c:v>
                </c:pt>
                <c:pt idx="126">
                  <c:v>79.13765355</c:v>
                </c:pt>
                <c:pt idx="127">
                  <c:v>81.96168698</c:v>
                </c:pt>
                <c:pt idx="128">
                  <c:v>79.80029795</c:v>
                </c:pt>
                <c:pt idx="129">
                  <c:v>74.89384531</c:v>
                </c:pt>
                <c:pt idx="130">
                  <c:v>74.14487391</c:v>
                </c:pt>
                <c:pt idx="131">
                  <c:v>79.93625194</c:v>
                </c:pt>
                <c:pt idx="132">
                  <c:v>83.0906488</c:v>
                </c:pt>
                <c:pt idx="133">
                  <c:v>80.63472083</c:v>
                </c:pt>
                <c:pt idx="134">
                  <c:v>79.04607231</c:v>
                </c:pt>
                <c:pt idx="135">
                  <c:v>74.9663677</c:v>
                </c:pt>
                <c:pt idx="136">
                  <c:v>70.72836113</c:v>
                </c:pt>
                <c:pt idx="137">
                  <c:v>80.35329791</c:v>
                </c:pt>
                <c:pt idx="138">
                  <c:v>81.89808386</c:v>
                </c:pt>
                <c:pt idx="139">
                  <c:v>72.74735084</c:v>
                </c:pt>
                <c:pt idx="140">
                  <c:v>80.61303171</c:v>
                </c:pt>
                <c:pt idx="141">
                  <c:v>76.41371433</c:v>
                </c:pt>
                <c:pt idx="142">
                  <c:v>68.0697702</c:v>
                </c:pt>
                <c:pt idx="143">
                  <c:v>81.88566445</c:v>
                </c:pt>
                <c:pt idx="144">
                  <c:v>84.43852876</c:v>
                </c:pt>
                <c:pt idx="145">
                  <c:v>81.85985714</c:v>
                </c:pt>
                <c:pt idx="146">
                  <c:v>82.22831591</c:v>
                </c:pt>
                <c:pt idx="147">
                  <c:v>74.54020269</c:v>
                </c:pt>
                <c:pt idx="148">
                  <c:v>82.57178243</c:v>
                </c:pt>
                <c:pt idx="149">
                  <c:v>82.12384271</c:v>
                </c:pt>
                <c:pt idx="150">
                  <c:v>73.81847308</c:v>
                </c:pt>
                <c:pt idx="151">
                  <c:v>84.00465963</c:v>
                </c:pt>
                <c:pt idx="152">
                  <c:v>81.15006036</c:v>
                </c:pt>
                <c:pt idx="153">
                  <c:v>79.34251381</c:v>
                </c:pt>
                <c:pt idx="154">
                  <c:v>84.30834366</c:v>
                </c:pt>
                <c:pt idx="155">
                  <c:v>82.30210468</c:v>
                </c:pt>
                <c:pt idx="156">
                  <c:v>83.14741863</c:v>
                </c:pt>
                <c:pt idx="157">
                  <c:v>79.85727059</c:v>
                </c:pt>
                <c:pt idx="158">
                  <c:v>81.3132649</c:v>
                </c:pt>
                <c:pt idx="159">
                  <c:v>83.57017637</c:v>
                </c:pt>
                <c:pt idx="160">
                  <c:v>78.0618558</c:v>
                </c:pt>
                <c:pt idx="161">
                  <c:v>80.20477083</c:v>
                </c:pt>
                <c:pt idx="162">
                  <c:v>78.75350398</c:v>
                </c:pt>
                <c:pt idx="163">
                  <c:v>79.92689278</c:v>
                </c:pt>
                <c:pt idx="164">
                  <c:v>69.20618721</c:v>
                </c:pt>
                <c:pt idx="165">
                  <c:v>81.79503857</c:v>
                </c:pt>
                <c:pt idx="166">
                  <c:v>80.32213844</c:v>
                </c:pt>
                <c:pt idx="167">
                  <c:v>77.53942523</c:v>
                </c:pt>
                <c:pt idx="168">
                  <c:v>76.39491831</c:v>
                </c:pt>
                <c:pt idx="169">
                  <c:v>84.27731067</c:v>
                </c:pt>
                <c:pt idx="170">
                  <c:v>82.0847871</c:v>
                </c:pt>
                <c:pt idx="171">
                  <c:v>72.08677209</c:v>
                </c:pt>
                <c:pt idx="172">
                  <c:v>76.22780631</c:v>
                </c:pt>
                <c:pt idx="173">
                  <c:v>79.57386951</c:v>
                </c:pt>
                <c:pt idx="174">
                  <c:v>80.29236905</c:v>
                </c:pt>
                <c:pt idx="175">
                  <c:v>78.69530012</c:v>
                </c:pt>
                <c:pt idx="176">
                  <c:v>78.53034338</c:v>
                </c:pt>
                <c:pt idx="177">
                  <c:v>84.22031503</c:v>
                </c:pt>
                <c:pt idx="178">
                  <c:v>82.36620303</c:v>
                </c:pt>
                <c:pt idx="179">
                  <c:v>79.92195153</c:v>
                </c:pt>
                <c:pt idx="180">
                  <c:v>66.98896647</c:v>
                </c:pt>
                <c:pt idx="181">
                  <c:v>82.3046703</c:v>
                </c:pt>
                <c:pt idx="182">
                  <c:v>78.86789529</c:v>
                </c:pt>
                <c:pt idx="183">
                  <c:v>79.15956693</c:v>
                </c:pt>
                <c:pt idx="184">
                  <c:v>83.42238482</c:v>
                </c:pt>
                <c:pt idx="185">
                  <c:v>77.39222565</c:v>
                </c:pt>
                <c:pt idx="186">
                  <c:v>84.96262972</c:v>
                </c:pt>
                <c:pt idx="187">
                  <c:v>84.23558534</c:v>
                </c:pt>
                <c:pt idx="188">
                  <c:v>63.87030577</c:v>
                </c:pt>
                <c:pt idx="189">
                  <c:v>84.97009454</c:v>
                </c:pt>
                <c:pt idx="190">
                  <c:v>83.26982374</c:v>
                </c:pt>
                <c:pt idx="191">
                  <c:v>78.82469293</c:v>
                </c:pt>
                <c:pt idx="192">
                  <c:v>82.13461281</c:v>
                </c:pt>
                <c:pt idx="193">
                  <c:v>77.34204199</c:v>
                </c:pt>
                <c:pt idx="194">
                  <c:v>81.41837522</c:v>
                </c:pt>
                <c:pt idx="195">
                  <c:v>83.06013667</c:v>
                </c:pt>
                <c:pt idx="196">
                  <c:v>77.42009421</c:v>
                </c:pt>
                <c:pt idx="197">
                  <c:v>77.2494955</c:v>
                </c:pt>
                <c:pt idx="198">
                  <c:v>84.09792207</c:v>
                </c:pt>
                <c:pt idx="199">
                  <c:v>79.84113041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3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Within-state AUROC</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800">
                        <a:latin typeface="Arial"/>
                        <a:ea typeface="Arial"/>
                        <a:cs typeface="Arial"/>
                      </a:rPr>
                      <a:t>0.529</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latin typeface="Arial"/>
                        <a:ea typeface="Arial"/>
                        <a:cs typeface="Arial"/>
                      </a:rPr>
                      <a:t>0.566</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latin typeface="Arial"/>
                        <a:ea typeface="Arial"/>
                        <a:cs typeface="Arial"/>
                      </a:rPr>
                      <a:t>0.513</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a:latin typeface="Arial"/>
                        <a:ea typeface="Arial"/>
                        <a:cs typeface="Arial"/>
                      </a:rPr>
                      <a:t>0.500</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BCA width</c:v>
                </c:pt>
                <c:pt idx="1">
                  <c:v>Support distance</c:v>
                </c:pt>
                <c:pt idx="2">
                  <c:v>Fixed random</c:v>
                </c:pt>
                <c:pt idx="3">
                  <c:v>Constant</c:v>
                </c:pt>
              </c:strCache>
            </c:strRef>
          </c:cat>
          <c:val>
            <c:numRef>
              <c:f>'Chart Data'!$B$2:$B$5</c:f>
              <c:numCache>
                <c:formatCode>0.00</c:formatCode>
                <c:ptCount val="4"/>
                <c:pt idx="0">
                  <c:v>0.529327</c:v>
                </c:pt>
                <c:pt idx="1">
                  <c:v>0.565805</c:v>
                </c:pt>
                <c:pt idx="2">
                  <c:v>0.513251</c:v>
                </c:pt>
                <c:pt idx="3">
                  <c:v>0.5</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Coverage</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800">
                        <a:latin typeface="Arial"/>
                        <a:ea typeface="Arial"/>
                        <a:cs typeface="Arial"/>
                      </a:rPr>
                      <a:t>91.00%</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latin typeface="Arial"/>
                        <a:ea typeface="Arial"/>
                        <a:cs typeface="Arial"/>
                      </a:rPr>
                      <a:t>61.05%</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latin typeface="Arial"/>
                        <a:ea typeface="Arial"/>
                        <a:cs typeface="Arial"/>
                      </a:rPr>
                      <a:t>90.70%</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a:latin typeface="Arial"/>
                        <a:ea typeface="Arial"/>
                        <a:cs typeface="Arial"/>
                      </a:rPr>
                      <a:t>93.95%</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Source ordinary</c:v>
                </c:pt>
                <c:pt idx="1">
                  <c:v>Shift ordinary</c:v>
                </c:pt>
                <c:pt idx="2">
                  <c:v>Shift weighted</c:v>
                </c:pt>
                <c:pt idx="3">
                  <c:v>Shift weighted + Bayes</c:v>
                </c:pt>
              </c:strCache>
            </c:strRef>
          </c:cat>
          <c:val>
            <c:numRef>
              <c:f>'Chart Data'!$B$2:$B$5</c:f>
              <c:numCache>
                <c:formatCode>0%</c:formatCode>
                <c:ptCount val="4"/>
                <c:pt idx="0">
                  <c:v>0.91</c:v>
                </c:pt>
                <c:pt idx="1">
                  <c:v>0.6105</c:v>
                </c:pt>
                <c:pt idx="2">
                  <c:v>0.907</c:v>
                </c:pt>
                <c:pt idx="3">
                  <c:v>0.9395</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D6C372-6BD7-4C67-80FE-A70CB80D67A0}"/>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1EF370-C158-49A0-BB78-4A25C9E88316}"/>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BCA experiment update</a:t>
            </a:r>
          </a:p>
        </p:txBody>
      </p:sp>
      <p:sp>
        <p:nvSpPr>
          <p:cNvPr id="3" name="">
            <a:extLst xmlns:a="http://schemas.openxmlformats.org/drawingml/2006/main">
              <a:ext uri="{FF2B5EF4-FFF2-40B4-BE49-F238E27FC236}">
                <a16:creationId xmlns:a16="http://schemas.microsoft.com/office/drawing/2014/main" id="{E1DAC49A-012B-4D20-8FEA-42E67E0AF0D5}"/>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Snapshot: September 28, 2026, 11:46 p.m. EDT</a:t>
            </a:r>
          </a:p>
        </p:txBody>
      </p:sp>
      <p:sp>
        <p:nvSpPr>
          <p:cNvPr id="4" name="">
            <a:extLst xmlns:a="http://schemas.openxmlformats.org/drawingml/2006/main">
              <a:ext uri="{FF2B5EF4-FFF2-40B4-BE49-F238E27FC236}">
                <a16:creationId xmlns:a16="http://schemas.microsoft.com/office/drawing/2014/main" id="{A58FDCCA-60B8-4D0F-899D-07B181B5747C}"/>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9BF70C6A-36E2-405B-90DC-842ABA59F88E}"/>
              </a:ext>
            </a:extLst>
          </p:cNvPr>
          <p:cNvSpPr>
            <a:spLocks xmlns:a="http://schemas.openxmlformats.org/drawingml/2006/main" noGrp="1"/>
          </p:cNvSpPr>
          <p:nvPr/>
        </p:nvSpPr>
        <p:spPr>
          <a:xfrm xmlns:a="http://schemas.openxmlformats.org/drawingml/2006/main">
            <a:off x="609600" y="16668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75" b="1">
                <a:solidFill>
                  <a:srgbClr val="20365C"/>
                </a:solidFill>
                <a:latin typeface="Arial"/>
                <a:ea typeface="Arial"/>
                <a:cs typeface="Arial"/>
              </a:defRPr>
            </a:pPr>
            <a:r>
              <a:rPr sz="3675" b="1">
                <a:solidFill>
                  <a:srgbClr val="20365C"/>
                </a:solidFill>
                <a:latin typeface="Arial"/>
                <a:ea typeface="Arial"/>
                <a:cs typeface="Arial"/>
              </a:rPr>
              <a:t>More training evidence. One completed OOD seed.</a:t>
            </a:r>
          </a:p>
        </p:txBody>
      </p:sp>
      <p:sp>
        <p:nvSpPr>
          <p:cNvPr id="6" name="">
            <a:extLst xmlns:a="http://schemas.openxmlformats.org/drawingml/2006/main">
              <a:ext uri="{FF2B5EF4-FFF2-40B4-BE49-F238E27FC236}">
                <a16:creationId xmlns:a16="http://schemas.microsoft.com/office/drawing/2014/main" id="{6E0A1DA7-7EB8-4BB9-AA9A-3552D6CA8210}"/>
              </a:ext>
            </a:extLst>
          </p:cNvPr>
          <p:cNvSpPr>
            <a:spLocks xmlns:a="http://schemas.openxmlformats.org/drawingml/2006/main" noGrp="1"/>
          </p:cNvSpPr>
          <p:nvPr/>
        </p:nvSpPr>
        <p:spPr>
          <a:xfrm xmlns:a="http://schemas.openxmlformats.org/drawingml/2006/main">
            <a:off x="742950" y="3143250"/>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64 / 140 cluster training runs have successful exit receipts.</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14 / 280 physical runs are independently accepted: seven pairs.</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First Hopper OOD result does not yet demonstrate a BCA benefit.</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Weighted-conformal correction passes synthetic validation only.</a:t>
            </a:r>
          </a:p>
        </p:txBody>
      </p:sp>
    </p:spTree>
    <p:extLst>
      <p:ext uri="{BB962C8B-B14F-4D97-AF65-F5344CB8AC3E}">
        <p14:creationId xmlns:p14="http://schemas.microsoft.com/office/powerpoint/2010/main" val="3139754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303EFB-5A87-4685-B185-1DA54B984F52}"/>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FF6371-4490-444D-B7F1-C3ADC70D6DA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Research objective and motivation</a:t>
            </a:r>
          </a:p>
        </p:txBody>
      </p:sp>
      <p:sp>
        <p:nvSpPr>
          <p:cNvPr id="3" name="">
            <a:extLst xmlns:a="http://schemas.openxmlformats.org/drawingml/2006/main">
              <a:ext uri="{FF2B5EF4-FFF2-40B4-BE49-F238E27FC236}">
                <a16:creationId xmlns:a16="http://schemas.microsoft.com/office/drawing/2014/main" id="{B0E8A9E2-0C3B-4EEA-B470-EC0857013072}"/>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39990F2-E896-4800-8727-44C20C9C6B3C}"/>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92878FE4-AD19-46ED-8881-7C33D2C52303}"/>
              </a:ext>
            </a:extLst>
          </p:cNvPr>
          <p:cNvSpPr>
            <a:spLocks xmlns:a="http://schemas.openxmlformats.org/drawingml/2006/main" noGrp="1"/>
          </p:cNvSpPr>
          <p:nvPr/>
        </p:nvSpPr>
        <p:spPr>
          <a:xfrm xmlns:a="http://schemas.openxmlformats.org/drawingml/2006/main">
            <a:off x="590550" y="1438275"/>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20365C"/>
                </a:solidFill>
                <a:latin typeface="Arial"/>
                <a:ea typeface="Arial"/>
                <a:cs typeface="Arial"/>
              </a:defRPr>
            </a:pPr>
            <a:r>
              <a:rPr sz="2700" b="1">
                <a:solidFill>
                  <a:srgbClr val="20365C"/>
                </a:solidFill>
                <a:latin typeface="Arial"/>
                <a:ea typeface="Arial"/>
                <a:cs typeface="Arial"/>
              </a:rPr>
              <a:t>Does BCA improve decisions involving poorly represented actions?</a:t>
            </a:r>
          </a:p>
        </p:txBody>
      </p:sp>
      <p:sp>
        <p:nvSpPr>
          <p:cNvPr id="6" name="">
            <a:extLst xmlns:a="http://schemas.openxmlformats.org/drawingml/2006/main">
              <a:ext uri="{FF2B5EF4-FFF2-40B4-BE49-F238E27FC236}">
                <a16:creationId xmlns:a16="http://schemas.microsoft.com/office/drawing/2014/main" id="{A151FDD9-E335-4C06-9027-686E6B863B45}"/>
              </a:ext>
            </a:extLst>
          </p:cNvPr>
          <p:cNvSpPr>
            <a:spLocks xmlns:a="http://schemas.openxmlformats.org/drawingml/2006/main" noGrp="1"/>
          </p:cNvSpPr>
          <p:nvPr/>
        </p:nvSpPr>
        <p:spPr>
          <a:xfrm xmlns:a="http://schemas.openxmlformats.org/drawingml/2006/main">
            <a:off x="685800" y="2619375"/>
            <a:ext cx="10763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Training curves alone cannot explain how the policy handles an unfamiliar action.</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We test whether larger BCA widths identify actions that actually reduce return.</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We also test whether a BCA-trained policy behaves better after the same imposed action.</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The result identifies which part works, which part fails, and what a justified change should address.</a:t>
            </a:r>
          </a:p>
        </p:txBody>
      </p:sp>
    </p:spTree>
    <p:extLst>
      <p:ext uri="{BB962C8B-B14F-4D97-AF65-F5344CB8AC3E}">
        <p14:creationId xmlns:p14="http://schemas.microsoft.com/office/powerpoint/2010/main" val="290229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33A5AB-20BC-4B2E-BDAC-D3F329B8049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3A0F78-2211-4A48-A972-C755F0AC50A2}"/>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Current comparison and scope</a:t>
            </a:r>
          </a:p>
        </p:txBody>
      </p:sp>
      <p:sp>
        <p:nvSpPr>
          <p:cNvPr id="3" name="">
            <a:extLst xmlns:a="http://schemas.openxmlformats.org/drawingml/2006/main">
              <a:ext uri="{FF2B5EF4-FFF2-40B4-BE49-F238E27FC236}">
                <a16:creationId xmlns:a16="http://schemas.microsoft.com/office/drawing/2014/main" id="{4FA6A269-E83D-44B3-84D1-0691644E3A1B}"/>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Coverage and penalty settings remain unchanged. IW is a separate later comparison.</a:t>
            </a:r>
          </a:p>
        </p:txBody>
      </p:sp>
      <p:sp>
        <p:nvSpPr>
          <p:cNvPr id="4" name="">
            <a:extLst xmlns:a="http://schemas.openxmlformats.org/drawingml/2006/main">
              <a:ext uri="{FF2B5EF4-FFF2-40B4-BE49-F238E27FC236}">
                <a16:creationId xmlns:a16="http://schemas.microsoft.com/office/drawing/2014/main" id="{2498E7AE-311B-4F62-A974-71115B93F09E}"/>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3</a:t>
            </a:r>
          </a:p>
        </p:txBody>
      </p:sp>
      <p:graphicFrame>
        <p:nvGraphicFramePr>
          <p:cNvPr id="10" name=""/>
          <p:cNvGraphicFramePr/>
          <p:nvPr/>
        </p:nvGraphicFramePr>
        <p:xfrm>
          <a:off xmlns:a="http://schemas.openxmlformats.org/drawingml/2006/main" x="495300" y="1562100"/>
          <a:ext xmlns:a="http://schemas.openxmlformats.org/drawingml/2006/main" cx="11201400" cy="4133850"/>
        </p:xfrm>
        <a:graphic xmlns:a="http://schemas.openxmlformats.org/drawingml/2006/main">
          <a:graphicData uri="http://schemas.openxmlformats.org/drawingml/2006/table">
            <a:tbl>
              <a:tblPr/>
              <a:tblGrid>
                <a:gridCol w="2571750"/>
                <a:gridCol w="8629650"/>
              </a:tblGrid>
              <a:tr h="590550">
                <a:tc>
                  <a:txBody>
                    <a:bodyPr>
                      <a:noAutofit/>
                    </a:bodyPr>
                    <a:lstStyle/>
                    <a:p>
                      <a:r>
                        <a:rPr sz="1800" b="1">
                          <a:solidFill>
                            <a:srgbClr val="FFFFFF"/>
                          </a:solidFill>
                          <a:latin typeface="Arial"/>
                          <a:ea typeface="Arial"/>
                          <a:cs typeface="Arial"/>
                        </a:rPr>
                        <a:t>Design choice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Current specification</a:t>
                      </a:r>
                    </a:p>
                  </a:txBody>
                  <a:tcPr marL="114300" marR="95250" marT="76200" marB="66675" anchor="ctr">
                    <a:solidFill>
                      <a:srgbClr val="20365C"/>
                    </a:solidFill>
                  </a:tcPr>
                </a:tc>
              </a:tr>
              <a:tr h="590550">
                <a:tc>
                  <a:txBody>
                    <a:bodyPr>
                      <a:noAutofit/>
                    </a:bodyPr>
                    <a:lstStyle/>
                    <a:p>
                      <a:r>
                        <a:rPr sz="1800" b="0">
                          <a:solidFill>
                            <a:srgbClr val="192737"/>
                          </a:solidFill>
                          <a:latin typeface="Arial"/>
                          <a:ea typeface="Arial"/>
                          <a:cs typeface="Arial"/>
                        </a:rPr>
                        <a:t>Hosts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TD3+BC, ReBRAC, CQL and IQL</a:t>
                      </a:r>
                    </a:p>
                  </a:txBody>
                  <a:tcPr marL="114300" marR="95250" marT="76200" marB="66675" anchor="ctr">
                    <a:solidFill>
                      <a:srgbClr val="FFFFFF"/>
                    </a:solidFill>
                  </a:tcPr>
                </a:tc>
              </a:tr>
              <a:tr h="590550">
                <a:tc>
                  <a:txBody>
                    <a:bodyPr>
                      <a:noAutofit/>
                    </a:bodyPr>
                    <a:lstStyle/>
                    <a:p>
                      <a:r>
                        <a:rPr sz="1800" b="0">
                          <a:solidFill>
                            <a:srgbClr val="192737"/>
                          </a:solidFill>
                          <a:latin typeface="Arial"/>
                          <a:ea typeface="Arial"/>
                          <a:cs typeface="Arial"/>
                        </a:rPr>
                        <a:t>Datasets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Hopper, Walker2d, HalfCheetah, Maze2d; Pen human, cloned, expert</a:t>
                      </a:r>
                    </a:p>
                  </a:txBody>
                  <a:tcPr marL="114300" marR="95250" marT="76200" marB="66675" anchor="ctr">
                    <a:solidFill>
                      <a:srgbClr val="F1F4F8"/>
                    </a:solidFill>
                  </a:tcPr>
                </a:tc>
              </a:tr>
              <a:tr h="590550">
                <a:tc>
                  <a:txBody>
                    <a:bodyPr>
                      <a:noAutofit/>
                    </a:bodyPr>
                    <a:lstStyle/>
                    <a:p>
                      <a:r>
                        <a:rPr sz="1800" b="0">
                          <a:solidFill>
                            <a:srgbClr val="192737"/>
                          </a:solidFill>
                          <a:latin typeface="Arial"/>
                          <a:ea typeface="Arial"/>
                          <a:cs typeface="Arial"/>
                        </a:rPr>
                        <a:t>Arms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Plain host versus standard BCA without fitting IW</a:t>
                      </a:r>
                    </a:p>
                  </a:txBody>
                  <a:tcPr marL="114300" marR="95250" marT="76200" marB="66675" anchor="ctr">
                    <a:solidFill>
                      <a:srgbClr val="FFFFFF"/>
                    </a:solidFill>
                  </a:tcPr>
                </a:tc>
              </a:tr>
              <a:tr h="590550">
                <a:tc>
                  <a:txBody>
                    <a:bodyPr>
                      <a:noAutofit/>
                    </a:bodyPr>
                    <a:lstStyle/>
                    <a:p>
                      <a:r>
                        <a:rPr sz="1800" b="0">
                          <a:solidFill>
                            <a:srgbClr val="192737"/>
                          </a:solidFill>
                          <a:latin typeface="Arial"/>
                          <a:ea typeface="Arial"/>
                          <a:cs typeface="Arial"/>
                        </a:rPr>
                        <a:t>Budget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1,000,000 host updates per run; 500,000 delayed actor updates for TD3/ReBRAC</a:t>
                      </a:r>
                    </a:p>
                  </a:txBody>
                  <a:tcPr marL="114300" marR="95250" marT="76200" marB="66675" anchor="ctr">
                    <a:solidFill>
                      <a:srgbClr val="F1F4F8"/>
                    </a:solidFill>
                  </a:tcPr>
                </a:tc>
              </a:tr>
              <a:tr h="590550">
                <a:tc>
                  <a:txBody>
                    <a:bodyPr>
                      <a:noAutofit/>
                    </a:bodyPr>
                    <a:lstStyle/>
                    <a:p>
                      <a:r>
                        <a:rPr sz="1800" b="0">
                          <a:solidFill>
                            <a:srgbClr val="192737"/>
                          </a:solidFill>
                          <a:latin typeface="Arial"/>
                          <a:ea typeface="Arial"/>
                          <a:cs typeface="Arial"/>
                        </a:rPr>
                        <a:t>Replication</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Five declared seeds per host/dataset comparison</a:t>
                      </a:r>
                    </a:p>
                  </a:txBody>
                  <a:tcPr marL="114300" marR="95250" marT="76200" marB="66675" anchor="ctr">
                    <a:solidFill>
                      <a:srgbClr val="FFFFFF"/>
                    </a:solidFill>
                  </a:tcPr>
                </a:tc>
              </a:tr>
              <a:tr h="590550">
                <a:tc>
                  <a:txBody>
                    <a:bodyPr>
                      <a:noAutofit/>
                    </a:bodyPr>
                    <a:lstStyle/>
                    <a:p>
                      <a:r>
                        <a:rPr sz="1800" b="0">
                          <a:solidFill>
                            <a:srgbClr val="192737"/>
                          </a:solidFill>
                          <a:latin typeface="Arial"/>
                          <a:ea typeface="Arial"/>
                          <a:cs typeface="Arial"/>
                        </a:rPr>
                        <a:t>Evaluation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200 periodic banks × 10 episodes; separate final bank × 20 episodes</a:t>
                      </a:r>
                    </a:p>
                  </a:txBody>
                  <a:tcPr marL="114300" marR="95250" marT="76200" marB="66675" anchor="ctr">
                    <a:solidFill>
                      <a:srgbClr val="F1F4F8"/>
                    </a:solidFill>
                  </a:tcPr>
                </a:tc>
              </a:tr>
            </a:tbl>
          </a:graphicData>
        </a:graphic>
      </p:graphicFrame>
    </p:spTree>
    <p:extLst>
      <p:ext uri="{BB962C8B-B14F-4D97-AF65-F5344CB8AC3E}">
        <p14:creationId xmlns:p14="http://schemas.microsoft.com/office/powerpoint/2010/main" val="2117683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223750-6932-4472-B8FA-9EF45175104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540F49-858E-4DE6-936A-7BB9149353D8}"/>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The OOD action experiment</a:t>
            </a:r>
          </a:p>
        </p:txBody>
      </p:sp>
      <p:sp>
        <p:nvSpPr>
          <p:cNvPr id="3" name="">
            <a:extLst xmlns:a="http://schemas.openxmlformats.org/drawingml/2006/main">
              <a:ext uri="{FF2B5EF4-FFF2-40B4-BE49-F238E27FC236}">
                <a16:creationId xmlns:a16="http://schemas.microsoft.com/office/drawing/2014/main" id="{409E9ACB-A7F8-421A-A9CA-838C5F8200A0}"/>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Frozen policy and calibrator throughout the OOD rollout. Up to 250 total transitions.</a:t>
            </a:r>
          </a:p>
        </p:txBody>
      </p:sp>
      <p:sp>
        <p:nvSpPr>
          <p:cNvPr id="4" name="">
            <a:extLst xmlns:a="http://schemas.openxmlformats.org/drawingml/2006/main">
              <a:ext uri="{FF2B5EF4-FFF2-40B4-BE49-F238E27FC236}">
                <a16:creationId xmlns:a16="http://schemas.microsoft.com/office/drawing/2014/main" id="{3A74DEF9-9E31-414B-BA8C-DFF4AA0146C4}"/>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4</a:t>
            </a:r>
          </a:p>
        </p:txBody>
      </p:sp>
      <p:graphicFrame>
        <p:nvGraphicFramePr>
          <p:cNvPr id="10" name=""/>
          <p:cNvGraphicFramePr/>
          <p:nvPr/>
        </p:nvGraphicFramePr>
        <p:xfrm>
          <a:off xmlns:a="http://schemas.openxmlformats.org/drawingml/2006/main" x="495300" y="1562100"/>
          <a:ext xmlns:a="http://schemas.openxmlformats.org/drawingml/2006/main" cx="11201400" cy="4333875"/>
        </p:xfrm>
        <a:graphic xmlns:a="http://schemas.openxmlformats.org/drawingml/2006/main">
          <a:graphicData uri="http://schemas.openxmlformats.org/drawingml/2006/table">
            <a:tbl>
              <a:tblPr/>
              <a:tblGrid>
                <a:gridCol w="2076450"/>
                <a:gridCol w="4524375"/>
                <a:gridCol w="4600575"/>
              </a:tblGrid>
              <a:tr h="619125">
                <a:tc>
                  <a:txBody>
                    <a:bodyPr>
                      <a:noAutofit/>
                    </a:bodyPr>
                    <a:lstStyle/>
                    <a:p>
                      <a:r>
                        <a:rPr sz="1725" b="1">
                          <a:solidFill>
                            <a:srgbClr val="FFFFFF"/>
                          </a:solidFill>
                          <a:latin typeface="Arial"/>
                          <a:ea typeface="Arial"/>
                          <a:cs typeface="Arial"/>
                        </a:rPr>
                        <a:t>Step</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What happens</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Why it matters</a:t>
                      </a:r>
                    </a:p>
                  </a:txBody>
                  <a:tcPr marL="114300" marR="95250" marT="76200" marB="66675" anchor="ctr">
                    <a:solidFill>
                      <a:srgbClr val="20365C"/>
                    </a:solidFill>
                  </a:tcPr>
                </a:tc>
              </a:tr>
              <a:tr h="619125">
                <a:tc>
                  <a:txBody>
                    <a:bodyPr>
                      <a:noAutofit/>
                    </a:bodyPr>
                    <a:lstStyle/>
                    <a:p>
                      <a:r>
                        <a:rPr sz="1725" b="0">
                          <a:solidFill>
                            <a:srgbClr val="192737"/>
                          </a:solidFill>
                          <a:latin typeface="Arial"/>
                          <a:ea typeface="Arial"/>
                          <a:cs typeface="Arial"/>
                        </a:rPr>
                        <a:t>1. Train and freeze</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Accept each host/BCA checkpoint</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Keeps training changes separate from testing</a:t>
                      </a:r>
                    </a:p>
                  </a:txBody>
                  <a:tcPr marL="114300" marR="95250" marT="76200" marB="66675" anchor="ctr">
                    <a:solidFill>
                      <a:srgbClr val="FFFFFF"/>
                    </a:solidFill>
                  </a:tcPr>
                </a:tc>
              </a:tr>
              <a:tr h="619125">
                <a:tc>
                  <a:txBody>
                    <a:bodyPr>
                      <a:noAutofit/>
                    </a:bodyPr>
                    <a:lstStyle/>
                    <a:p>
                      <a:r>
                        <a:rPr sz="1725" b="0">
                          <a:solidFill>
                            <a:srgbClr val="192737"/>
                          </a:solidFill>
                          <a:latin typeface="Arial"/>
                          <a:ea typeface="Arial"/>
                          <a:cs typeface="Arial"/>
                        </a:rPr>
                        <a:t>2. Capture states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Save visits from both policies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Avoids testing only one policy’s situations</a:t>
                      </a:r>
                    </a:p>
                  </a:txBody>
                  <a:tcPr marL="114300" marR="95250" marT="76200" marB="66675" anchor="ctr">
                    <a:solidFill>
                      <a:srgbClr val="F1F4F8"/>
                    </a:solidFill>
                  </a:tcPr>
                </a:tc>
              </a:tr>
              <a:tr h="619125">
                <a:tc>
                  <a:txBody>
                    <a:bodyPr>
                      <a:noAutofit/>
                    </a:bodyPr>
                    <a:lstStyle/>
                    <a:p>
                      <a:r>
                        <a:rPr sz="1725" b="0">
                          <a:solidFill>
                            <a:srgbClr val="192737"/>
                          </a:solidFill>
                          <a:latin typeface="Arial"/>
                          <a:ea typeface="Arial"/>
                          <a:cs typeface="Arial"/>
                        </a:rPr>
                        <a:t>3. Precommit actions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Record candidates, width and random streams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Prevents choosing tests after seeing results</a:t>
                      </a:r>
                    </a:p>
                  </a:txBody>
                  <a:tcPr marL="114300" marR="95250" marT="76200" marB="66675" anchor="ctr">
                    <a:solidFill>
                      <a:srgbClr val="FFFFFF"/>
                    </a:solidFill>
                  </a:tcPr>
                </a:tc>
              </a:tr>
              <a:tr h="619125">
                <a:tc>
                  <a:txBody>
                    <a:bodyPr>
                      <a:noAutofit/>
                    </a:bodyPr>
                    <a:lstStyle/>
                    <a:p>
                      <a:r>
                        <a:rPr sz="1725" b="0">
                          <a:solidFill>
                            <a:srgbClr val="192737"/>
                          </a:solidFill>
                          <a:latin typeface="Arial"/>
                          <a:ea typeface="Arial"/>
                          <a:cs typeface="Arial"/>
                        </a:rPr>
                        <a:t>4. Impose an action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Restore the exact same simulator state</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Makes the initial situation comparable</a:t>
                      </a:r>
                    </a:p>
                  </a:txBody>
                  <a:tcPr marL="114300" marR="95250" marT="76200" marB="66675" anchor="ctr">
                    <a:solidFill>
                      <a:srgbClr val="F1F4F8"/>
                    </a:solidFill>
                  </a:tcPr>
                </a:tc>
              </a:tr>
              <a:tr h="619125">
                <a:tc>
                  <a:txBody>
                    <a:bodyPr>
                      <a:noAutofit/>
                    </a:bodyPr>
                    <a:lstStyle/>
                    <a:p>
                      <a:r>
                        <a:rPr sz="1725" b="0">
                          <a:solidFill>
                            <a:srgbClr val="192737"/>
                          </a:solidFill>
                          <a:latin typeface="Arial"/>
                          <a:ea typeface="Arial"/>
                          <a:cs typeface="Arial"/>
                        </a:rPr>
                        <a:t>5. Continue both policies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Measure return after the same first action</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Tests behavior after action stress</a:t>
                      </a:r>
                    </a:p>
                  </a:txBody>
                  <a:tcPr marL="114300" marR="95250" marT="76200" marB="66675" anchor="ctr">
                    <a:solidFill>
                      <a:srgbClr val="FFFFFF"/>
                    </a:solidFill>
                  </a:tcPr>
                </a:tc>
              </a:tr>
              <a:tr h="619125">
                <a:tc>
                  <a:txBody>
                    <a:bodyPr>
                      <a:noAutofit/>
                    </a:bodyPr>
                    <a:lstStyle/>
                    <a:p>
                      <a:r>
                        <a:rPr sz="1725" b="0">
                          <a:solidFill>
                            <a:srgbClr val="192737"/>
                          </a:solidFill>
                          <a:latin typeface="Arial"/>
                          <a:ea typeface="Arial"/>
                          <a:cs typeface="Arial"/>
                        </a:rPr>
                        <a:t>6. Compare and replicate</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Report harm, support, regret and all seeds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Separates warning quality from policy benefit</a:t>
                      </a:r>
                    </a:p>
                  </a:txBody>
                  <a:tcPr marL="114300" marR="95250" marT="76200" marB="66675" anchor="ctr">
                    <a:solidFill>
                      <a:srgbClr val="F1F4F8"/>
                    </a:solidFill>
                  </a:tcPr>
                </a:tc>
              </a:tr>
            </a:tbl>
          </a:graphicData>
        </a:graphic>
      </p:graphicFrame>
    </p:spTree>
    <p:extLst>
      <p:ext uri="{BB962C8B-B14F-4D97-AF65-F5344CB8AC3E}">
        <p14:creationId xmlns:p14="http://schemas.microsoft.com/office/powerpoint/2010/main" val="893999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6367E0-D4B2-4EB8-8CF4-F120EC8499D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A42838-F451-40FE-A46E-0668297B4D08}"/>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Where BCA enters each host</a:t>
            </a:r>
          </a:p>
        </p:txBody>
      </p:sp>
      <p:sp>
        <p:nvSpPr>
          <p:cNvPr id="3" name="">
            <a:extLst xmlns:a="http://schemas.openxmlformats.org/drawingml/2006/main">
              <a:ext uri="{FF2B5EF4-FFF2-40B4-BE49-F238E27FC236}">
                <a16:creationId xmlns:a16="http://schemas.microsoft.com/office/drawing/2014/main" id="{BB4F5028-C7ED-46D8-A2C7-E68BBEE6B25A}"/>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Calibration uses offline transitions. Ordinary evaluation adds no new BCA learning update.</a:t>
            </a:r>
          </a:p>
        </p:txBody>
      </p:sp>
      <p:sp>
        <p:nvSpPr>
          <p:cNvPr id="4" name="">
            <a:extLst xmlns:a="http://schemas.openxmlformats.org/drawingml/2006/main">
              <a:ext uri="{FF2B5EF4-FFF2-40B4-BE49-F238E27FC236}">
                <a16:creationId xmlns:a16="http://schemas.microsoft.com/office/drawing/2014/main" id="{F7D46638-1E52-463B-981E-286E234B4CC0}"/>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5</a:t>
            </a:r>
          </a:p>
        </p:txBody>
      </p:sp>
      <p:graphicFrame>
        <p:nvGraphicFramePr>
          <p:cNvPr id="11" name=""/>
          <p:cNvGraphicFramePr/>
          <p:nvPr/>
        </p:nvGraphicFramePr>
        <p:xfrm>
          <a:off xmlns:a="http://schemas.openxmlformats.org/drawingml/2006/main" x="495300" y="1562100"/>
          <a:ext xmlns:a="http://schemas.openxmlformats.org/drawingml/2006/main" cx="11201400" cy="3238500"/>
        </p:xfrm>
        <a:graphic xmlns:a="http://schemas.openxmlformats.org/drawingml/2006/main">
          <a:graphicData uri="http://schemas.openxmlformats.org/drawingml/2006/table">
            <a:tbl>
              <a:tblPr/>
              <a:tblGrid>
                <a:gridCol w="1857375"/>
                <a:gridCol w="4886325"/>
                <a:gridCol w="4457700"/>
              </a:tblGrid>
              <a:tr h="647700">
                <a:tc>
                  <a:txBody>
                    <a:bodyPr>
                      <a:noAutofit/>
                    </a:bodyPr>
                    <a:lstStyle/>
                    <a:p>
                      <a:r>
                        <a:rPr sz="1875" b="1">
                          <a:solidFill>
                            <a:srgbClr val="FFFFFF"/>
                          </a:solidFill>
                          <a:latin typeface="Arial"/>
                          <a:ea typeface="Arial"/>
                          <a:cs typeface="Arial"/>
                        </a:rPr>
                        <a:t>Host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BCA training intervention</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Interpretation</a:t>
                      </a:r>
                    </a:p>
                  </a:txBody>
                  <a:tcPr marL="114300" marR="95250" marT="76200" marB="66675" anchor="ctr">
                    <a:solidFill>
                      <a:srgbClr val="20365C"/>
                    </a:solidFill>
                  </a:tcPr>
                </a:tc>
              </a:tr>
              <a:tr h="647700">
                <a:tc>
                  <a:txBody>
                    <a:bodyPr>
                      <a:noAutofit/>
                    </a:bodyPr>
                    <a:lstStyle/>
                    <a:p>
                      <a:r>
                        <a:rPr sz="1875" b="0">
                          <a:solidFill>
                            <a:srgbClr val="192737"/>
                          </a:solidFill>
                          <a:latin typeface="Arial"/>
                          <a:ea typeface="Arial"/>
                          <a:cs typeface="Arial"/>
                        </a:rPr>
                        <a:t>TD3+BC</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Width-dependent actor BC multiplier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Changes pressure to imitate recorded actions</a:t>
                      </a:r>
                    </a:p>
                  </a:txBody>
                  <a:tcPr marL="114300" marR="95250" marT="76200" marB="66675" anchor="ctr">
                    <a:solidFill>
                      <a:srgbClr val="FFFFFF"/>
                    </a:solidFill>
                  </a:tcPr>
                </a:tc>
              </a:tr>
              <a:tr h="647700">
                <a:tc>
                  <a:txBody>
                    <a:bodyPr>
                      <a:noAutofit/>
                    </a:bodyPr>
                    <a:lstStyle/>
                    <a:p>
                      <a:r>
                        <a:rPr sz="1875" b="0">
                          <a:solidFill>
                            <a:srgbClr val="192737"/>
                          </a:solidFill>
                          <a:latin typeface="Arial"/>
                          <a:ea typeface="Arial"/>
                          <a:cs typeface="Arial"/>
                        </a:rPr>
                        <a:t>ReBRAC</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Width-dependent actor BC multiplier</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Actor changes; critic BC stays fixed</a:t>
                      </a:r>
                    </a:p>
                  </a:txBody>
                  <a:tcPr marL="114300" marR="95250" marT="76200" marB="66675" anchor="ctr">
                    <a:solidFill>
                      <a:srgbClr val="F1F4F8"/>
                    </a:solidFill>
                  </a:tcPr>
                </a:tc>
              </a:tr>
              <a:tr h="647700">
                <a:tc>
                  <a:txBody>
                    <a:bodyPr>
                      <a:noAutofit/>
                    </a:bodyPr>
                    <a:lstStyle/>
                    <a:p>
                      <a:r>
                        <a:rPr sz="1875" b="0">
                          <a:solidFill>
                            <a:srgbClr val="192737"/>
                          </a:solidFill>
                          <a:latin typeface="Arial"/>
                          <a:ea typeface="Arial"/>
                          <a:cs typeface="Arial"/>
                        </a:rPr>
                        <a:t>CQL</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Multiplier on conservative critic gap</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One transition weight affects the candidate gap</a:t>
                      </a:r>
                    </a:p>
                  </a:txBody>
                  <a:tcPr marL="114300" marR="95250" marT="76200" marB="66675" anchor="ctr">
                    <a:solidFill>
                      <a:srgbClr val="FFFFFF"/>
                    </a:solidFill>
                  </a:tcPr>
                </a:tc>
              </a:tr>
              <a:tr h="647700">
                <a:tc>
                  <a:txBody>
                    <a:bodyPr>
                      <a:noAutofit/>
                    </a:bodyPr>
                    <a:lstStyle/>
                    <a:p>
                      <a:r>
                        <a:rPr sz="1875" b="0">
                          <a:solidFill>
                            <a:srgbClr val="192737"/>
                          </a:solidFill>
                          <a:latin typeface="Arial"/>
                          <a:ea typeface="Arial"/>
                          <a:cs typeface="Arial"/>
                        </a:rPr>
                        <a:t>IQL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Shrinks actor advantage weight above one</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Reduces excess advantage emphasis; Q/V shared</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3D4F50FE-A74B-4E1D-9680-C22658936D57}"/>
              </a:ext>
            </a:extLst>
          </p:cNvPr>
          <p:cNvSpPr>
            <a:spLocks xmlns:a="http://schemas.openxmlformats.org/drawingml/2006/main" noGrp="1"/>
          </p:cNvSpPr>
          <p:nvPr/>
        </p:nvSpPr>
        <p:spPr>
          <a:xfrm xmlns:a="http://schemas.openxmlformats.org/drawingml/2006/main">
            <a:off x="619125" y="51816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0365C"/>
                </a:solidFill>
                <a:latin typeface="Arial"/>
                <a:ea typeface="Arial"/>
                <a:cs typeface="Arial"/>
              </a:defRPr>
            </a:pPr>
            <a:r>
              <a:rPr sz="2175" b="1">
                <a:solidFill>
                  <a:srgbClr val="20365C"/>
                </a:solidFill>
                <a:latin typeface="Arial"/>
                <a:ea typeface="Arial"/>
                <a:cs typeface="Arial"/>
              </a:rPr>
              <a:t>Width estimates error against a bootstrapped target. The calibrator does not know the true long-run Q-value.</a:t>
            </a:r>
          </a:p>
        </p:txBody>
      </p:sp>
    </p:spTree>
    <p:extLst>
      <p:ext uri="{BB962C8B-B14F-4D97-AF65-F5344CB8AC3E}">
        <p14:creationId xmlns:p14="http://schemas.microsoft.com/office/powerpoint/2010/main" val="984280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1C9A1F-2057-4157-A6F6-0989989D439D}"/>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EC7C8A-E092-4ADB-B2C6-AB7B626D20A1}"/>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Live progress and execution barriers</a:t>
            </a:r>
          </a:p>
        </p:txBody>
      </p:sp>
      <p:sp>
        <p:nvSpPr>
          <p:cNvPr id="3" name="">
            <a:extLst xmlns:a="http://schemas.openxmlformats.org/drawingml/2006/main">
              <a:ext uri="{FF2B5EF4-FFF2-40B4-BE49-F238E27FC236}">
                <a16:creationId xmlns:a16="http://schemas.microsoft.com/office/drawing/2014/main" id="{0DC6625B-A639-4FC9-8E9C-2B64EBAB1809}"/>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Current closure receipts exceed independently audited results. No complete five-seed OOD cell yet.</a:t>
            </a:r>
          </a:p>
        </p:txBody>
      </p:sp>
      <p:sp>
        <p:nvSpPr>
          <p:cNvPr id="4" name="">
            <a:extLst xmlns:a="http://schemas.openxmlformats.org/drawingml/2006/main">
              <a:ext uri="{FF2B5EF4-FFF2-40B4-BE49-F238E27FC236}">
                <a16:creationId xmlns:a16="http://schemas.microsoft.com/office/drawing/2014/main" id="{80CACAF8-CB91-4304-9A37-3AAFFC51E4EF}"/>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6</a:t>
            </a:r>
          </a:p>
        </p:txBody>
      </p:sp>
      <p:graphicFrame>
        <p:nvGraphicFramePr>
          <p:cNvPr id="11" name=""/>
          <p:cNvGraphicFramePr/>
          <p:nvPr/>
        </p:nvGraphicFramePr>
        <p:xfrm>
          <a:off xmlns:a="http://schemas.openxmlformats.org/drawingml/2006/main" x="495300" y="1562100"/>
          <a:ext xmlns:a="http://schemas.openxmlformats.org/drawingml/2006/main" cx="11201400" cy="3028950"/>
        </p:xfrm>
        <a:graphic xmlns:a="http://schemas.openxmlformats.org/drawingml/2006/main">
          <a:graphicData uri="http://schemas.openxmlformats.org/drawingml/2006/table">
            <a:tbl>
              <a:tblPr/>
              <a:tblGrid>
                <a:gridCol w="2857500"/>
                <a:gridCol w="2762250"/>
                <a:gridCol w="3048000"/>
                <a:gridCol w="2533650"/>
              </a:tblGrid>
              <a:tr h="605790">
                <a:tc>
                  <a:txBody>
                    <a:bodyPr>
                      <a:noAutofit/>
                    </a:bodyPr>
                    <a:lstStyle/>
                    <a:p>
                      <a:r>
                        <a:rPr sz="1875" b="1">
                          <a:solidFill>
                            <a:srgbClr val="FFFFFF"/>
                          </a:solidFill>
                          <a:latin typeface="Arial"/>
                          <a:ea typeface="Arial"/>
                          <a:cs typeface="Arial"/>
                        </a:rPr>
                        <a:t>Lane / host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Successful closures</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Accepted training</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OOD result</a:t>
                      </a:r>
                    </a:p>
                  </a:txBody>
                  <a:tcPr marL="114300" marR="95250" marT="76200" marB="66675" anchor="ctr">
                    <a:solidFill>
                      <a:srgbClr val="20365C"/>
                    </a:solidFill>
                  </a:tcPr>
                </a:tc>
              </a:tr>
              <a:tr h="605790">
                <a:tc>
                  <a:txBody>
                    <a:bodyPr>
                      <a:noAutofit/>
                    </a:bodyPr>
                    <a:lstStyle/>
                    <a:p>
                      <a:r>
                        <a:rPr sz="1875" b="0">
                          <a:solidFill>
                            <a:srgbClr val="192737"/>
                          </a:solidFill>
                          <a:latin typeface="Arial"/>
                          <a:ea typeface="Arial"/>
                          <a:cs typeface="Arial"/>
                        </a:rPr>
                        <a:t>Cluster / ReBRAC</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32 / 70</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12 runs, six pairs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Pending</a:t>
                      </a:r>
                    </a:p>
                  </a:txBody>
                  <a:tcPr marL="114300" marR="95250" marT="76200" marB="66675" anchor="ctr">
                    <a:solidFill>
                      <a:srgbClr val="FFFFFF"/>
                    </a:solidFill>
                  </a:tcPr>
                </a:tc>
              </a:tr>
              <a:tr h="605790">
                <a:tc>
                  <a:txBody>
                    <a:bodyPr>
                      <a:noAutofit/>
                    </a:bodyPr>
                    <a:lstStyle/>
                    <a:p>
                      <a:r>
                        <a:rPr sz="1875" b="0">
                          <a:solidFill>
                            <a:srgbClr val="192737"/>
                          </a:solidFill>
                          <a:latin typeface="Arial"/>
                          <a:ea typeface="Arial"/>
                          <a:cs typeface="Arial"/>
                        </a:rPr>
                        <a:t>Cluster / IQL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32 / 70</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0 accepted runs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Pending</a:t>
                      </a:r>
                    </a:p>
                  </a:txBody>
                  <a:tcPr marL="114300" marR="95250" marT="76200" marB="66675" anchor="ctr">
                    <a:solidFill>
                      <a:srgbClr val="F1F4F8"/>
                    </a:solidFill>
                  </a:tcPr>
                </a:tc>
              </a:tr>
              <a:tr h="605790">
                <a:tc>
                  <a:txBody>
                    <a:bodyPr>
                      <a:noAutofit/>
                    </a:bodyPr>
                    <a:lstStyle/>
                    <a:p>
                      <a:r>
                        <a:rPr sz="1875" b="0">
                          <a:solidFill>
                            <a:srgbClr val="192737"/>
                          </a:solidFill>
                          <a:latin typeface="Arial"/>
                          <a:ea typeface="Arial"/>
                          <a:cs typeface="Arial"/>
                        </a:rPr>
                        <a:t>Local / TD3+BC</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2 / 70</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2 runs, one pair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Hopper: one seed</a:t>
                      </a:r>
                    </a:p>
                  </a:txBody>
                  <a:tcPr marL="114300" marR="95250" marT="76200" marB="66675" anchor="ctr">
                    <a:solidFill>
                      <a:srgbClr val="FFFFFF"/>
                    </a:solidFill>
                  </a:tcPr>
                </a:tc>
              </a:tr>
              <a:tr h="605790">
                <a:tc>
                  <a:txBody>
                    <a:bodyPr>
                      <a:noAutofit/>
                    </a:bodyPr>
                    <a:lstStyle/>
                    <a:p>
                      <a:r>
                        <a:rPr sz="1875" b="0">
                          <a:solidFill>
                            <a:srgbClr val="192737"/>
                          </a:solidFill>
                          <a:latin typeface="Arial"/>
                          <a:ea typeface="Arial"/>
                          <a:cs typeface="Arial"/>
                        </a:rPr>
                        <a:t>Local / CQL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0 / 70</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Stopped after final eval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Pending</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2BDB2567-1493-47B9-B8DC-C67271A4CE04}"/>
              </a:ext>
            </a:extLst>
          </p:cNvPr>
          <p:cNvSpPr>
            <a:spLocks xmlns:a="http://schemas.openxmlformats.org/drawingml/2006/main" noGrp="1"/>
          </p:cNvSpPr>
          <p:nvPr/>
        </p:nvSpPr>
        <p:spPr>
          <a:xfrm xmlns:a="http://schemas.openxmlformats.org/drawingml/2006/main">
            <a:off x="666750" y="49149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Local blocker: CQL saved episode names differ from the result validator’s expected names.</a:t>
            </a:r>
          </a:p>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OOD v2 blocker: native dependency/runtime integration and simulator checks remain incomplete.</a:t>
            </a:r>
          </a:p>
        </p:txBody>
      </p:sp>
    </p:spTree>
    <p:extLst>
      <p:ext uri="{BB962C8B-B14F-4D97-AF65-F5344CB8AC3E}">
        <p14:creationId xmlns:p14="http://schemas.microsoft.com/office/powerpoint/2010/main" val="12668414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F23734-DC25-4D26-A626-0A8404BF814A}"/>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C2F123-EA02-4195-AC11-2CEA52B45D8B}"/>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Seven accepted training comparisons</a:t>
            </a:r>
          </a:p>
        </p:txBody>
      </p:sp>
      <p:sp>
        <p:nvSpPr>
          <p:cNvPr id="3" name="">
            <a:extLst xmlns:a="http://schemas.openxmlformats.org/drawingml/2006/main">
              <a:ext uri="{FF2B5EF4-FFF2-40B4-BE49-F238E27FC236}">
                <a16:creationId xmlns:a16="http://schemas.microsoft.com/office/drawing/2014/main" id="{648CB785-E5DA-4595-B78B-6A5D9D4C1980}"/>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Differences are BCA minus host. All five seeds remain required for each cell.</a:t>
            </a:r>
          </a:p>
        </p:txBody>
      </p:sp>
      <p:sp>
        <p:nvSpPr>
          <p:cNvPr id="4" name="">
            <a:extLst xmlns:a="http://schemas.openxmlformats.org/drawingml/2006/main">
              <a:ext uri="{FF2B5EF4-FFF2-40B4-BE49-F238E27FC236}">
                <a16:creationId xmlns:a16="http://schemas.microsoft.com/office/drawing/2014/main" id="{13031F78-AAC0-40D6-92C0-E03AC4CC635D}"/>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7</a:t>
            </a:r>
          </a:p>
        </p:txBody>
      </p:sp>
      <p:graphicFrame>
        <p:nvGraphicFramePr>
          <p:cNvPr id="11" name=""/>
          <p:cNvGraphicFramePr/>
          <p:nvPr/>
        </p:nvGraphicFramePr>
        <p:xfrm>
          <a:off xmlns:a="http://schemas.openxmlformats.org/drawingml/2006/main" x="495300" y="1562100"/>
          <a:ext xmlns:a="http://schemas.openxmlformats.org/drawingml/2006/main" cx="11201400" cy="4095750"/>
        </p:xfrm>
        <a:graphic xmlns:a="http://schemas.openxmlformats.org/drawingml/2006/main">
          <a:graphicData uri="http://schemas.openxmlformats.org/drawingml/2006/table">
            <a:tbl>
              <a:tblPr/>
              <a:tblGrid>
                <a:gridCol w="3143250"/>
                <a:gridCol w="1000125"/>
                <a:gridCol w="1762125"/>
                <a:gridCol w="1762125"/>
                <a:gridCol w="1762125"/>
                <a:gridCol w="1771650"/>
              </a:tblGrid>
              <a:tr h="511969">
                <a:tc>
                  <a:txBody>
                    <a:bodyPr>
                      <a:noAutofit/>
                    </a:bodyPr>
                    <a:lstStyle/>
                    <a:p>
                      <a:r>
                        <a:rPr sz="1800" b="1">
                          <a:solidFill>
                            <a:srgbClr val="FFFFFF"/>
                          </a:solidFill>
                          <a:latin typeface="Arial"/>
                          <a:ea typeface="Arial"/>
                          <a:cs typeface="Arial"/>
                        </a:rPr>
                        <a:t>Host / dataset</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Seed</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Host final</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BCA final</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Final Δ</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Curve Δ</a:t>
                      </a:r>
                    </a:p>
                  </a:txBody>
                  <a:tcPr marL="114300" marR="95250" marT="76200" marB="66675" anchor="ctr">
                    <a:solidFill>
                      <a:srgbClr val="20365C"/>
                    </a:solidFill>
                  </a:tcPr>
                </a:tc>
              </a:tr>
              <a:tr h="511969">
                <a:tc>
                  <a:txBody>
                    <a:bodyPr>
                      <a:noAutofit/>
                    </a:bodyPr>
                    <a:lstStyle/>
                    <a:p>
                      <a:r>
                        <a:rPr sz="1800" b="0">
                          <a:solidFill>
                            <a:srgbClr val="192737"/>
                          </a:solidFill>
                          <a:latin typeface="Arial"/>
                          <a:ea typeface="Arial"/>
                          <a:cs typeface="Arial"/>
                        </a:rPr>
                        <a:t>TD3+BC / Hopper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65.22</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65.93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+0.71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−1.48</a:t>
                      </a:r>
                    </a:p>
                  </a:txBody>
                  <a:tcPr marL="114300" marR="95250" marT="76200" marB="66675" anchor="ctr">
                    <a:solidFill>
                      <a:srgbClr val="FFFFFF"/>
                    </a:solidFill>
                  </a:tcPr>
                </a:tc>
              </a:tr>
              <a:tr h="511969">
                <a:tc>
                  <a:txBody>
                    <a:bodyPr>
                      <a:noAutofit/>
                    </a:bodyPr>
                    <a:lstStyle/>
                    <a:p>
                      <a:r>
                        <a:rPr sz="1800" b="0">
                          <a:solidFill>
                            <a:srgbClr val="192737"/>
                          </a:solidFill>
                          <a:latin typeface="Arial"/>
                          <a:ea typeface="Arial"/>
                          <a:cs typeface="Arial"/>
                        </a:rPr>
                        <a:t>ReBRAC / Hopper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171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102.02</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102.11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+0.09</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+0.51</a:t>
                      </a:r>
                    </a:p>
                  </a:txBody>
                  <a:tcPr marL="114300" marR="95250" marT="76200" marB="66675" anchor="ctr">
                    <a:solidFill>
                      <a:srgbClr val="F1F4F8"/>
                    </a:solidFill>
                  </a:tcPr>
                </a:tc>
              </a:tr>
              <a:tr h="511969">
                <a:tc>
                  <a:txBody>
                    <a:bodyPr>
                      <a:noAutofit/>
                    </a:bodyPr>
                    <a:lstStyle/>
                    <a:p>
                      <a:r>
                        <a:rPr sz="1800" b="0">
                          <a:solidFill>
                            <a:srgbClr val="192737"/>
                          </a:solidFill>
                          <a:latin typeface="Arial"/>
                          <a:ea typeface="Arial"/>
                          <a:cs typeface="Arial"/>
                        </a:rPr>
                        <a:t>ReBRAC / Hopper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172</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101.96</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102.04</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+0.08</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−1.77</a:t>
                      </a:r>
                    </a:p>
                  </a:txBody>
                  <a:tcPr marL="114300" marR="95250" marT="76200" marB="66675" anchor="ctr">
                    <a:solidFill>
                      <a:srgbClr val="FFFFFF"/>
                    </a:solidFill>
                  </a:tcPr>
                </a:tc>
              </a:tr>
              <a:tr h="511969">
                <a:tc>
                  <a:txBody>
                    <a:bodyPr>
                      <a:noAutofit/>
                    </a:bodyPr>
                    <a:lstStyle/>
                    <a:p>
                      <a:r>
                        <a:rPr sz="1800" b="0">
                          <a:solidFill>
                            <a:srgbClr val="192737"/>
                          </a:solidFill>
                          <a:latin typeface="Arial"/>
                          <a:ea typeface="Arial"/>
                          <a:cs typeface="Arial"/>
                        </a:rPr>
                        <a:t>ReBRAC / Hopper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173</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102.61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102.35</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−0.26</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+4.03</a:t>
                      </a:r>
                    </a:p>
                  </a:txBody>
                  <a:tcPr marL="114300" marR="95250" marT="76200" marB="66675" anchor="ctr">
                    <a:solidFill>
                      <a:srgbClr val="F1F4F8"/>
                    </a:solidFill>
                  </a:tcPr>
                </a:tc>
              </a:tr>
              <a:tr h="511969">
                <a:tc>
                  <a:txBody>
                    <a:bodyPr>
                      <a:noAutofit/>
                    </a:bodyPr>
                    <a:lstStyle/>
                    <a:p>
                      <a:r>
                        <a:rPr sz="1800" b="0">
                          <a:solidFill>
                            <a:srgbClr val="192737"/>
                          </a:solidFill>
                          <a:latin typeface="Arial"/>
                          <a:ea typeface="Arial"/>
                          <a:cs typeface="Arial"/>
                        </a:rPr>
                        <a:t>ReBRAC / Walker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77.33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82.31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+4.98</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+0.94</a:t>
                      </a:r>
                    </a:p>
                  </a:txBody>
                  <a:tcPr marL="114300" marR="95250" marT="76200" marB="66675" anchor="ctr">
                    <a:solidFill>
                      <a:srgbClr val="FFFFFF"/>
                    </a:solidFill>
                  </a:tcPr>
                </a:tc>
              </a:tr>
              <a:tr h="511969">
                <a:tc>
                  <a:txBody>
                    <a:bodyPr>
                      <a:noAutofit/>
                    </a:bodyPr>
                    <a:lstStyle/>
                    <a:p>
                      <a:r>
                        <a:rPr sz="1800" b="0">
                          <a:solidFill>
                            <a:srgbClr val="192737"/>
                          </a:solidFill>
                          <a:latin typeface="Arial"/>
                          <a:ea typeface="Arial"/>
                          <a:cs typeface="Arial"/>
                        </a:rPr>
                        <a:t>ReBRAC / Walker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172</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87.81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84.82</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−2.99</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+3.13</a:t>
                      </a:r>
                    </a:p>
                  </a:txBody>
                  <a:tcPr marL="114300" marR="95250" marT="76200" marB="66675" anchor="ctr">
                    <a:solidFill>
                      <a:srgbClr val="F1F4F8"/>
                    </a:solidFill>
                  </a:tcPr>
                </a:tc>
              </a:tr>
              <a:tr h="511969">
                <a:tc>
                  <a:txBody>
                    <a:bodyPr>
                      <a:noAutofit/>
                    </a:bodyPr>
                    <a:lstStyle/>
                    <a:p>
                      <a:r>
                        <a:rPr sz="1800" b="0">
                          <a:solidFill>
                            <a:srgbClr val="192737"/>
                          </a:solidFill>
                          <a:latin typeface="Arial"/>
                          <a:ea typeface="Arial"/>
                          <a:cs typeface="Arial"/>
                        </a:rPr>
                        <a:t>ReBRAC / Walker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45.29</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78.93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+33.64</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+1.67</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C2414B9-1B98-41DF-9CEA-E5C35AE769E2}"/>
              </a:ext>
            </a:extLst>
          </p:cNvPr>
          <p:cNvSpPr>
            <a:spLocks xmlns:a="http://schemas.openxmlformats.org/drawingml/2006/main" noGrp="1"/>
          </p:cNvSpPr>
          <p:nvPr/>
        </p:nvSpPr>
        <p:spPr>
          <a:xfrm xmlns:a="http://schemas.openxmlformats.org/drawingml/2006/main">
            <a:off x="609600" y="57912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Hopper: near tie for ReBRAC. Walker: final differences vary strongly across seeds.</a:t>
            </a:r>
          </a:p>
        </p:txBody>
      </p:sp>
    </p:spTree>
    <p:extLst>
      <p:ext uri="{BB962C8B-B14F-4D97-AF65-F5344CB8AC3E}">
        <p14:creationId xmlns:p14="http://schemas.microsoft.com/office/powerpoint/2010/main" val="15300063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2EED74-17C0-421F-9A2B-045E7489F3FF}"/>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FE5F66-AA10-46FF-A5BB-3063AF4EE408}"/>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Learning curves through 1M updates</a:t>
            </a:r>
          </a:p>
        </p:txBody>
      </p:sp>
      <p:sp>
        <p:nvSpPr>
          <p:cNvPr id="3" name="">
            <a:extLst xmlns:a="http://schemas.openxmlformats.org/drawingml/2006/main">
              <a:ext uri="{FF2B5EF4-FFF2-40B4-BE49-F238E27FC236}">
                <a16:creationId xmlns:a16="http://schemas.microsoft.com/office/drawing/2014/main" id="{C34D2E66-59E1-47CE-B676-770F2EE37C7E}"/>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Periodic normalized score. ReBRAC lines average three seeds; TD3 uses one. No seed uncertainty claim.</a:t>
            </a:r>
          </a:p>
        </p:txBody>
      </p:sp>
      <p:sp>
        <p:nvSpPr>
          <p:cNvPr id="4" name="">
            <a:extLst xmlns:a="http://schemas.openxmlformats.org/drawingml/2006/main">
              <a:ext uri="{FF2B5EF4-FFF2-40B4-BE49-F238E27FC236}">
                <a16:creationId xmlns:a16="http://schemas.microsoft.com/office/drawing/2014/main" id="{83EE8504-637A-4268-BC6A-045AB542A0B0}"/>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1C638302-DB6A-43BC-8E39-67564395DF81}"/>
              </a:ext>
            </a:extLst>
          </p:cNvPr>
          <p:cNvSpPr>
            <a:spLocks xmlns:a="http://schemas.openxmlformats.org/drawingml/2006/main" noGrp="1"/>
          </p:cNvSpPr>
          <p:nvPr/>
        </p:nvSpPr>
        <p:spPr>
          <a:xfrm xmlns:a="http://schemas.openxmlformats.org/drawingml/2006/main">
            <a:off x="476250" y="141922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0365C"/>
                </a:solidFill>
                <a:latin typeface="Arial"/>
                <a:ea typeface="Arial"/>
                <a:cs typeface="Arial"/>
              </a:defRPr>
            </a:pPr>
            <a:r>
              <a:rPr sz="1875" b="1">
                <a:solidFill>
                  <a:srgbClr val="20365C"/>
                </a:solidFill>
                <a:latin typeface="Arial"/>
                <a:ea typeface="Arial"/>
                <a:cs typeface="Arial"/>
              </a:rPr>
              <a:t>TD3+BC Hopper (1 seed)</a:t>
            </a:r>
          </a:p>
        </p:txBody>
      </p:sp>
      <p:graphicFrame>
        <p:nvGraphicFramePr>
          <p:cNvPr id="16" name="Chart"/>
          <p:cNvGraphicFramePr/>
          <p:nvPr/>
        </p:nvGraphicFramePr>
        <p:xfrm>
          <a:off xmlns:a="http://schemas.openxmlformats.org/drawingml/2006/main" x="438150" y="1981200"/>
          <a:ext xmlns:a="http://schemas.openxmlformats.org/drawingml/2006/main" cx="3609975" cy="3619500"/>
        </p:xfrm>
        <a:graphic xmlns:a="http://schemas.openxmlformats.org/drawingml/2006/main">
          <a:graphicData uri="http://schemas.openxmlformats.org/drawingml/2006/chart">
            <c:chart xmlns:r="http://schemas.openxmlformats.org/officeDocument/2006/relationships" xmlns:c="http://schemas.openxmlformats.org/drawingml/2006/chart" r:id="R7827ecdd529c4e10"/>
          </a:graphicData>
        </a:graphic>
      </p:graphicFrame>
      <p:sp>
        <p:nvSpPr>
          <p:cNvPr id="7" name="">
            <a:extLst xmlns:a="http://schemas.openxmlformats.org/drawingml/2006/main">
              <a:ext uri="{FF2B5EF4-FFF2-40B4-BE49-F238E27FC236}">
                <a16:creationId xmlns:a16="http://schemas.microsoft.com/office/drawing/2014/main" id="{7220EBFD-823D-47EE-80EB-76A5606622F3}"/>
              </a:ext>
            </a:extLst>
          </p:cNvPr>
          <p:cNvSpPr>
            <a:spLocks xmlns:a="http://schemas.openxmlformats.org/drawingml/2006/main" noGrp="1"/>
          </p:cNvSpPr>
          <p:nvPr/>
        </p:nvSpPr>
        <p:spPr>
          <a:xfrm xmlns:a="http://schemas.openxmlformats.org/drawingml/2006/main">
            <a:off x="4305300" y="141922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0365C"/>
                </a:solidFill>
                <a:latin typeface="Arial"/>
                <a:ea typeface="Arial"/>
                <a:cs typeface="Arial"/>
              </a:defRPr>
            </a:pPr>
            <a:r>
              <a:rPr sz="1875" b="1">
                <a:solidFill>
                  <a:srgbClr val="20365C"/>
                </a:solidFill>
                <a:latin typeface="Arial"/>
                <a:ea typeface="Arial"/>
                <a:cs typeface="Arial"/>
              </a:rPr>
              <a:t>ReBRAC Hopper (3 seeds)</a:t>
            </a:r>
          </a:p>
        </p:txBody>
      </p:sp>
      <p:graphicFrame>
        <p:nvGraphicFramePr>
          <p:cNvPr id="18" name="Chart"/>
          <p:cNvGraphicFramePr/>
          <p:nvPr/>
        </p:nvGraphicFramePr>
        <p:xfrm>
          <a:off xmlns:a="http://schemas.openxmlformats.org/drawingml/2006/main" x="4267200" y="1981200"/>
          <a:ext xmlns:a="http://schemas.openxmlformats.org/drawingml/2006/main" cx="3609975" cy="3619500"/>
        </p:xfrm>
        <a:graphic xmlns:a="http://schemas.openxmlformats.org/drawingml/2006/main">
          <a:graphicData uri="http://schemas.openxmlformats.org/drawingml/2006/chart">
            <c:chart xmlns:r="http://schemas.openxmlformats.org/officeDocument/2006/relationships" xmlns:c="http://schemas.openxmlformats.org/drawingml/2006/chart" r:id="Rda13650ddcd9479c"/>
          </a:graphicData>
        </a:graphic>
      </p:graphicFrame>
      <p:sp>
        <p:nvSpPr>
          <p:cNvPr id="9" name="">
            <a:extLst xmlns:a="http://schemas.openxmlformats.org/drawingml/2006/main">
              <a:ext uri="{FF2B5EF4-FFF2-40B4-BE49-F238E27FC236}">
                <a16:creationId xmlns:a16="http://schemas.microsoft.com/office/drawing/2014/main" id="{3D9060B1-37D3-47CD-BC49-2F9CBFEFFFE1}"/>
              </a:ext>
            </a:extLst>
          </p:cNvPr>
          <p:cNvSpPr>
            <a:spLocks xmlns:a="http://schemas.openxmlformats.org/drawingml/2006/main" noGrp="1"/>
          </p:cNvSpPr>
          <p:nvPr/>
        </p:nvSpPr>
        <p:spPr>
          <a:xfrm xmlns:a="http://schemas.openxmlformats.org/drawingml/2006/main">
            <a:off x="8134350" y="141922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0365C"/>
                </a:solidFill>
                <a:latin typeface="Arial"/>
                <a:ea typeface="Arial"/>
                <a:cs typeface="Arial"/>
              </a:defRPr>
            </a:pPr>
            <a:r>
              <a:rPr sz="1875" b="1">
                <a:solidFill>
                  <a:srgbClr val="20365C"/>
                </a:solidFill>
                <a:latin typeface="Arial"/>
                <a:ea typeface="Arial"/>
                <a:cs typeface="Arial"/>
              </a:rPr>
              <a:t>ReBRAC Walker (3 seeds)</a:t>
            </a:r>
          </a:p>
        </p:txBody>
      </p:sp>
      <p:graphicFrame>
        <p:nvGraphicFramePr>
          <p:cNvPr id="20" name="Chart"/>
          <p:cNvGraphicFramePr/>
          <p:nvPr/>
        </p:nvGraphicFramePr>
        <p:xfrm>
          <a:off xmlns:a="http://schemas.openxmlformats.org/drawingml/2006/main" x="8096250" y="1981200"/>
          <a:ext xmlns:a="http://schemas.openxmlformats.org/drawingml/2006/main" cx="3609975" cy="3619500"/>
        </p:xfrm>
        <a:graphic xmlns:a="http://schemas.openxmlformats.org/drawingml/2006/main">
          <a:graphicData uri="http://schemas.openxmlformats.org/drawingml/2006/chart">
            <c:chart xmlns:r="http://schemas.openxmlformats.org/officeDocument/2006/relationships" xmlns:c="http://schemas.openxmlformats.org/drawingml/2006/chart" r:id="Re5c81571159a4334"/>
          </a:graphicData>
        </a:graphic>
      </p:graphicFrame>
    </p:spTree>
    <p:extLst>
      <p:ext uri="{BB962C8B-B14F-4D97-AF65-F5344CB8AC3E}">
        <p14:creationId xmlns:p14="http://schemas.microsoft.com/office/powerpoint/2010/main" val="16141836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823381-2D84-4530-A2EE-A558CCCFE462}"/>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AFCE5D-0E93-4991-95BE-B2E852301D15}"/>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Cluster endpoints vary by dataset and seed</a:t>
            </a:r>
          </a:p>
        </p:txBody>
      </p:sp>
      <p:sp>
        <p:nvSpPr>
          <p:cNvPr id="3" name="">
            <a:extLst xmlns:a="http://schemas.openxmlformats.org/drawingml/2006/main">
              <a:ext uri="{FF2B5EF4-FFF2-40B4-BE49-F238E27FC236}">
                <a16:creationId xmlns:a16="http://schemas.microsoft.com/office/drawing/2014/main" id="{A06D6070-E2F8-4C43-9AE0-EA7C2B857CC2}"/>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Final normalized-score differences, BCA minus host. Remaining full audits pending. Two of five seeds.</a:t>
            </a:r>
          </a:p>
        </p:txBody>
      </p:sp>
      <p:sp>
        <p:nvSpPr>
          <p:cNvPr id="4" name="">
            <a:extLst xmlns:a="http://schemas.openxmlformats.org/drawingml/2006/main">
              <a:ext uri="{FF2B5EF4-FFF2-40B4-BE49-F238E27FC236}">
                <a16:creationId xmlns:a16="http://schemas.microsoft.com/office/drawing/2014/main" id="{12B0BFBF-108B-44B8-B7F9-DB5EFE4C437F}"/>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9</a:t>
            </a:r>
          </a:p>
        </p:txBody>
      </p:sp>
      <p:graphicFrame>
        <p:nvGraphicFramePr>
          <p:cNvPr id="11" name=""/>
          <p:cNvGraphicFramePr/>
          <p:nvPr/>
        </p:nvGraphicFramePr>
        <p:xfrm>
          <a:off xmlns:a="http://schemas.openxmlformats.org/drawingml/2006/main" x="495300" y="1562100"/>
          <a:ext xmlns:a="http://schemas.openxmlformats.org/drawingml/2006/main" cx="11201400" cy="4114800"/>
        </p:xfrm>
        <a:graphic xmlns:a="http://schemas.openxmlformats.org/drawingml/2006/main">
          <a:graphicData uri="http://schemas.openxmlformats.org/drawingml/2006/table">
            <a:tbl>
              <a:tblPr/>
              <a:tblGrid>
                <a:gridCol w="2571750"/>
                <a:gridCol w="2162175"/>
                <a:gridCol w="2162175"/>
                <a:gridCol w="2152650"/>
                <a:gridCol w="2152650"/>
              </a:tblGrid>
              <a:tr h="514350">
                <a:tc>
                  <a:txBody>
                    <a:bodyPr>
                      <a:noAutofit/>
                    </a:bodyPr>
                    <a:lstStyle/>
                    <a:p>
                      <a:r>
                        <a:rPr sz="1875" b="1">
                          <a:solidFill>
                            <a:srgbClr val="FFFFFF"/>
                          </a:solidFill>
                          <a:latin typeface="Arial"/>
                          <a:ea typeface="Arial"/>
                          <a:cs typeface="Arial"/>
                        </a:rPr>
                        <a:t>Dataset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ReBRAC 171</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ReBRAC 172</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IQL 171</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IQL 172</a:t>
                      </a:r>
                    </a:p>
                  </a:txBody>
                  <a:tcPr marL="114300" marR="95250" marT="76200" marB="66675" anchor="ctr">
                    <a:solidFill>
                      <a:srgbClr val="20365C"/>
                    </a:solidFill>
                  </a:tcPr>
                </a:tc>
              </a:tr>
              <a:tr h="514350">
                <a:tc>
                  <a:txBody>
                    <a:bodyPr>
                      <a:noAutofit/>
                    </a:bodyPr>
                    <a:lstStyle/>
                    <a:p>
                      <a:r>
                        <a:rPr sz="1875" b="0">
                          <a:solidFill>
                            <a:srgbClr val="192737"/>
                          </a:solidFill>
                          <a:latin typeface="Arial"/>
                          <a:ea typeface="Arial"/>
                          <a:cs typeface="Arial"/>
                        </a:rPr>
                        <a:t>Hopper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+0.09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+0.08</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−0.12</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−4.57</a:t>
                      </a:r>
                    </a:p>
                  </a:txBody>
                  <a:tcPr marL="114300" marR="95250" marT="76200" marB="66675" anchor="ctr">
                    <a:solidFill>
                      <a:srgbClr val="FFFFFF"/>
                    </a:solidFill>
                  </a:tcPr>
                </a:tc>
              </a:tr>
              <a:tr h="514350">
                <a:tc>
                  <a:txBody>
                    <a:bodyPr>
                      <a:noAutofit/>
                    </a:bodyPr>
                    <a:lstStyle/>
                    <a:p>
                      <a:r>
                        <a:rPr sz="1875" b="0">
                          <a:solidFill>
                            <a:srgbClr val="192737"/>
                          </a:solidFill>
                          <a:latin typeface="Arial"/>
                          <a:ea typeface="Arial"/>
                          <a:cs typeface="Arial"/>
                        </a:rPr>
                        <a:t>Walker2d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+4.98</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−2.99</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+4.09</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−5.62</a:t>
                      </a:r>
                    </a:p>
                  </a:txBody>
                  <a:tcPr marL="114300" marR="95250" marT="76200" marB="66675" anchor="ctr">
                    <a:solidFill>
                      <a:srgbClr val="F1F4F8"/>
                    </a:solidFill>
                  </a:tcPr>
                </a:tc>
              </a:tr>
              <a:tr h="514350">
                <a:tc>
                  <a:txBody>
                    <a:bodyPr>
                      <a:noAutofit/>
                    </a:bodyPr>
                    <a:lstStyle/>
                    <a:p>
                      <a:r>
                        <a:rPr sz="1875" b="0">
                          <a:solidFill>
                            <a:srgbClr val="192737"/>
                          </a:solidFill>
                          <a:latin typeface="Arial"/>
                          <a:ea typeface="Arial"/>
                          <a:cs typeface="Arial"/>
                        </a:rPr>
                        <a:t>HalfCheetah</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−9.29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−4.73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−5.21</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+5.13</a:t>
                      </a:r>
                    </a:p>
                  </a:txBody>
                  <a:tcPr marL="114300" marR="95250" marT="76200" marB="66675" anchor="ctr">
                    <a:solidFill>
                      <a:srgbClr val="FFFFFF"/>
                    </a:solidFill>
                  </a:tcPr>
                </a:tc>
              </a:tr>
              <a:tr h="514350">
                <a:tc>
                  <a:txBody>
                    <a:bodyPr>
                      <a:noAutofit/>
                    </a:bodyPr>
                    <a:lstStyle/>
                    <a:p>
                      <a:r>
                        <a:rPr sz="1875" b="0">
                          <a:solidFill>
                            <a:srgbClr val="192737"/>
                          </a:solidFill>
                          <a:latin typeface="Arial"/>
                          <a:ea typeface="Arial"/>
                          <a:cs typeface="Arial"/>
                        </a:rPr>
                        <a:t>Maze2d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−82.42</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+93.21</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−9.52</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+3.93</a:t>
                      </a:r>
                    </a:p>
                  </a:txBody>
                  <a:tcPr marL="114300" marR="95250" marT="76200" marB="66675" anchor="ctr">
                    <a:solidFill>
                      <a:srgbClr val="F1F4F8"/>
                    </a:solidFill>
                  </a:tcPr>
                </a:tc>
              </a:tr>
              <a:tr h="514350">
                <a:tc>
                  <a:txBody>
                    <a:bodyPr>
                      <a:noAutofit/>
                    </a:bodyPr>
                    <a:lstStyle/>
                    <a:p>
                      <a:r>
                        <a:rPr sz="1875" b="0">
                          <a:solidFill>
                            <a:srgbClr val="192737"/>
                          </a:solidFill>
                          <a:latin typeface="Arial"/>
                          <a:ea typeface="Arial"/>
                          <a:cs typeface="Arial"/>
                        </a:rPr>
                        <a:t>Pen human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−10.45</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−5.81</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−1.83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−2.47</a:t>
                      </a:r>
                    </a:p>
                  </a:txBody>
                  <a:tcPr marL="114300" marR="95250" marT="76200" marB="66675" anchor="ctr">
                    <a:solidFill>
                      <a:srgbClr val="FFFFFF"/>
                    </a:solidFill>
                  </a:tcPr>
                </a:tc>
              </a:tr>
              <a:tr h="514350">
                <a:tc>
                  <a:txBody>
                    <a:bodyPr>
                      <a:noAutofit/>
                    </a:bodyPr>
                    <a:lstStyle/>
                    <a:p>
                      <a:r>
                        <a:rPr sz="1875" b="0">
                          <a:solidFill>
                            <a:srgbClr val="192737"/>
                          </a:solidFill>
                          <a:latin typeface="Arial"/>
                          <a:ea typeface="Arial"/>
                          <a:cs typeface="Arial"/>
                        </a:rPr>
                        <a:t>Pen cloned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+10.15</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−11.34</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−2.37</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+5.14</a:t>
                      </a:r>
                    </a:p>
                  </a:txBody>
                  <a:tcPr marL="114300" marR="95250" marT="76200" marB="66675" anchor="ctr">
                    <a:solidFill>
                      <a:srgbClr val="F1F4F8"/>
                    </a:solidFill>
                  </a:tcPr>
                </a:tc>
              </a:tr>
              <a:tr h="514350">
                <a:tc>
                  <a:txBody>
                    <a:bodyPr>
                      <a:noAutofit/>
                    </a:bodyPr>
                    <a:lstStyle/>
                    <a:p>
                      <a:r>
                        <a:rPr sz="1875" b="0">
                          <a:solidFill>
                            <a:srgbClr val="192737"/>
                          </a:solidFill>
                          <a:latin typeface="Arial"/>
                          <a:ea typeface="Arial"/>
                          <a:cs typeface="Arial"/>
                        </a:rPr>
                        <a:t>Pen expert</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+16.53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+1.99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+1.05</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+3.65</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E65097-4C27-4CF8-A4A1-2695605B63E4}"/>
              </a:ext>
            </a:extLst>
          </p:cNvPr>
          <p:cNvSpPr>
            <a:spLocks xmlns:a="http://schemas.openxmlformats.org/drawingml/2006/main" noGrp="1"/>
          </p:cNvSpPr>
          <p:nvPr/>
        </p:nvSpPr>
        <p:spPr>
          <a:xfrm xmlns:a="http://schemas.openxmlformats.org/drawingml/2006/main">
            <a:off x="609600" y="57816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B46226"/>
                </a:solidFill>
                <a:latin typeface="Arial"/>
                <a:ea typeface="Arial"/>
                <a:cs typeface="Arial"/>
              </a:defRPr>
            </a:pPr>
            <a:r>
              <a:rPr sz="1800" b="1">
                <a:solidFill>
                  <a:srgbClr val="B46226"/>
                </a:solidFill>
                <a:latin typeface="Arial"/>
                <a:ea typeface="Arial"/>
                <a:cs typeface="Arial"/>
              </a:rPr>
              <a:t>ReBRAC Hopper/Walker rows have accepted audits. Other rows remain preliminary.</a:t>
            </a:r>
          </a:p>
        </p:txBody>
      </p:sp>
    </p:spTree>
    <p:extLst>
      <p:ext uri="{BB962C8B-B14F-4D97-AF65-F5344CB8AC3E}">
        <p14:creationId xmlns:p14="http://schemas.microsoft.com/office/powerpoint/2010/main" val="17418436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C9D657-E409-4835-A42F-DE04BB4FDA5A}"/>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8EC395-7923-46E4-A3E2-B739DEE3BC3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First OOD result: weak harm ranking</a:t>
            </a:r>
          </a:p>
        </p:txBody>
      </p:sp>
      <p:sp>
        <p:nvSpPr>
          <p:cNvPr id="3" name="">
            <a:extLst xmlns:a="http://schemas.openxmlformats.org/drawingml/2006/main">
              <a:ext uri="{FF2B5EF4-FFF2-40B4-BE49-F238E27FC236}">
                <a16:creationId xmlns:a16="http://schemas.microsoft.com/office/drawing/2014/main" id="{BFBF30CA-45BB-40F9-BA2F-9CC6BE5E33A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One Hopper seed; 5,120 rollouts. Harm: loss &gt;1 raw reward versus host first action, BCA continuation.</a:t>
            </a:r>
          </a:p>
        </p:txBody>
      </p:sp>
      <p:sp>
        <p:nvSpPr>
          <p:cNvPr id="4" name="">
            <a:extLst xmlns:a="http://schemas.openxmlformats.org/drawingml/2006/main">
              <a:ext uri="{FF2B5EF4-FFF2-40B4-BE49-F238E27FC236}">
                <a16:creationId xmlns:a16="http://schemas.microsoft.com/office/drawing/2014/main" id="{25A2F9F8-32BC-43B4-AF4E-87AA95E7D86A}"/>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10</a:t>
            </a:r>
          </a:p>
        </p:txBody>
      </p:sp>
      <p:graphicFrame>
        <p:nvGraphicFramePr>
          <p:cNvPr id="14" name="Chart"/>
          <p:cNvGraphicFramePr/>
          <p:nvPr/>
        </p:nvGraphicFramePr>
        <p:xfrm>
          <a:off xmlns:a="http://schemas.openxmlformats.org/drawingml/2006/main" x="438150" y="1952625"/>
          <a:ext xmlns:a="http://schemas.openxmlformats.org/drawingml/2006/main" cx="7239000" cy="3724275"/>
        </p:xfrm>
        <a:graphic xmlns:a="http://schemas.openxmlformats.org/drawingml/2006/main">
          <a:graphicData uri="http://schemas.openxmlformats.org/drawingml/2006/chart">
            <c:chart xmlns:r="http://schemas.openxmlformats.org/officeDocument/2006/relationships" xmlns:c="http://schemas.openxmlformats.org/drawingml/2006/chart" r:id="R1951dbccf22c4961"/>
          </a:graphicData>
        </a:graphic>
      </p:graphicFrame>
      <p:sp>
        <p:nvSpPr>
          <p:cNvPr id="6" name="">
            <a:extLst xmlns:a="http://schemas.openxmlformats.org/drawingml/2006/main">
              <a:ext uri="{FF2B5EF4-FFF2-40B4-BE49-F238E27FC236}">
                <a16:creationId xmlns:a16="http://schemas.microsoft.com/office/drawing/2014/main" id="{19339914-D3F8-4193-A547-020ECE6700E8}"/>
              </a:ext>
            </a:extLst>
          </p:cNvPr>
          <p:cNvSpPr>
            <a:spLocks xmlns:a="http://schemas.openxmlformats.org/drawingml/2006/main" noGrp="1"/>
          </p:cNvSpPr>
          <p:nvPr/>
        </p:nvSpPr>
        <p:spPr>
          <a:xfrm xmlns:a="http://schemas.openxmlformats.org/drawingml/2006/main">
            <a:off x="552450" y="1371600"/>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C6877"/>
                </a:solidFill>
                <a:latin typeface="Arial"/>
                <a:ea typeface="Arial"/>
                <a:cs typeface="Arial"/>
              </a:defRPr>
            </a:pPr>
            <a:r>
              <a:rPr sz="1725" b="0">
                <a:solidFill>
                  <a:srgbClr val="5C6877"/>
                </a:solidFill>
                <a:latin typeface="Arial"/>
                <a:ea typeface="Arial"/>
                <a:cs typeface="Arial"/>
              </a:rPr>
              <a:t>Within-state harm AUROC (equal-stratum mean)</a:t>
            </a:r>
          </a:p>
        </p:txBody>
      </p:sp>
      <p:sp>
        <p:nvSpPr>
          <p:cNvPr id="7" name="">
            <a:extLst xmlns:a="http://schemas.openxmlformats.org/drawingml/2006/main">
              <a:ext uri="{FF2B5EF4-FFF2-40B4-BE49-F238E27FC236}">
                <a16:creationId xmlns:a16="http://schemas.microsoft.com/office/drawing/2014/main" id="{A16974D4-BA81-4341-853E-9FDB08E1E621}"/>
              </a:ext>
            </a:extLst>
          </p:cNvPr>
          <p:cNvSpPr>
            <a:spLocks xmlns:a="http://schemas.openxmlformats.org/drawingml/2006/main" noGrp="1"/>
          </p:cNvSpPr>
          <p:nvPr/>
        </p:nvSpPr>
        <p:spPr>
          <a:xfrm xmlns:a="http://schemas.openxmlformats.org/drawingml/2006/main">
            <a:off x="8001000" y="1714500"/>
            <a:ext cx="360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20365C"/>
                </a:solidFill>
                <a:latin typeface="Arial"/>
                <a:ea typeface="Arial"/>
                <a:cs typeface="Arial"/>
              </a:defRPr>
            </a:pPr>
            <a:r>
              <a:rPr sz="2250" b="1">
                <a:solidFill>
                  <a:srgbClr val="20365C"/>
                </a:solidFill>
                <a:latin typeface="Arial"/>
                <a:ea typeface="Arial"/>
                <a:cs typeface="Arial"/>
              </a:rPr>
              <a:t>0.5 means chance ranking</a:t>
            </a:r>
          </a:p>
        </p:txBody>
      </p:sp>
      <p:sp>
        <p:nvSpPr>
          <p:cNvPr id="8" name="">
            <a:extLst xmlns:a="http://schemas.openxmlformats.org/drawingml/2006/main">
              <a:ext uri="{FF2B5EF4-FFF2-40B4-BE49-F238E27FC236}">
                <a16:creationId xmlns:a16="http://schemas.microsoft.com/office/drawing/2014/main" id="{C0AC769D-9904-4FD0-A935-240962370D0C}"/>
              </a:ext>
            </a:extLst>
          </p:cNvPr>
          <p:cNvSpPr>
            <a:spLocks xmlns:a="http://schemas.openxmlformats.org/drawingml/2006/main" noGrp="1"/>
          </p:cNvSpPr>
          <p:nvPr/>
        </p:nvSpPr>
        <p:spPr>
          <a:xfrm xmlns:a="http://schemas.openxmlformats.org/drawingml/2006/main">
            <a:off x="8001000" y="2667000"/>
            <a:ext cx="3524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025" b="0">
                <a:solidFill>
                  <a:srgbClr val="192737"/>
                </a:solidFill>
                <a:latin typeface="Arial"/>
                <a:ea typeface="Arial"/>
                <a:cs typeface="Arial"/>
              </a:defRPr>
            </a:pPr>
            <a:r>
              <a:rPr sz="2025" b="0">
                <a:solidFill>
                  <a:srgbClr val="192737"/>
                </a:solidFill>
                <a:latin typeface="Arial"/>
                <a:ea typeface="Arial"/>
                <a:cs typeface="Arial"/>
              </a:rPr>
              <a:t>BCA width is only slightly above chance.</a:t>
            </a:r>
          </a:p>
          <a:p xmlns:a="http://schemas.openxmlformats.org/drawingml/2006/main">
            <a:pPr marL="228600" indent="-114300">
              <a:spcAft>
                <a:spcPts val="1500"/>
              </a:spcAft>
              <a:buChar char="•"/>
              <a:defRPr sz="2025" b="0">
                <a:solidFill>
                  <a:srgbClr val="192737"/>
                </a:solidFill>
                <a:latin typeface="Arial"/>
                <a:ea typeface="Arial"/>
                <a:cs typeface="Arial"/>
              </a:defRPr>
            </a:pPr>
            <a:r>
              <a:rPr sz="2025" b="0">
                <a:solidFill>
                  <a:srgbClr val="192737"/>
                </a:solidFill>
                <a:latin typeface="Arial"/>
                <a:ea typeface="Arial"/>
                <a:cs typeface="Arial"/>
              </a:rPr>
              <a:t>Support distance ranks harm better descriptively.</a:t>
            </a:r>
          </a:p>
          <a:p xmlns:a="http://schemas.openxmlformats.org/drawingml/2006/main">
            <a:pPr marL="228600" indent="-114300">
              <a:spcAft>
                <a:spcPts val="1500"/>
              </a:spcAft>
              <a:buChar char="•"/>
              <a:defRPr sz="2025" b="0">
                <a:solidFill>
                  <a:srgbClr val="192737"/>
                </a:solidFill>
                <a:latin typeface="Arial"/>
                <a:ea typeface="Arial"/>
                <a:cs typeface="Arial"/>
              </a:defRPr>
            </a:pPr>
            <a:r>
              <a:rPr sz="2025" b="0">
                <a:solidFill>
                  <a:srgbClr val="192737"/>
                </a:solidFill>
                <a:latin typeface="Arial"/>
                <a:ea typeface="Arial"/>
                <a:cs typeface="Arial"/>
              </a:rPr>
              <a:t>111 of 256 panels contain both harm classes.</a:t>
            </a:r>
          </a:p>
        </p:txBody>
      </p:sp>
      <p:sp>
        <p:nvSpPr>
          <p:cNvPr id="9" name="">
            <a:extLst xmlns:a="http://schemas.openxmlformats.org/drawingml/2006/main">
              <a:ext uri="{FF2B5EF4-FFF2-40B4-BE49-F238E27FC236}">
                <a16:creationId xmlns:a16="http://schemas.microsoft.com/office/drawing/2014/main" id="{0802762E-90DD-4848-8D88-B0613318F5B8}"/>
              </a:ext>
            </a:extLst>
          </p:cNvPr>
          <p:cNvSpPr>
            <a:spLocks xmlns:a="http://schemas.openxmlformats.org/drawingml/2006/main" noGrp="1"/>
          </p:cNvSpPr>
          <p:nvPr/>
        </p:nvSpPr>
        <p:spPr>
          <a:xfrm xmlns:a="http://schemas.openxmlformats.org/drawingml/2006/main">
            <a:off x="619125" y="57912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Unfamiliar actions can help or hurt. Distance alone does not define harm.</a:t>
            </a:r>
          </a:p>
        </p:txBody>
      </p:sp>
    </p:spTree>
    <p:extLst>
      <p:ext uri="{BB962C8B-B14F-4D97-AF65-F5344CB8AC3E}">
        <p14:creationId xmlns:p14="http://schemas.microsoft.com/office/powerpoint/2010/main" val="2125650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D441BF-ADA4-4317-90FB-F9F92A2BCAA8}"/>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312B02-C7C3-4C9E-83BC-1ECC59F5E7D9}"/>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First OOD result: behavior after action stress</a:t>
            </a:r>
          </a:p>
        </p:txBody>
      </p:sp>
      <p:sp>
        <p:nvSpPr>
          <p:cNvPr id="3" name="">
            <a:extLst xmlns:a="http://schemas.openxmlformats.org/drawingml/2006/main">
              <a:ext uri="{FF2B5EF4-FFF2-40B4-BE49-F238E27FC236}">
                <a16:creationId xmlns:a16="http://schemas.microsoft.com/office/drawing/2014/main" id="{A0A80DE5-F7C4-4D48-834F-E4414D0E6827}"/>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Raw return over at most 250 transitions. No replicated effect or causal training explanation.</a:t>
            </a:r>
          </a:p>
        </p:txBody>
      </p:sp>
      <p:sp>
        <p:nvSpPr>
          <p:cNvPr id="4" name="">
            <a:extLst xmlns:a="http://schemas.openxmlformats.org/drawingml/2006/main">
              <a:ext uri="{FF2B5EF4-FFF2-40B4-BE49-F238E27FC236}">
                <a16:creationId xmlns:a16="http://schemas.microsoft.com/office/drawing/2014/main" id="{5F9E62DF-E9DB-4912-823C-32452A143F10}"/>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11</a:t>
            </a:r>
          </a:p>
        </p:txBody>
      </p:sp>
      <p:graphicFrame>
        <p:nvGraphicFramePr>
          <p:cNvPr id="12" name=""/>
          <p:cNvGraphicFramePr/>
          <p:nvPr/>
        </p:nvGraphicFramePr>
        <p:xfrm>
          <a:off xmlns:a="http://schemas.openxmlformats.org/drawingml/2006/main" x="495300" y="1562100"/>
          <a:ext xmlns:a="http://schemas.openxmlformats.org/drawingml/2006/main" cx="11201400" cy="2762250"/>
        </p:xfrm>
        <a:graphic xmlns:a="http://schemas.openxmlformats.org/drawingml/2006/main">
          <a:graphicData uri="http://schemas.openxmlformats.org/drawingml/2006/table">
            <a:tbl>
              <a:tblPr/>
              <a:tblGrid>
                <a:gridCol w="5619750"/>
                <a:gridCol w="1952625"/>
                <a:gridCol w="3629025"/>
              </a:tblGrid>
              <a:tr h="690563">
                <a:tc>
                  <a:txBody>
                    <a:bodyPr>
                      <a:noAutofit/>
                    </a:bodyPr>
                    <a:lstStyle/>
                    <a:p>
                      <a:r>
                        <a:rPr sz="1875" b="1">
                          <a:solidFill>
                            <a:srgbClr val="FFFFFF"/>
                          </a:solidFill>
                          <a:latin typeface="Arial"/>
                          <a:ea typeface="Arial"/>
                          <a:cs typeface="Arial"/>
                        </a:rPr>
                        <a:t>Contrast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BCA advantage</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Interpretation</a:t>
                      </a:r>
                    </a:p>
                  </a:txBody>
                  <a:tcPr marL="114300" marR="95250" marT="76200" marB="66675" anchor="ctr">
                    <a:solidFill>
                      <a:srgbClr val="20365C"/>
                    </a:solidFill>
                  </a:tcPr>
                </a:tc>
              </a:tr>
              <a:tr h="690563">
                <a:tc>
                  <a:txBody>
                    <a:bodyPr>
                      <a:noAutofit/>
                    </a:bodyPr>
                    <a:lstStyle/>
                    <a:p>
                      <a:r>
                        <a:rPr sz="1875" b="0">
                          <a:solidFill>
                            <a:srgbClr val="192737"/>
                          </a:solidFill>
                          <a:latin typeface="Arial"/>
                          <a:ea typeface="Arial"/>
                          <a:cs typeface="Arial"/>
                        </a:rPr>
                        <a:t>Own first action; same BCA continuation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−0.120</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No average first-action gain</a:t>
                      </a:r>
                    </a:p>
                  </a:txBody>
                  <a:tcPr marL="114300" marR="95250" marT="76200" marB="66675" anchor="ctr">
                    <a:solidFill>
                      <a:srgbClr val="FFFFFF"/>
                    </a:solidFill>
                  </a:tcPr>
                </a:tc>
              </a:tr>
              <a:tr h="690563">
                <a:tc>
                  <a:txBody>
                    <a:bodyPr>
                      <a:noAutofit/>
                    </a:bodyPr>
                    <a:lstStyle/>
                    <a:p>
                      <a:r>
                        <a:rPr sz="1875" b="0">
                          <a:solidFill>
                            <a:srgbClr val="192737"/>
                          </a:solidFill>
                          <a:latin typeface="Arial"/>
                          <a:ea typeface="Arial"/>
                          <a:cs typeface="Arial"/>
                        </a:rPr>
                        <a:t>Same distant action; different continuation</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−5.046</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Lower BCA stressed return</a:t>
                      </a:r>
                    </a:p>
                  </a:txBody>
                  <a:tcPr marL="114300" marR="95250" marT="76200" marB="66675" anchor="ctr">
                    <a:solidFill>
                      <a:srgbClr val="F1F4F8"/>
                    </a:solidFill>
                  </a:tcPr>
                </a:tc>
              </a:tr>
              <a:tr h="690563">
                <a:tc>
                  <a:txBody>
                    <a:bodyPr>
                      <a:noAutofit/>
                    </a:bodyPr>
                    <a:lstStyle/>
                    <a:p>
                      <a:r>
                        <a:rPr sz="1875" b="0">
                          <a:solidFill>
                            <a:srgbClr val="192737"/>
                          </a:solidFill>
                          <a:latin typeface="Arial"/>
                          <a:ea typeface="Arial"/>
                          <a:cs typeface="Arial"/>
                        </a:rPr>
                        <a:t>Distant-action loss relative to common anchor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−0.019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Almost no degradation advantage</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C2805B3-7A0C-458E-A33C-806DEFC3377E}"/>
              </a:ext>
            </a:extLst>
          </p:cNvPr>
          <p:cNvSpPr>
            <a:spLocks xmlns:a="http://schemas.openxmlformats.org/drawingml/2006/main" noGrp="1"/>
          </p:cNvSpPr>
          <p:nvPr/>
        </p:nvSpPr>
        <p:spPr>
          <a:xfrm xmlns:a="http://schemas.openxmlformats.org/drawingml/2006/main">
            <a:off x="609600" y="4667250"/>
            <a:ext cx="1090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B46226"/>
                </a:solidFill>
                <a:latin typeface="Arial"/>
                <a:ea typeface="Arial"/>
                <a:cs typeface="Arial"/>
              </a:defRPr>
            </a:pPr>
            <a:r>
              <a:rPr sz="2250" b="1">
                <a:solidFill>
                  <a:srgbClr val="B46226"/>
                </a:solidFill>
                <a:latin typeface="Arial"/>
                <a:ea typeface="Arial"/>
                <a:cs typeface="Arial"/>
              </a:rPr>
              <a:t>The distant-action comparisons are post hoc: 233 actions across 193 states.</a:t>
            </a:r>
          </a:p>
        </p:txBody>
      </p:sp>
      <p:sp>
        <p:nvSpPr>
          <p:cNvPr id="7" name="">
            <a:extLst xmlns:a="http://schemas.openxmlformats.org/drawingml/2006/main">
              <a:ext uri="{FF2B5EF4-FFF2-40B4-BE49-F238E27FC236}">
                <a16:creationId xmlns:a16="http://schemas.microsoft.com/office/drawing/2014/main" id="{A89F8466-2722-4FD4-94D4-C352BD4565B4}"/>
              </a:ext>
            </a:extLst>
          </p:cNvPr>
          <p:cNvSpPr>
            <a:spLocks xmlns:a="http://schemas.openxmlformats.org/drawingml/2006/main" noGrp="1"/>
          </p:cNvSpPr>
          <p:nvPr/>
        </p:nvSpPr>
        <p:spPr>
          <a:xfrm xmlns:a="http://schemas.openxmlformats.org/drawingml/2006/main">
            <a:off x="609600" y="561975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20365C"/>
                </a:solidFill>
                <a:latin typeface="Arial"/>
                <a:ea typeface="Arial"/>
                <a:cs typeface="Arial"/>
              </a:defRPr>
            </a:pPr>
            <a:r>
              <a:rPr sz="2400" b="1">
                <a:solidFill>
                  <a:srgbClr val="20365C"/>
                </a:solidFill>
                <a:latin typeface="Arial"/>
                <a:ea typeface="Arial"/>
                <a:cs typeface="Arial"/>
              </a:rPr>
              <a:t>Current evidence does not demonstrate improved OOD handling by BCA.</a:t>
            </a:r>
          </a:p>
        </p:txBody>
      </p:sp>
    </p:spTree>
    <p:extLst>
      <p:ext uri="{BB962C8B-B14F-4D97-AF65-F5344CB8AC3E}">
        <p14:creationId xmlns:p14="http://schemas.microsoft.com/office/powerpoint/2010/main" val="7163104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D4F3A8-6EC0-495D-843F-94C761A7D7E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1F9941-DCD5-4763-8D00-AE99EBB53157}"/>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Why the prospective OOD follow-up changes</a:t>
            </a:r>
          </a:p>
        </p:txBody>
      </p:sp>
      <p:sp>
        <p:nvSpPr>
          <p:cNvPr id="3" name="">
            <a:extLst xmlns:a="http://schemas.openxmlformats.org/drawingml/2006/main">
              <a:ext uri="{FF2B5EF4-FFF2-40B4-BE49-F238E27FC236}">
                <a16:creationId xmlns:a16="http://schemas.microsoft.com/office/drawing/2014/main" id="{1AE7B5EC-75FC-4C9C-8C46-FB99FF5F4A0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Follow-up specified after v1, before v2 outcomes. No new v2 outcomes yet.</a:t>
            </a:r>
          </a:p>
        </p:txBody>
      </p:sp>
      <p:sp>
        <p:nvSpPr>
          <p:cNvPr id="4" name="">
            <a:extLst xmlns:a="http://schemas.openxmlformats.org/drawingml/2006/main">
              <a:ext uri="{FF2B5EF4-FFF2-40B4-BE49-F238E27FC236}">
                <a16:creationId xmlns:a16="http://schemas.microsoft.com/office/drawing/2014/main" id="{4B35893F-8258-4DA4-88BF-7A2392F036AA}"/>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12</a:t>
            </a:r>
          </a:p>
        </p:txBody>
      </p:sp>
      <p:graphicFrame>
        <p:nvGraphicFramePr>
          <p:cNvPr id="10" name=""/>
          <p:cNvGraphicFramePr/>
          <p:nvPr/>
        </p:nvGraphicFramePr>
        <p:xfrm>
          <a:off xmlns:a="http://schemas.openxmlformats.org/drawingml/2006/main" x="495300" y="1562100"/>
          <a:ext xmlns:a="http://schemas.openxmlformats.org/drawingml/2006/main" cx="11201400" cy="4305300"/>
        </p:xfrm>
        <a:graphic xmlns:a="http://schemas.openxmlformats.org/drawingml/2006/main">
          <a:graphicData uri="http://schemas.openxmlformats.org/drawingml/2006/table">
            <a:tbl>
              <a:tblPr/>
              <a:tblGrid>
                <a:gridCol w="3743325"/>
                <a:gridCol w="3743325"/>
                <a:gridCol w="3714750"/>
              </a:tblGrid>
              <a:tr h="717550">
                <a:tc>
                  <a:txBody>
                    <a:bodyPr>
                      <a:noAutofit/>
                    </a:bodyPr>
                    <a:lstStyle/>
                    <a:p>
                      <a:r>
                        <a:rPr sz="1725" b="1">
                          <a:solidFill>
                            <a:srgbClr val="FFFFFF"/>
                          </a:solidFill>
                          <a:latin typeface="Arial"/>
                          <a:ea typeface="Arial"/>
                          <a:cs typeface="Arial"/>
                        </a:rPr>
                        <a:t>Limitation seen in v1</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Declared follow-up</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Expected benefit</a:t>
                      </a:r>
                    </a:p>
                  </a:txBody>
                  <a:tcPr marL="114300" marR="95250" marT="76200" marB="66675" anchor="ctr">
                    <a:solidFill>
                      <a:srgbClr val="20365C"/>
                    </a:solidFill>
                  </a:tcPr>
                </a:tc>
              </a:tr>
              <a:tr h="717550">
                <a:tc>
                  <a:txBody>
                    <a:bodyPr>
                      <a:noAutofit/>
                    </a:bodyPr>
                    <a:lstStyle/>
                    <a:p>
                      <a:r>
                        <a:rPr sz="1725" b="0">
                          <a:solidFill>
                            <a:srgbClr val="192737"/>
                          </a:solidFill>
                          <a:latin typeface="Arial"/>
                          <a:ea typeface="Arial"/>
                          <a:cs typeface="Arial"/>
                        </a:rPr>
                        <a:t>Few balanced support comparisons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Near, moderate and distant action bands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Tests how behavior changes with support</a:t>
                      </a:r>
                    </a:p>
                  </a:txBody>
                  <a:tcPr marL="114300" marR="95250" marT="76200" marB="66675" anchor="ctr">
                    <a:solidFill>
                      <a:srgbClr val="FFFFFF"/>
                    </a:solidFill>
                  </a:tcPr>
                </a:tc>
              </a:tr>
              <a:tr h="717550">
                <a:tc>
                  <a:txBody>
                    <a:bodyPr>
                      <a:noAutofit/>
                    </a:bodyPr>
                    <a:lstStyle/>
                    <a:p>
                      <a:r>
                        <a:rPr sz="1725" b="0">
                          <a:solidFill>
                            <a:srgbClr val="192737"/>
                          </a:solidFill>
                          <a:latin typeface="Arial"/>
                          <a:ea typeface="Arial"/>
                          <a:cs typeface="Arial"/>
                        </a:rPr>
                        <a:t>Anchor can affect the apparent advantage</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Same recorded-action anchor for both policies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Makes degradation comparisons interpretable</a:t>
                      </a:r>
                    </a:p>
                  </a:txBody>
                  <a:tcPr marL="114300" marR="95250" marT="76200" marB="66675" anchor="ctr">
                    <a:solidFill>
                      <a:srgbClr val="F1F4F8"/>
                    </a:solidFill>
                  </a:tcPr>
                </a:tc>
              </a:tr>
              <a:tr h="717550">
                <a:tc>
                  <a:txBody>
                    <a:bodyPr>
                      <a:noAutofit/>
                    </a:bodyPr>
                    <a:lstStyle/>
                    <a:p>
                      <a:r>
                        <a:rPr sz="1725" b="0">
                          <a:solidFill>
                            <a:srgbClr val="192737"/>
                          </a:solidFill>
                          <a:latin typeface="Arial"/>
                          <a:ea typeface="Arial"/>
                          <a:cs typeface="Arial"/>
                        </a:rPr>
                        <a:t>Action and state novelty can mix</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Separate familiar-state and joint-shift panels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Shows which kind of shift drives the result</a:t>
                      </a:r>
                    </a:p>
                  </a:txBody>
                  <a:tcPr marL="114300" marR="95250" marT="76200" marB="66675" anchor="ctr">
                    <a:solidFill>
                      <a:srgbClr val="FFFFFF"/>
                    </a:solidFill>
                  </a:tcPr>
                </a:tc>
              </a:tr>
              <a:tr h="717550">
                <a:tc>
                  <a:txBody>
                    <a:bodyPr>
                      <a:noAutofit/>
                    </a:bodyPr>
                    <a:lstStyle/>
                    <a:p>
                      <a:r>
                        <a:rPr sz="1725" b="0">
                          <a:solidFill>
                            <a:srgbClr val="192737"/>
                          </a:solidFill>
                          <a:latin typeface="Arial"/>
                          <a:ea typeface="Arial"/>
                          <a:cs typeface="Arial"/>
                        </a:rPr>
                        <a:t>One seed cannot establish reliability</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All five declared seeds in each cell</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Measures variation across training runs</a:t>
                      </a:r>
                    </a:p>
                  </a:txBody>
                  <a:tcPr marL="114300" marR="95250" marT="76200" marB="66675" anchor="ctr">
                    <a:solidFill>
                      <a:srgbClr val="F1F4F8"/>
                    </a:solidFill>
                  </a:tcPr>
                </a:tc>
              </a:tr>
              <a:tr h="717550">
                <a:tc>
                  <a:txBody>
                    <a:bodyPr>
                      <a:noAutofit/>
                    </a:bodyPr>
                    <a:lstStyle/>
                    <a:p>
                      <a:r>
                        <a:rPr sz="1725" b="0">
                          <a:solidFill>
                            <a:srgbClr val="192737"/>
                          </a:solidFill>
                          <a:latin typeface="Arial"/>
                          <a:ea typeface="Arial"/>
                          <a:cs typeface="Arial"/>
                        </a:rPr>
                        <a:t>Reused candidate seed overlapped evaluation</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Approved one-seed correction only</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Separates random streams without tuning outcomes</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18589781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D657C2-3562-4A2E-A41E-4CFC8F84687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4D013B-6704-4A20-8361-E96F552B83C2}"/>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How to interpret good and bad outcomes</a:t>
            </a:r>
          </a:p>
        </p:txBody>
      </p:sp>
      <p:sp>
        <p:nvSpPr>
          <p:cNvPr id="3" name="">
            <a:extLst xmlns:a="http://schemas.openxmlformats.org/drawingml/2006/main">
              <a:ext uri="{FF2B5EF4-FFF2-40B4-BE49-F238E27FC236}">
                <a16:creationId xmlns:a16="http://schemas.microsoft.com/office/drawing/2014/main" id="{951C5D73-C546-4BBD-98A7-98EB74453FD9}"/>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14260F53-6447-47DE-9193-84EEE0DEE4A3}"/>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13</a:t>
            </a:r>
          </a:p>
        </p:txBody>
      </p:sp>
      <p:graphicFrame>
        <p:nvGraphicFramePr>
          <p:cNvPr id="10" name=""/>
          <p:cNvGraphicFramePr/>
          <p:nvPr/>
        </p:nvGraphicFramePr>
        <p:xfrm>
          <a:off xmlns:a="http://schemas.openxmlformats.org/drawingml/2006/main" x="495300" y="1562100"/>
          <a:ext xmlns:a="http://schemas.openxmlformats.org/drawingml/2006/main" cx="11201400" cy="4352925"/>
        </p:xfrm>
        <a:graphic xmlns:a="http://schemas.openxmlformats.org/drawingml/2006/main">
          <a:graphicData uri="http://schemas.openxmlformats.org/drawingml/2006/table">
            <a:tbl>
              <a:tblPr/>
              <a:tblGrid>
                <a:gridCol w="3619500"/>
                <a:gridCol w="3905250"/>
                <a:gridCol w="3676650"/>
              </a:tblGrid>
              <a:tr h="725488">
                <a:tc>
                  <a:txBody>
                    <a:bodyPr>
                      <a:noAutofit/>
                    </a:bodyPr>
                    <a:lstStyle/>
                    <a:p>
                      <a:r>
                        <a:rPr sz="1725" b="1">
                          <a:solidFill>
                            <a:srgbClr val="FFFFFF"/>
                          </a:solidFill>
                          <a:latin typeface="Arial"/>
                          <a:ea typeface="Arial"/>
                          <a:cs typeface="Arial"/>
                        </a:rPr>
                        <a:t>Observation</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What it means</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Next scientific question</a:t>
                      </a:r>
                    </a:p>
                  </a:txBody>
                  <a:tcPr marL="114300" marR="95250" marT="76200" marB="66675" anchor="ctr">
                    <a:solidFill>
                      <a:srgbClr val="20365C"/>
                    </a:solidFill>
                  </a:tcPr>
                </a:tc>
              </a:tr>
              <a:tr h="725488">
                <a:tc>
                  <a:txBody>
                    <a:bodyPr>
                      <a:noAutofit/>
                    </a:bodyPr>
                    <a:lstStyle/>
                    <a:p>
                      <a:r>
                        <a:rPr sz="1725" b="0">
                          <a:solidFill>
                            <a:srgbClr val="192737"/>
                          </a:solidFill>
                          <a:latin typeface="Arial"/>
                          <a:ea typeface="Arial"/>
                          <a:cs typeface="Arial"/>
                        </a:rPr>
                        <a:t>Width ranks harmful actions well</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Useful warning in that tested panel</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Does the host use that warning effectively?</a:t>
                      </a:r>
                    </a:p>
                  </a:txBody>
                  <a:tcPr marL="114300" marR="95250" marT="76200" marB="66675" anchor="ctr">
                    <a:solidFill>
                      <a:srgbClr val="FFFFFF"/>
                    </a:solidFill>
                  </a:tcPr>
                </a:tc>
              </a:tr>
              <a:tr h="725488">
                <a:tc>
                  <a:txBody>
                    <a:bodyPr>
                      <a:noAutofit/>
                    </a:bodyPr>
                    <a:lstStyle/>
                    <a:p>
                      <a:r>
                        <a:rPr sz="1725" b="0">
                          <a:solidFill>
                            <a:srgbClr val="192737"/>
                          </a:solidFill>
                          <a:latin typeface="Arial"/>
                          <a:ea typeface="Arial"/>
                          <a:cs typeface="Arial"/>
                        </a:rPr>
                        <a:t>Higher stressed return and less degradation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Evidence of practical action-stress benefit</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Does it replicate across all declared seeds?</a:t>
                      </a:r>
                    </a:p>
                  </a:txBody>
                  <a:tcPr marL="114300" marR="95250" marT="76200" marB="66675" anchor="ctr">
                    <a:solidFill>
                      <a:srgbClr val="F1F4F8"/>
                    </a:solidFill>
                  </a:tcPr>
                </a:tc>
              </a:tr>
              <a:tr h="725488">
                <a:tc>
                  <a:txBody>
                    <a:bodyPr>
                      <a:noAutofit/>
                    </a:bodyPr>
                    <a:lstStyle/>
                    <a:p>
                      <a:r>
                        <a:rPr sz="1725" b="0">
                          <a:solidFill>
                            <a:srgbClr val="192737"/>
                          </a:solidFill>
                          <a:latin typeface="Arial"/>
                          <a:ea typeface="Arial"/>
                          <a:cs typeface="Arial"/>
                        </a:rPr>
                        <a:t>Correct coverage, weak harm ranking</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Band covers its target; proxy may be limited</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Does target error align with decision harm?</a:t>
                      </a:r>
                    </a:p>
                  </a:txBody>
                  <a:tcPr marL="114300" marR="95250" marT="76200" marB="66675" anchor="ctr">
                    <a:solidFill>
                      <a:srgbClr val="FFFFFF"/>
                    </a:solidFill>
                  </a:tcPr>
                </a:tc>
              </a:tr>
              <a:tr h="725488">
                <a:tc>
                  <a:txBody>
                    <a:bodyPr>
                      <a:noAutofit/>
                    </a:bodyPr>
                    <a:lstStyle/>
                    <a:p>
                      <a:r>
                        <a:rPr sz="1725" b="0">
                          <a:solidFill>
                            <a:srgbClr val="192737"/>
                          </a:solidFill>
                          <a:latin typeface="Arial"/>
                          <a:ea typeface="Arial"/>
                          <a:cs typeface="Arial"/>
                        </a:rPr>
                        <a:t>Lower stressed return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No benefit in that measured comparison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Which mechanism or host attachment is responsible?</a:t>
                      </a:r>
                    </a:p>
                  </a:txBody>
                  <a:tcPr marL="114300" marR="95250" marT="76200" marB="66675" anchor="ctr">
                    <a:solidFill>
                      <a:srgbClr val="F1F4F8"/>
                    </a:solidFill>
                  </a:tcPr>
                </a:tc>
              </a:tr>
              <a:tr h="725488">
                <a:tc>
                  <a:txBody>
                    <a:bodyPr>
                      <a:noAutofit/>
                    </a:bodyPr>
                    <a:lstStyle/>
                    <a:p>
                      <a:r>
                        <a:rPr sz="1725" b="0">
                          <a:solidFill>
                            <a:srgbClr val="192737"/>
                          </a:solidFill>
                          <a:latin typeface="Arial"/>
                          <a:ea typeface="Arial"/>
                          <a:cs typeface="Arial"/>
                        </a:rPr>
                        <a:t>Coverage misses under shift</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Calibration contract may not transfer</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Are ratios, support and sampling assumptions valid?</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10951869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0033FA-4D39-4980-AA53-74AC306FD409}"/>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7B2135-4DD7-4A2A-BD92-67715FC26B94}"/>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What was wrong with the earlier IW path</a:t>
            </a:r>
          </a:p>
        </p:txBody>
      </p:sp>
      <p:sp>
        <p:nvSpPr>
          <p:cNvPr id="3" name="">
            <a:extLst xmlns:a="http://schemas.openxmlformats.org/drawingml/2006/main">
              <a:ext uri="{FF2B5EF4-FFF2-40B4-BE49-F238E27FC236}">
                <a16:creationId xmlns:a16="http://schemas.microsoft.com/office/drawing/2014/main" id="{2BD6A11A-F900-480E-9842-F0DD80DAF5B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Earlier results retain their original method identities. Standard-BCA results keep their original interpretation.</a:t>
            </a:r>
          </a:p>
        </p:txBody>
      </p:sp>
      <p:sp>
        <p:nvSpPr>
          <p:cNvPr id="4" name="">
            <a:extLst xmlns:a="http://schemas.openxmlformats.org/drawingml/2006/main">
              <a:ext uri="{FF2B5EF4-FFF2-40B4-BE49-F238E27FC236}">
                <a16:creationId xmlns:a16="http://schemas.microsoft.com/office/drawing/2014/main" id="{4FF4265E-126E-4D13-9B34-D7F4AFB9BCB8}"/>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14</a:t>
            </a:r>
          </a:p>
        </p:txBody>
      </p:sp>
      <p:graphicFrame>
        <p:nvGraphicFramePr>
          <p:cNvPr id="11" name=""/>
          <p:cNvGraphicFramePr/>
          <p:nvPr/>
        </p:nvGraphicFramePr>
        <p:xfrm>
          <a:off xmlns:a="http://schemas.openxmlformats.org/drawingml/2006/main" x="495300" y="1562100"/>
          <a:ext xmlns:a="http://schemas.openxmlformats.org/drawingml/2006/main" cx="11201400" cy="3314700"/>
        </p:xfrm>
        <a:graphic xmlns:a="http://schemas.openxmlformats.org/drawingml/2006/main">
          <a:graphicData uri="http://schemas.openxmlformats.org/drawingml/2006/table">
            <a:tbl>
              <a:tblPr/>
              <a:tblGrid>
                <a:gridCol w="2505075"/>
                <a:gridCol w="3952875"/>
                <a:gridCol w="4743450"/>
              </a:tblGrid>
              <a:tr h="662940">
                <a:tc>
                  <a:txBody>
                    <a:bodyPr>
                      <a:noAutofit/>
                    </a:bodyPr>
                    <a:lstStyle/>
                    <a:p>
                      <a:r>
                        <a:rPr sz="1875" b="1">
                          <a:solidFill>
                            <a:srgbClr val="FFFFFF"/>
                          </a:solidFill>
                          <a:latin typeface="Arial"/>
                          <a:ea typeface="Arial"/>
                          <a:cs typeface="Arial"/>
                        </a:rPr>
                        <a:t>Component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Earlier fitting-IW path</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Intended correction</a:t>
                      </a:r>
                    </a:p>
                  </a:txBody>
                  <a:tcPr marL="114300" marR="95250" marT="76200" marB="66675" anchor="ctr">
                    <a:solidFill>
                      <a:srgbClr val="20365C"/>
                    </a:solidFill>
                  </a:tcPr>
                </a:tc>
              </a:tr>
              <a:tr h="662940">
                <a:tc>
                  <a:txBody>
                    <a:bodyPr>
                      <a:noAutofit/>
                    </a:bodyPr>
                    <a:lstStyle/>
                    <a:p>
                      <a:r>
                        <a:rPr sz="1875" b="0">
                          <a:solidFill>
                            <a:srgbClr val="192737"/>
                          </a:solidFill>
                          <a:latin typeface="Arial"/>
                          <a:ea typeface="Arial"/>
                          <a:cs typeface="Arial"/>
                        </a:rPr>
                        <a:t>Scale model</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Weighted fitting loss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Keep fixed initially to isolate the new threshold</a:t>
                      </a:r>
                    </a:p>
                  </a:txBody>
                  <a:tcPr marL="114300" marR="95250" marT="76200" marB="66675" anchor="ctr">
                    <a:solidFill>
                      <a:srgbClr val="FFFFFF"/>
                    </a:solidFill>
                  </a:tcPr>
                </a:tc>
              </a:tr>
              <a:tr h="662940">
                <a:tc>
                  <a:txBody>
                    <a:bodyPr>
                      <a:noAutofit/>
                    </a:bodyPr>
                    <a:lstStyle/>
                    <a:p>
                      <a:r>
                        <a:rPr sz="1875" b="0">
                          <a:solidFill>
                            <a:srgbClr val="192737"/>
                          </a:solidFill>
                          <a:latin typeface="Arial"/>
                          <a:ea typeface="Arial"/>
                          <a:cs typeface="Arial"/>
                        </a:rPr>
                        <a:t>Held-out threshold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Equal score masses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Target/source weights on held-out scores</a:t>
                      </a:r>
                    </a:p>
                  </a:txBody>
                  <a:tcPr marL="114300" marR="95250" marT="76200" marB="66675" anchor="ctr">
                    <a:solidFill>
                      <a:srgbClr val="F1F4F8"/>
                    </a:solidFill>
                  </a:tcPr>
                </a:tc>
              </a:tr>
              <a:tr h="662940">
                <a:tc>
                  <a:txBody>
                    <a:bodyPr>
                      <a:noAutofit/>
                    </a:bodyPr>
                    <a:lstStyle/>
                    <a:p>
                      <a:r>
                        <a:rPr sz="1875" b="0">
                          <a:solidFill>
                            <a:srgbClr val="192737"/>
                          </a:solidFill>
                          <a:latin typeface="Arial"/>
                          <a:ea typeface="Arial"/>
                          <a:cs typeface="Arial"/>
                        </a:rPr>
                        <a:t>Query contribution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Unit mass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Query’s own ratio mass at +infinity</a:t>
                      </a:r>
                    </a:p>
                  </a:txBody>
                  <a:tcPr marL="114300" marR="95250" marT="76200" marB="66675" anchor="ctr">
                    <a:solidFill>
                      <a:srgbClr val="FFFFFF"/>
                    </a:solidFill>
                  </a:tcPr>
                </a:tc>
              </a:tr>
              <a:tr h="662940">
                <a:tc>
                  <a:txBody>
                    <a:bodyPr>
                      <a:noAutofit/>
                    </a:bodyPr>
                    <a:lstStyle/>
                    <a:p>
                      <a:r>
                        <a:rPr sz="1875" b="0">
                          <a:solidFill>
                            <a:srgbClr val="192737"/>
                          </a:solidFill>
                          <a:latin typeface="Arial"/>
                          <a:ea typeface="Arial"/>
                          <a:cs typeface="Arial"/>
                        </a:rPr>
                        <a:t>Radius cache</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One global scalar</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Query-dependent radius when required</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14036213-A16E-459F-9ACA-43A1BD4799E8}"/>
              </a:ext>
            </a:extLst>
          </p:cNvPr>
          <p:cNvSpPr>
            <a:spLocks xmlns:a="http://schemas.openxmlformats.org/drawingml/2006/main" noGrp="1"/>
          </p:cNvSpPr>
          <p:nvPr/>
        </p:nvSpPr>
        <p:spPr>
          <a:xfrm xmlns:a="http://schemas.openxmlformats.org/drawingml/2006/main">
            <a:off x="628650" y="52197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0365C"/>
                </a:solidFill>
                <a:latin typeface="Arial"/>
                <a:ea typeface="Arial"/>
                <a:cs typeface="Arial"/>
              </a:defRPr>
            </a:pPr>
            <a:r>
              <a:rPr sz="2325" b="1">
                <a:solidFill>
                  <a:srgbClr val="20365C"/>
                </a:solidFill>
                <a:latin typeface="Arial"/>
                <a:ea typeface="Arial"/>
                <a:cs typeface="Arial"/>
              </a:rPr>
              <a:t>Weighting the scale-fitting loss does not implement the intended weighted threshold.</a:t>
            </a:r>
          </a:p>
        </p:txBody>
      </p:sp>
    </p:spTree>
    <p:extLst>
      <p:ext uri="{BB962C8B-B14F-4D97-AF65-F5344CB8AC3E}">
        <p14:creationId xmlns:p14="http://schemas.microsoft.com/office/powerpoint/2010/main" val="1760161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31430D-BDA5-4E9E-A9EA-05FE776D3E14}"/>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090F5F-F9D8-462E-9B09-04275F4DB70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Components needed for the IW correction</a:t>
            </a:r>
          </a:p>
        </p:txBody>
      </p:sp>
      <p:sp>
        <p:nvSpPr>
          <p:cNvPr id="3" name="">
            <a:extLst xmlns:a="http://schemas.openxmlformats.org/drawingml/2006/main">
              <a:ext uri="{FF2B5EF4-FFF2-40B4-BE49-F238E27FC236}">
                <a16:creationId xmlns:a16="http://schemas.microsoft.com/office/drawing/2014/main" id="{340ED9AF-0B67-4890-998D-9C2F4968AA37}"/>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These are implementation and sampling requirements. No corrected IW host training has run.</a:t>
            </a:r>
          </a:p>
        </p:txBody>
      </p:sp>
      <p:sp>
        <p:nvSpPr>
          <p:cNvPr id="4" name="">
            <a:extLst xmlns:a="http://schemas.openxmlformats.org/drawingml/2006/main">
              <a:ext uri="{FF2B5EF4-FFF2-40B4-BE49-F238E27FC236}">
                <a16:creationId xmlns:a16="http://schemas.microsoft.com/office/drawing/2014/main" id="{08F8B56B-1592-42AC-9085-283E00F545A6}"/>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15</a:t>
            </a:r>
          </a:p>
        </p:txBody>
      </p:sp>
      <p:graphicFrame>
        <p:nvGraphicFramePr>
          <p:cNvPr id="10" name=""/>
          <p:cNvGraphicFramePr/>
          <p:nvPr/>
        </p:nvGraphicFramePr>
        <p:xfrm>
          <a:off xmlns:a="http://schemas.openxmlformats.org/drawingml/2006/main" x="495300" y="1562100"/>
          <a:ext xmlns:a="http://schemas.openxmlformats.org/drawingml/2006/main" cx="11201400" cy="4152900"/>
        </p:xfrm>
        <a:graphic xmlns:a="http://schemas.openxmlformats.org/drawingml/2006/main">
          <a:graphicData uri="http://schemas.openxmlformats.org/drawingml/2006/table">
            <a:tbl>
              <a:tblPr/>
              <a:tblGrid>
                <a:gridCol w="4191000"/>
                <a:gridCol w="7010400"/>
              </a:tblGrid>
              <a:tr h="692150">
                <a:tc>
                  <a:txBody>
                    <a:bodyPr>
                      <a:noAutofit/>
                    </a:bodyPr>
                    <a:lstStyle/>
                    <a:p>
                      <a:r>
                        <a:rPr sz="1875" b="1">
                          <a:solidFill>
                            <a:srgbClr val="FFFFFF"/>
                          </a:solidFill>
                          <a:latin typeface="Arial"/>
                          <a:ea typeface="Arial"/>
                          <a:cs typeface="Arial"/>
                        </a:rPr>
                        <a:t>Required component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Why it is necessary</a:t>
                      </a:r>
                    </a:p>
                  </a:txBody>
                  <a:tcPr marL="114300" marR="95250" marT="76200" marB="66675" anchor="ctr">
                    <a:solidFill>
                      <a:srgbClr val="20365C"/>
                    </a:solidFill>
                  </a:tcPr>
                </a:tc>
              </a:tr>
              <a:tr h="692150">
                <a:tc>
                  <a:txBody>
                    <a:bodyPr>
                      <a:noAutofit/>
                    </a:bodyPr>
                    <a:lstStyle/>
                    <a:p>
                      <a:r>
                        <a:rPr sz="1875" b="0">
                          <a:solidFill>
                            <a:srgbClr val="192737"/>
                          </a:solidFill>
                          <a:latin typeface="Arial"/>
                          <a:ea typeface="Arial"/>
                          <a:cs typeface="Arial"/>
                        </a:rPr>
                        <a:t>Declared source and target populations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Defines what distribution the band should cover</a:t>
                      </a:r>
                    </a:p>
                  </a:txBody>
                  <a:tcPr marL="114300" marR="95250" marT="76200" marB="66675" anchor="ctr">
                    <a:solidFill>
                      <a:srgbClr val="FFFFFF"/>
                    </a:solidFill>
                  </a:tcPr>
                </a:tc>
              </a:tr>
              <a:tr h="692150">
                <a:tc>
                  <a:txBody>
                    <a:bodyPr>
                      <a:noAutofit/>
                    </a:bodyPr>
                    <a:lstStyle/>
                    <a:p>
                      <a:r>
                        <a:rPr sz="1875" b="0">
                          <a:solidFill>
                            <a:srgbClr val="192737"/>
                          </a:solidFill>
                          <a:latin typeface="Arial"/>
                          <a:ea typeface="Arial"/>
                          <a:cs typeface="Arial"/>
                        </a:rPr>
                        <a:t>Justified ratio and support</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AWR, affinity and policy density alone do not establish the needed ratio</a:t>
                      </a:r>
                    </a:p>
                  </a:txBody>
                  <a:tcPr marL="114300" marR="95250" marT="76200" marB="66675" anchor="ctr">
                    <a:solidFill>
                      <a:srgbClr val="F1F4F8"/>
                    </a:solidFill>
                  </a:tcPr>
                </a:tc>
              </a:tr>
              <a:tr h="692150">
                <a:tc>
                  <a:txBody>
                    <a:bodyPr>
                      <a:noAutofit/>
                    </a:bodyPr>
                    <a:lstStyle/>
                    <a:p>
                      <a:r>
                        <a:rPr sz="1875" b="0">
                          <a:solidFill>
                            <a:srgbClr val="192737"/>
                          </a:solidFill>
                          <a:latin typeface="Arial"/>
                          <a:ea typeface="Arial"/>
                          <a:cs typeface="Arial"/>
                        </a:rPr>
                        <a:t>Independent validation sampling</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Earlier calibration feedback can break the simple split-conformal argument</a:t>
                      </a:r>
                    </a:p>
                  </a:txBody>
                  <a:tcPr marL="114300" marR="95250" marT="76200" marB="66675" anchor="ctr">
                    <a:solidFill>
                      <a:srgbClr val="FFFFFF"/>
                    </a:solidFill>
                  </a:tcPr>
                </a:tc>
              </a:tr>
              <a:tr h="692150">
                <a:tc>
                  <a:txBody>
                    <a:bodyPr>
                      <a:noAutofit/>
                    </a:bodyPr>
                    <a:lstStyle/>
                    <a:p>
                      <a:r>
                        <a:rPr sz="1875" b="0">
                          <a:solidFill>
                            <a:srgbClr val="192737"/>
                          </a:solidFill>
                          <a:latin typeface="Arial"/>
                          <a:ea typeface="Arial"/>
                          <a:cs typeface="Arial"/>
                        </a:rPr>
                        <a:t>Weighted threshold plus query mass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Accounts for the target population and finite calibration size</a:t>
                      </a:r>
                    </a:p>
                  </a:txBody>
                  <a:tcPr marL="114300" marR="95250" marT="76200" marB="66675" anchor="ctr">
                    <a:solidFill>
                      <a:srgbClr val="F1F4F8"/>
                    </a:solidFill>
                  </a:tcPr>
                </a:tc>
              </a:tr>
              <a:tr h="692150">
                <a:tc>
                  <a:txBody>
                    <a:bodyPr>
                      <a:noAutofit/>
                    </a:bodyPr>
                    <a:lstStyle/>
                    <a:p>
                      <a:r>
                        <a:rPr sz="1875" b="0">
                          <a:solidFill>
                            <a:srgbClr val="192737"/>
                          </a:solidFill>
                          <a:latin typeface="Arial"/>
                          <a:ea typeface="Arial"/>
                          <a:cs typeface="Arial"/>
                        </a:rPr>
                        <a:t>Query-aware host path and infinity handling</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Makes the actual training consumer match the tested calculation</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9062285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7783D0-C5F2-409C-B587-60D1B91709B1}"/>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4A9319-6409-46F9-B520-EFB9BFAF5AD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Weighted threshold: synthetic validation</a:t>
            </a:r>
          </a:p>
        </p:txBody>
      </p:sp>
      <p:sp>
        <p:nvSpPr>
          <p:cNvPr id="3" name="">
            <a:extLst xmlns:a="http://schemas.openxmlformats.org/drawingml/2006/main">
              <a:ext uri="{FF2B5EF4-FFF2-40B4-BE49-F238E27FC236}">
                <a16:creationId xmlns:a16="http://schemas.microsoft.com/office/drawing/2014/main" id="{02EC2904-7369-43AA-A4D4-C8E509CD66A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Synthetic only: 2,000 independent trials, known ratios, frozen score. Nominal coverage 90%.</a:t>
            </a:r>
          </a:p>
        </p:txBody>
      </p:sp>
      <p:sp>
        <p:nvSpPr>
          <p:cNvPr id="4" name="">
            <a:extLst xmlns:a="http://schemas.openxmlformats.org/drawingml/2006/main">
              <a:ext uri="{FF2B5EF4-FFF2-40B4-BE49-F238E27FC236}">
                <a16:creationId xmlns:a16="http://schemas.microsoft.com/office/drawing/2014/main" id="{509477BB-4306-468A-8DAD-F858D9A42F62}"/>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16</a:t>
            </a:r>
          </a:p>
        </p:txBody>
      </p:sp>
      <p:graphicFrame>
        <p:nvGraphicFramePr>
          <p:cNvPr id="13" name="Chart"/>
          <p:cNvGraphicFramePr/>
          <p:nvPr/>
        </p:nvGraphicFramePr>
        <p:xfrm>
          <a:off xmlns:a="http://schemas.openxmlformats.org/drawingml/2006/main" x="504825" y="1543050"/>
          <a:ext xmlns:a="http://schemas.openxmlformats.org/drawingml/2006/main" cx="7353300" cy="4000500"/>
        </p:xfrm>
        <a:graphic xmlns:a="http://schemas.openxmlformats.org/drawingml/2006/main">
          <a:graphicData uri="http://schemas.openxmlformats.org/drawingml/2006/chart">
            <c:chart xmlns:r="http://schemas.openxmlformats.org/officeDocument/2006/relationships" xmlns:c="http://schemas.openxmlformats.org/drawingml/2006/chart" r:id="R12c29e77ac0c488b"/>
          </a:graphicData>
        </a:graphic>
      </p:graphicFrame>
      <p:sp>
        <p:nvSpPr>
          <p:cNvPr id="6" name="">
            <a:extLst xmlns:a="http://schemas.openxmlformats.org/drawingml/2006/main">
              <a:ext uri="{FF2B5EF4-FFF2-40B4-BE49-F238E27FC236}">
                <a16:creationId xmlns:a16="http://schemas.microsoft.com/office/drawing/2014/main" id="{3AE0E9BF-A270-4C8D-BDC6-95345D439C97}"/>
              </a:ext>
            </a:extLst>
          </p:cNvPr>
          <p:cNvSpPr>
            <a:spLocks xmlns:a="http://schemas.openxmlformats.org/drawingml/2006/main" noGrp="1"/>
          </p:cNvSpPr>
          <p:nvPr/>
        </p:nvSpPr>
        <p:spPr>
          <a:xfrm xmlns:a="http://schemas.openxmlformats.org/drawingml/2006/main">
            <a:off x="8096250" y="17811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20365C"/>
                </a:solidFill>
                <a:latin typeface="Arial"/>
                <a:ea typeface="Arial"/>
                <a:cs typeface="Arial"/>
              </a:defRPr>
            </a:pPr>
            <a:r>
              <a:rPr sz="2400" b="1">
                <a:solidFill>
                  <a:srgbClr val="20365C"/>
                </a:solidFill>
                <a:latin typeface="Arial"/>
                <a:ea typeface="Arial"/>
                <a:cs typeface="Arial"/>
              </a:rPr>
              <a:t>Corrected coverage: 90.70%</a:t>
            </a:r>
          </a:p>
        </p:txBody>
      </p:sp>
      <p:sp>
        <p:nvSpPr>
          <p:cNvPr id="7" name="">
            <a:extLst xmlns:a="http://schemas.openxmlformats.org/drawingml/2006/main">
              <a:ext uri="{FF2B5EF4-FFF2-40B4-BE49-F238E27FC236}">
                <a16:creationId xmlns:a16="http://schemas.microsoft.com/office/drawing/2014/main" id="{792D20E4-BCB3-4231-A480-0F52454C33B6}"/>
              </a:ext>
            </a:extLst>
          </p:cNvPr>
          <p:cNvSpPr>
            <a:spLocks xmlns:a="http://schemas.openxmlformats.org/drawingml/2006/main" noGrp="1"/>
          </p:cNvSpPr>
          <p:nvPr/>
        </p:nvSpPr>
        <p:spPr>
          <a:xfrm xmlns:a="http://schemas.openxmlformats.org/drawingml/2006/main">
            <a:off x="8105775" y="3028950"/>
            <a:ext cx="340995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Ordinary coverage under shift falls to 61.05%.</a:t>
            </a:r>
          </a:p>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The Bayesian maximum reaches 93.95% with wider bands.</a:t>
            </a:r>
          </a:p>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Real RL coverage and behavioral benefit remain untested.</a:t>
            </a:r>
          </a:p>
        </p:txBody>
      </p:sp>
      <p:sp>
        <p:nvSpPr>
          <p:cNvPr id="8" name="">
            <a:extLst xmlns:a="http://schemas.openxmlformats.org/drawingml/2006/main">
              <a:ext uri="{FF2B5EF4-FFF2-40B4-BE49-F238E27FC236}">
                <a16:creationId xmlns:a16="http://schemas.microsoft.com/office/drawing/2014/main" id="{5975088C-261F-469C-8719-FF9C599A1FB4}"/>
              </a:ext>
            </a:extLst>
          </p:cNvPr>
          <p:cNvSpPr>
            <a:spLocks xmlns:a="http://schemas.openxmlformats.org/drawingml/2006/main" noGrp="1"/>
          </p:cNvSpPr>
          <p:nvPr/>
        </p:nvSpPr>
        <p:spPr>
          <a:xfrm xmlns:a="http://schemas.openxmlformats.org/drawingml/2006/main">
            <a:off x="600075" y="58102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B46226"/>
                </a:solidFill>
                <a:latin typeface="Arial"/>
                <a:ea typeface="Arial"/>
                <a:cs typeface="Arial"/>
              </a:defRPr>
            </a:pPr>
            <a:r>
              <a:rPr sz="1875" b="1">
                <a:solidFill>
                  <a:srgbClr val="B46226"/>
                </a:solidFill>
                <a:latin typeface="Arial"/>
                <a:ea typeface="Arial"/>
                <a:cs typeface="Arial"/>
              </a:rPr>
              <a:t>The toy test validates the arithmetic under known assumptions, not the RL hypothesis.</a:t>
            </a:r>
          </a:p>
        </p:txBody>
      </p:sp>
    </p:spTree>
    <p:extLst>
      <p:ext uri="{BB962C8B-B14F-4D97-AF65-F5344CB8AC3E}">
        <p14:creationId xmlns:p14="http://schemas.microsoft.com/office/powerpoint/2010/main" val="6054770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EBE88E-3EB4-4A3D-B2AB-1624B4CFD15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A370B6-3BD2-44BA-9BF9-E3C713FF2F61}"/>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Next execution steps and acceptance criteria</a:t>
            </a:r>
          </a:p>
        </p:txBody>
      </p:sp>
      <p:sp>
        <p:nvSpPr>
          <p:cNvPr id="3" name="">
            <a:extLst xmlns:a="http://schemas.openxmlformats.org/drawingml/2006/main">
              <a:ext uri="{FF2B5EF4-FFF2-40B4-BE49-F238E27FC236}">
                <a16:creationId xmlns:a16="http://schemas.microsoft.com/office/drawing/2014/main" id="{0E23E2A7-1680-47D5-9DB4-FCC8919BF9E9}"/>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No coverage tuning, result-based seed replacement or silent scientific retry.</a:t>
            </a:r>
          </a:p>
        </p:txBody>
      </p:sp>
      <p:sp>
        <p:nvSpPr>
          <p:cNvPr id="4" name="">
            <a:extLst xmlns:a="http://schemas.openxmlformats.org/drawingml/2006/main">
              <a:ext uri="{FF2B5EF4-FFF2-40B4-BE49-F238E27FC236}">
                <a16:creationId xmlns:a16="http://schemas.microsoft.com/office/drawing/2014/main" id="{0803BFC0-E1CE-4A11-933A-797CCE33A521}"/>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17</a:t>
            </a:r>
          </a:p>
        </p:txBody>
      </p:sp>
      <p:graphicFrame>
        <p:nvGraphicFramePr>
          <p:cNvPr id="11" name=""/>
          <p:cNvGraphicFramePr/>
          <p:nvPr/>
        </p:nvGraphicFramePr>
        <p:xfrm>
          <a:off xmlns:a="http://schemas.openxmlformats.org/drawingml/2006/main" x="495300" y="1562100"/>
          <a:ext xmlns:a="http://schemas.openxmlformats.org/drawingml/2006/main" cx="11201400" cy="3790950"/>
        </p:xfrm>
        <a:graphic xmlns:a="http://schemas.openxmlformats.org/drawingml/2006/main">
          <a:graphicData uri="http://schemas.openxmlformats.org/drawingml/2006/table">
            <a:tbl>
              <a:tblPr/>
              <a:tblGrid>
                <a:gridCol w="2286000"/>
                <a:gridCol w="4429125"/>
                <a:gridCol w="4486275"/>
              </a:tblGrid>
              <a:tr h="758190">
                <a:tc>
                  <a:txBody>
                    <a:bodyPr>
                      <a:noAutofit/>
                    </a:bodyPr>
                    <a:lstStyle/>
                    <a:p>
                      <a:r>
                        <a:rPr sz="1800" b="1">
                          <a:solidFill>
                            <a:srgbClr val="FFFFFF"/>
                          </a:solidFill>
                          <a:latin typeface="Arial"/>
                          <a:ea typeface="Arial"/>
                          <a:cs typeface="Arial"/>
                        </a:rPr>
                        <a:t>Priority</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Work remaining</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Evidence needed to close it</a:t>
                      </a:r>
                    </a:p>
                  </a:txBody>
                  <a:tcPr marL="114300" marR="95250" marT="76200" marB="66675" anchor="ctr">
                    <a:solidFill>
                      <a:srgbClr val="20365C"/>
                    </a:solidFill>
                  </a:tcPr>
                </a:tc>
              </a:tr>
              <a:tr h="758190">
                <a:tc>
                  <a:txBody>
                    <a:bodyPr>
                      <a:noAutofit/>
                    </a:bodyPr>
                    <a:lstStyle/>
                    <a:p>
                      <a:r>
                        <a:rPr sz="1800" b="0">
                          <a:solidFill>
                            <a:srgbClr val="192737"/>
                          </a:solidFill>
                          <a:latin typeface="Arial"/>
                          <a:ea typeface="Arial"/>
                          <a:cs typeface="Arial"/>
                        </a:rPr>
                        <a:t>1. Unblock OOD collection</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Complete runtime integration and real adapter gates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Actual imports, exact state restore, action/reward parity and exits</a:t>
                      </a:r>
                    </a:p>
                  </a:txBody>
                  <a:tcPr marL="114300" marR="95250" marT="76200" marB="66675" anchor="ctr">
                    <a:solidFill>
                      <a:srgbClr val="FFFFFF"/>
                    </a:solidFill>
                  </a:tcPr>
                </a:tc>
              </a:tr>
              <a:tr h="758190">
                <a:tc>
                  <a:txBody>
                    <a:bodyPr>
                      <a:noAutofit/>
                    </a:bodyPr>
                    <a:lstStyle/>
                    <a:p>
                      <a:r>
                        <a:rPr sz="1800" b="0">
                          <a:solidFill>
                            <a:srgbClr val="192737"/>
                          </a:solidFill>
                          <a:latin typeface="Arial"/>
                          <a:ea typeface="Arial"/>
                          <a:cs typeface="Arial"/>
                        </a:rPr>
                        <a:t>2. Recover the local lane</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Document CQL saved-result schema correction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Accept saved evidence without replaying completed training</a:t>
                      </a:r>
                    </a:p>
                  </a:txBody>
                  <a:tcPr marL="114300" marR="95250" marT="76200" marB="66675" anchor="ctr">
                    <a:solidFill>
                      <a:srgbClr val="F1F4F8"/>
                    </a:solidFill>
                  </a:tcPr>
                </a:tc>
              </a:tr>
              <a:tr h="758190">
                <a:tc>
                  <a:txBody>
                    <a:bodyPr>
                      <a:noAutofit/>
                    </a:bodyPr>
                    <a:lstStyle/>
                    <a:p>
                      <a:r>
                        <a:rPr sz="1800" b="0">
                          <a:solidFill>
                            <a:srgbClr val="192737"/>
                          </a:solidFill>
                          <a:latin typeface="Arial"/>
                          <a:ea typeface="Arial"/>
                          <a:cs typeface="Arial"/>
                        </a:rPr>
                        <a:t>3. Replicate standard BCA</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Collect declared v2 pairs and audit remaining cluster results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All required seeds, fixed actions, outcomes and uncertainty</a:t>
                      </a:r>
                    </a:p>
                  </a:txBody>
                  <a:tcPr marL="114300" marR="95250" marT="76200" marB="66675" anchor="ctr">
                    <a:solidFill>
                      <a:srgbClr val="FFFFFF"/>
                    </a:solidFill>
                  </a:tcPr>
                </a:tc>
              </a:tr>
              <a:tr h="758190">
                <a:tc>
                  <a:txBody>
                    <a:bodyPr>
                      <a:noAutofit/>
                    </a:bodyPr>
                    <a:lstStyle/>
                    <a:p>
                      <a:r>
                        <a:rPr sz="1800" b="0">
                          <a:solidFill>
                            <a:srgbClr val="192737"/>
                          </a:solidFill>
                          <a:latin typeface="Arial"/>
                          <a:ea typeface="Arial"/>
                          <a:cs typeface="Arial"/>
                        </a:rPr>
                        <a:t>4. Validate intended IW</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Define ratios/sampling and integrate query-aware radius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Real coverage checks, then separately frozen training comparison</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922229A8-9323-47BD-A788-A5D983901B65}"/>
              </a:ext>
            </a:extLst>
          </p:cNvPr>
          <p:cNvSpPr>
            <a:spLocks xmlns:a="http://schemas.openxmlformats.org/drawingml/2006/main" noGrp="1"/>
          </p:cNvSpPr>
          <p:nvPr/>
        </p:nvSpPr>
        <p:spPr>
          <a:xfrm xmlns:a="http://schemas.openxmlformats.org/drawingml/2006/main">
            <a:off x="619125" y="56959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The next useful milestone is an accepted real v2 OOD run, not another preparation-only result.</a:t>
            </a:r>
          </a:p>
        </p:txBody>
      </p:sp>
    </p:spTree>
    <p:extLst>
      <p:ext uri="{BB962C8B-B14F-4D97-AF65-F5344CB8AC3E}">
        <p14:creationId xmlns:p14="http://schemas.microsoft.com/office/powerpoint/2010/main" val="19168366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5F3380-4D44-4AB2-B312-0917C89ECCF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8F0C4B-4C57-45B4-8366-CC0C4A5D2143}"/>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Advisor discussion: current conclusions</a:t>
            </a:r>
          </a:p>
        </p:txBody>
      </p:sp>
      <p:sp>
        <p:nvSpPr>
          <p:cNvPr id="3" name="">
            <a:extLst xmlns:a="http://schemas.openxmlformats.org/drawingml/2006/main">
              <a:ext uri="{FF2B5EF4-FFF2-40B4-BE49-F238E27FC236}">
                <a16:creationId xmlns:a16="http://schemas.microsoft.com/office/drawing/2014/main" id="{1BB0CAC9-9CB2-45A7-B4F8-44EBAA4094C2}"/>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6A65164-9414-46B4-96D0-380EB75D36DC}"/>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F596F40A-E7E1-4669-9CC1-098E07DF44F4}"/>
              </a:ext>
            </a:extLst>
          </p:cNvPr>
          <p:cNvSpPr>
            <a:spLocks xmlns:a="http://schemas.openxmlformats.org/drawingml/2006/main" noGrp="1"/>
          </p:cNvSpPr>
          <p:nvPr/>
        </p:nvSpPr>
        <p:spPr>
          <a:xfrm xmlns:a="http://schemas.openxmlformats.org/drawingml/2006/main">
            <a:off x="657225" y="1524000"/>
            <a:ext cx="10887075" cy="453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100" b="0">
                <a:solidFill>
                  <a:srgbClr val="192737"/>
                </a:solidFill>
                <a:latin typeface="Arial"/>
                <a:ea typeface="Arial"/>
                <a:cs typeface="Arial"/>
              </a:defRPr>
            </a:pPr>
            <a:r>
              <a:rPr sz="2100" b="0">
                <a:solidFill>
                  <a:srgbClr val="192737"/>
                </a:solidFill>
                <a:latin typeface="Arial"/>
                <a:ea typeface="Arial"/>
                <a:cs typeface="Arial"/>
              </a:rPr>
              <a:t>Why this study? It tests whether BCA helps with poorly represented actions, beyond average return.</a:t>
            </a:r>
          </a:p>
          <a:p xmlns:a="http://schemas.openxmlformats.org/drawingml/2006/main">
            <a:pPr marL="228600" indent="-114300">
              <a:spcAft>
                <a:spcPts val="1500"/>
              </a:spcAft>
              <a:buChar char="•"/>
              <a:defRPr sz="2100" b="0">
                <a:solidFill>
                  <a:srgbClr val="192737"/>
                </a:solidFill>
                <a:latin typeface="Arial"/>
                <a:ea typeface="Arial"/>
                <a:cs typeface="Arial"/>
              </a:defRPr>
            </a:pPr>
            <a:r>
              <a:rPr sz="2100" b="0">
                <a:solidFill>
                  <a:srgbClr val="192737"/>
                </a:solidFill>
                <a:latin typeface="Arial"/>
                <a:ea typeface="Arial"/>
                <a:cs typeface="Arial"/>
              </a:rPr>
              <a:t>What have we learned? The first Hopper seed has weak harm ranking and no demonstrated robustness gain.</a:t>
            </a:r>
          </a:p>
          <a:p xmlns:a="http://schemas.openxmlformats.org/drawingml/2006/main">
            <a:pPr marL="228600" indent="-114300">
              <a:spcAft>
                <a:spcPts val="1500"/>
              </a:spcAft>
              <a:buChar char="•"/>
              <a:defRPr sz="2100" b="0">
                <a:solidFill>
                  <a:srgbClr val="192737"/>
                </a:solidFill>
                <a:latin typeface="Arial"/>
                <a:ea typeface="Arial"/>
                <a:cs typeface="Arial"/>
              </a:defRPr>
            </a:pPr>
            <a:r>
              <a:rPr sz="2100" b="0">
                <a:solidFill>
                  <a:srgbClr val="192737"/>
                </a:solidFill>
                <a:latin typeface="Arial"/>
                <a:ea typeface="Arial"/>
                <a:cs typeface="Arial"/>
              </a:rPr>
              <a:t>Why change the experiment? Balanced support bands and a common anchor isolate the limitation more clearly.</a:t>
            </a:r>
          </a:p>
          <a:p xmlns:a="http://schemas.openxmlformats.org/drawingml/2006/main">
            <a:pPr marL="228600" indent="-114300">
              <a:spcAft>
                <a:spcPts val="1500"/>
              </a:spcAft>
              <a:buChar char="•"/>
              <a:defRPr sz="2100" b="0">
                <a:solidFill>
                  <a:srgbClr val="192737"/>
                </a:solidFill>
                <a:latin typeface="Arial"/>
                <a:ea typeface="Arial"/>
                <a:cs typeface="Arial"/>
              </a:defRPr>
            </a:pPr>
            <a:r>
              <a:rPr sz="2100" b="0">
                <a:solidFill>
                  <a:srgbClr val="192737"/>
                </a:solidFill>
                <a:latin typeface="Arial"/>
                <a:ea typeface="Arial"/>
                <a:cs typeface="Arial"/>
              </a:rPr>
              <a:t>Why investigate IW? A justified weighted threshold could address population mismatch; a weak baseline alone does not prove it will help.</a:t>
            </a:r>
          </a:p>
          <a:p xmlns:a="http://schemas.openxmlformats.org/drawingml/2006/main">
            <a:pPr marL="228600" indent="-114300">
              <a:spcAft>
                <a:spcPts val="1500"/>
              </a:spcAft>
              <a:buChar char="•"/>
              <a:defRPr sz="2100" b="0">
                <a:solidFill>
                  <a:srgbClr val="192737"/>
                </a:solidFill>
                <a:latin typeface="Arial"/>
                <a:ea typeface="Arial"/>
                <a:cs typeface="Arial"/>
              </a:defRPr>
            </a:pPr>
            <a:r>
              <a:rPr sz="2100" b="0">
                <a:solidFill>
                  <a:srgbClr val="192737"/>
                </a:solidFill>
                <a:latin typeface="Arial"/>
                <a:ea typeface="Arial"/>
                <a:cs typeface="Arial"/>
              </a:rPr>
              <a:t>What remains? Real OOD execution, all declared seeds, and real-data validation of the corrected IW design.</a:t>
            </a:r>
          </a:p>
        </p:txBody>
      </p:sp>
    </p:spTree>
    <p:extLst>
      <p:ext uri="{BB962C8B-B14F-4D97-AF65-F5344CB8AC3E}">
        <p14:creationId xmlns:p14="http://schemas.microsoft.com/office/powerpoint/2010/main" val="117700304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289D87-A390-408E-8A9B-225E59F0B792}"/>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CFDF5D-C4A2-4961-9BFF-A859FC5FC090}"/>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Appendix: training, calibration and evaluation</a:t>
            </a:r>
          </a:p>
        </p:txBody>
      </p:sp>
      <p:sp>
        <p:nvSpPr>
          <p:cNvPr id="3" name="">
            <a:extLst xmlns:a="http://schemas.openxmlformats.org/drawingml/2006/main">
              <a:ext uri="{FF2B5EF4-FFF2-40B4-BE49-F238E27FC236}">
                <a16:creationId xmlns:a16="http://schemas.microsoft.com/office/drawing/2014/main" id="{9B04B31A-8924-4783-A757-FF878DF98C7E}"/>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Concrete row counts shown for TD3+BC Hopper only. Other datasets have their own verified splits.</a:t>
            </a:r>
          </a:p>
        </p:txBody>
      </p:sp>
      <p:sp>
        <p:nvSpPr>
          <p:cNvPr id="4" name="">
            <a:extLst xmlns:a="http://schemas.openxmlformats.org/drawingml/2006/main">
              <a:ext uri="{FF2B5EF4-FFF2-40B4-BE49-F238E27FC236}">
                <a16:creationId xmlns:a16="http://schemas.microsoft.com/office/drawing/2014/main" id="{A126B9AF-FC62-406C-88AA-2D6CB3946D8D}"/>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19</a:t>
            </a:r>
          </a:p>
        </p:txBody>
      </p:sp>
      <p:graphicFrame>
        <p:nvGraphicFramePr>
          <p:cNvPr id="11" name=""/>
          <p:cNvGraphicFramePr/>
          <p:nvPr/>
        </p:nvGraphicFramePr>
        <p:xfrm>
          <a:off xmlns:a="http://schemas.openxmlformats.org/drawingml/2006/main" x="495300" y="1562100"/>
          <a:ext xmlns:a="http://schemas.openxmlformats.org/drawingml/2006/main" cx="11201400" cy="3943350"/>
        </p:xfrm>
        <a:graphic xmlns:a="http://schemas.openxmlformats.org/drawingml/2006/main">
          <a:graphicData uri="http://schemas.openxmlformats.org/drawingml/2006/table">
            <a:tbl>
              <a:tblPr/>
              <a:tblGrid>
                <a:gridCol w="2809875"/>
                <a:gridCol w="5629275"/>
                <a:gridCol w="2762250"/>
              </a:tblGrid>
              <a:tr h="657225">
                <a:tc>
                  <a:txBody>
                    <a:bodyPr>
                      <a:noAutofit/>
                    </a:bodyPr>
                    <a:lstStyle/>
                    <a:p>
                      <a:r>
                        <a:rPr sz="1800" b="1">
                          <a:solidFill>
                            <a:srgbClr val="FFFFFF"/>
                          </a:solidFill>
                          <a:latin typeface="Arial"/>
                          <a:ea typeface="Arial"/>
                          <a:cs typeface="Arial"/>
                        </a:rPr>
                        <a:t>Phase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Data / operation</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Environment interaction?</a:t>
                      </a:r>
                    </a:p>
                  </a:txBody>
                  <a:tcPr marL="114300" marR="95250" marT="76200" marB="66675" anchor="ctr">
                    <a:solidFill>
                      <a:srgbClr val="20365C"/>
                    </a:solidFill>
                  </a:tcPr>
                </a:tc>
              </a:tr>
              <a:tr h="657225">
                <a:tc>
                  <a:txBody>
                    <a:bodyPr>
                      <a:noAutofit/>
                    </a:bodyPr>
                    <a:lstStyle/>
                    <a:p>
                      <a:r>
                        <a:rPr sz="1800" b="0">
                          <a:solidFill>
                            <a:srgbClr val="192737"/>
                          </a:solidFill>
                          <a:latin typeface="Arial"/>
                          <a:ea typeface="Arial"/>
                          <a:cs typeface="Arial"/>
                        </a:rPr>
                        <a:t>Host training</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998,895 offline training rows; update actor/critic</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 new interaction</a:t>
                      </a:r>
                    </a:p>
                  </a:txBody>
                  <a:tcPr marL="114300" marR="95250" marT="76200" marB="66675" anchor="ctr">
                    <a:solidFill>
                      <a:srgbClr val="FFFFFF"/>
                    </a:solidFill>
                  </a:tcPr>
                </a:tc>
              </a:tr>
              <a:tr h="657225">
                <a:tc>
                  <a:txBody>
                    <a:bodyPr>
                      <a:noAutofit/>
                    </a:bodyPr>
                    <a:lstStyle/>
                    <a:p>
                      <a:r>
                        <a:rPr sz="1800" b="0">
                          <a:solidFill>
                            <a:srgbClr val="192737"/>
                          </a:solidFill>
                          <a:latin typeface="Arial"/>
                          <a:ea typeface="Arial"/>
                          <a:cs typeface="Arial"/>
                        </a:rPr>
                        <a:t>Scale fitting</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Detached prediction errors from offline fitting data</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No new interaction</a:t>
                      </a:r>
                    </a:p>
                  </a:txBody>
                  <a:tcPr marL="114300" marR="95250" marT="76200" marB="66675" anchor="ctr">
                    <a:solidFill>
                      <a:srgbClr val="F1F4F8"/>
                    </a:solidFill>
                  </a:tcPr>
                </a:tc>
              </a:tr>
              <a:tr h="657225">
                <a:tc>
                  <a:txBody>
                    <a:bodyPr>
                      <a:noAutofit/>
                    </a:bodyPr>
                    <a:lstStyle/>
                    <a:p>
                      <a:r>
                        <a:rPr sz="1800" b="0">
                          <a:solidFill>
                            <a:srgbClr val="192737"/>
                          </a:solidFill>
                          <a:latin typeface="Arial"/>
                          <a:ea typeface="Arial"/>
                          <a:cs typeface="Arial"/>
                        </a:rPr>
                        <a:t>Radius refresh</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1,103 reserved rows; 1,024-row training reference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 new interaction</a:t>
                      </a:r>
                    </a:p>
                  </a:txBody>
                  <a:tcPr marL="114300" marR="95250" marT="76200" marB="66675" anchor="ctr">
                    <a:solidFill>
                      <a:srgbClr val="FFFFFF"/>
                    </a:solidFill>
                  </a:tcPr>
                </a:tc>
              </a:tr>
              <a:tr h="657225">
                <a:tc>
                  <a:txBody>
                    <a:bodyPr>
                      <a:noAutofit/>
                    </a:bodyPr>
                    <a:lstStyle/>
                    <a:p>
                      <a:r>
                        <a:rPr sz="1800" b="0">
                          <a:solidFill>
                            <a:srgbClr val="192737"/>
                          </a:solidFill>
                          <a:latin typeface="Arial"/>
                          <a:ea typeface="Arial"/>
                          <a:cs typeface="Arial"/>
                        </a:rPr>
                        <a:t>Ordinary policy evaluation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Run frozen policy for complete episodes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Yes, evaluation only</a:t>
                      </a:r>
                    </a:p>
                  </a:txBody>
                  <a:tcPr marL="114300" marR="95250" marT="76200" marB="66675" anchor="ctr">
                    <a:solidFill>
                      <a:srgbClr val="F1F4F8"/>
                    </a:solidFill>
                  </a:tcPr>
                </a:tc>
              </a:tr>
              <a:tr h="657225">
                <a:tc>
                  <a:txBody>
                    <a:bodyPr>
                      <a:noAutofit/>
                    </a:bodyPr>
                    <a:lstStyle/>
                    <a:p>
                      <a:r>
                        <a:rPr sz="1800" b="0">
                          <a:solidFill>
                            <a:srgbClr val="192737"/>
                          </a:solidFill>
                          <a:latin typeface="Arial"/>
                          <a:ea typeface="Arial"/>
                          <a:cs typeface="Arial"/>
                        </a:rPr>
                        <a:t>OOD action evaluation</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Restore state, impose action, continue frozen policy</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Yes, evaluation only</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450806F-95AD-411C-B119-7FD5F6ABCDB2}"/>
              </a:ext>
            </a:extLst>
          </p:cNvPr>
          <p:cNvSpPr>
            <a:spLocks xmlns:a="http://schemas.openxmlformats.org/drawingml/2006/main" noGrp="1"/>
          </p:cNvSpPr>
          <p:nvPr/>
        </p:nvSpPr>
        <p:spPr>
          <a:xfrm xmlns:a="http://schemas.openxmlformats.org/drawingml/2006/main">
            <a:off x="619125" y="5695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90% target coverage concerns the specified response. It does not mean 90% reliance on the old policy.</a:t>
            </a:r>
          </a:p>
        </p:txBody>
      </p:sp>
    </p:spTree>
    <p:extLst>
      <p:ext uri="{BB962C8B-B14F-4D97-AF65-F5344CB8AC3E}">
        <p14:creationId xmlns:p14="http://schemas.microsoft.com/office/powerpoint/2010/main" val="4390938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803CAA-FAA1-470C-BEA7-983C6E4130DF}"/>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58B597-87FE-4130-BCBC-F57A4D70CF1F}"/>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Appendix: weighted-threshold arithmetic</a:t>
            </a:r>
          </a:p>
        </p:txBody>
      </p:sp>
      <p:sp>
        <p:nvSpPr>
          <p:cNvPr id="3" name="">
            <a:extLst xmlns:a="http://schemas.openxmlformats.org/drawingml/2006/main">
              <a:ext uri="{FF2B5EF4-FFF2-40B4-BE49-F238E27FC236}">
                <a16:creationId xmlns:a16="http://schemas.microsoft.com/office/drawing/2014/main" id="{6B56BFC7-BEB2-4EEF-9BA3-5B0CBE5D8B6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Illustration uses 60% coverage for arithmetic only. The actual study remains at 90%.</a:t>
            </a:r>
          </a:p>
        </p:txBody>
      </p:sp>
      <p:sp>
        <p:nvSpPr>
          <p:cNvPr id="4" name="">
            <a:extLst xmlns:a="http://schemas.openxmlformats.org/drawingml/2006/main">
              <a:ext uri="{FF2B5EF4-FFF2-40B4-BE49-F238E27FC236}">
                <a16:creationId xmlns:a16="http://schemas.microsoft.com/office/drawing/2014/main" id="{03D870CD-A49A-4E5E-8409-F63B300DFC29}"/>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20</a:t>
            </a:r>
          </a:p>
        </p:txBody>
      </p:sp>
      <p:graphicFrame>
        <p:nvGraphicFramePr>
          <p:cNvPr id="11" name=""/>
          <p:cNvGraphicFramePr/>
          <p:nvPr/>
        </p:nvGraphicFramePr>
        <p:xfrm>
          <a:off xmlns:a="http://schemas.openxmlformats.org/drawingml/2006/main" x="495300" y="1562100"/>
          <a:ext xmlns:a="http://schemas.openxmlformats.org/drawingml/2006/main" cx="11201400" cy="3686175"/>
        </p:xfrm>
        <a:graphic xmlns:a="http://schemas.openxmlformats.org/drawingml/2006/main">
          <a:graphicData uri="http://schemas.openxmlformats.org/drawingml/2006/table">
            <a:tbl>
              <a:tblPr/>
              <a:tblGrid>
                <a:gridCol w="4495800"/>
                <a:gridCol w="3352800"/>
                <a:gridCol w="3352800"/>
              </a:tblGrid>
              <a:tr h="614363">
                <a:tc>
                  <a:txBody>
                    <a:bodyPr>
                      <a:noAutofit/>
                    </a:bodyPr>
                    <a:lstStyle/>
                    <a:p>
                      <a:r>
                        <a:rPr sz="1875" b="1">
                          <a:solidFill>
                            <a:srgbClr val="FFFFFF"/>
                          </a:solidFill>
                          <a:latin typeface="Arial"/>
                          <a:ea typeface="Arial"/>
                          <a:cs typeface="Arial"/>
                        </a:rPr>
                        <a:t>Calculation</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Equal mass</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Weighted mass</a:t>
                      </a:r>
                    </a:p>
                  </a:txBody>
                  <a:tcPr marL="114300" marR="95250" marT="76200" marB="66675" anchor="ctr">
                    <a:solidFill>
                      <a:srgbClr val="20365C"/>
                    </a:solidFill>
                  </a:tcPr>
                </a:tc>
              </a:tr>
              <a:tr h="614363">
                <a:tc>
                  <a:txBody>
                    <a:bodyPr>
                      <a:noAutofit/>
                    </a:bodyPr>
                    <a:lstStyle/>
                    <a:p>
                      <a:r>
                        <a:rPr sz="1875" b="0">
                          <a:solidFill>
                            <a:srgbClr val="192737"/>
                          </a:solidFill>
                          <a:latin typeface="Arial"/>
                          <a:ea typeface="Arial"/>
                          <a:cs typeface="Arial"/>
                        </a:rPr>
                        <a:t>Sorted normalized errors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 2, 3, 4]</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 2, 3, 4]</a:t>
                      </a:r>
                    </a:p>
                  </a:txBody>
                  <a:tcPr marL="114300" marR="95250" marT="76200" marB="66675" anchor="ctr">
                    <a:solidFill>
                      <a:srgbClr val="FFFFFF"/>
                    </a:solidFill>
                  </a:tcPr>
                </a:tc>
              </a:tr>
              <a:tr h="614363">
                <a:tc>
                  <a:txBody>
                    <a:bodyPr>
                      <a:noAutofit/>
                    </a:bodyPr>
                    <a:lstStyle/>
                    <a:p>
                      <a:r>
                        <a:rPr sz="1875" b="0">
                          <a:solidFill>
                            <a:srgbClr val="192737"/>
                          </a:solidFill>
                          <a:latin typeface="Arial"/>
                          <a:ea typeface="Arial"/>
                          <a:cs typeface="Arial"/>
                        </a:rPr>
                        <a:t>Calibration weights; query weight</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1, 1, 1]; 1</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1, 1, 7]; 1</a:t>
                      </a:r>
                    </a:p>
                  </a:txBody>
                  <a:tcPr marL="114300" marR="95250" marT="76200" marB="66675" anchor="ctr">
                    <a:solidFill>
                      <a:srgbClr val="F1F4F8"/>
                    </a:solidFill>
                  </a:tcPr>
                </a:tc>
              </a:tr>
              <a:tr h="614363">
                <a:tc>
                  <a:txBody>
                    <a:bodyPr>
                      <a:noAutofit/>
                    </a:bodyPr>
                    <a:lstStyle/>
                    <a:p>
                      <a:r>
                        <a:rPr sz="1875" b="0">
                          <a:solidFill>
                            <a:srgbClr val="192737"/>
                          </a:solidFill>
                          <a:latin typeface="Arial"/>
                          <a:ea typeface="Arial"/>
                          <a:cs typeface="Arial"/>
                        </a:rPr>
                        <a:t>Cutoff: coverage × total mass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0.6 × (4 + 1) = 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0.6 × (10 + 1) = 6.6</a:t>
                      </a:r>
                    </a:p>
                  </a:txBody>
                  <a:tcPr marL="114300" marR="95250" marT="76200" marB="66675" anchor="ctr">
                    <a:solidFill>
                      <a:srgbClr val="FFFFFF"/>
                    </a:solidFill>
                  </a:tcPr>
                </a:tc>
              </a:tr>
              <a:tr h="614363">
                <a:tc>
                  <a:txBody>
                    <a:bodyPr>
                      <a:noAutofit/>
                    </a:bodyPr>
                    <a:lstStyle/>
                    <a:p>
                      <a:r>
                        <a:rPr sz="1875" b="0">
                          <a:solidFill>
                            <a:srgbClr val="192737"/>
                          </a:solidFill>
                          <a:latin typeface="Arial"/>
                          <a:ea typeface="Arial"/>
                          <a:cs typeface="Arial"/>
                        </a:rPr>
                        <a:t>Cumulative observed mass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2, 3, 4]</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2, 3, 10]</a:t>
                      </a:r>
                    </a:p>
                  </a:txBody>
                  <a:tcPr marL="114300" marR="95250" marT="76200" marB="66675" anchor="ctr">
                    <a:solidFill>
                      <a:srgbClr val="F1F4F8"/>
                    </a:solidFill>
                  </a:tcPr>
                </a:tc>
              </a:tr>
              <a:tr h="614363">
                <a:tc>
                  <a:txBody>
                    <a:bodyPr>
                      <a:noAutofit/>
                    </a:bodyPr>
                    <a:lstStyle/>
                    <a:p>
                      <a:r>
                        <a:rPr sz="1875" b="0">
                          <a:solidFill>
                            <a:srgbClr val="192737"/>
                          </a:solidFill>
                          <a:latin typeface="Arial"/>
                          <a:ea typeface="Arial"/>
                          <a:cs typeface="Arial"/>
                        </a:rPr>
                        <a:t>First score reaching cutoff</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Radius = 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Radius = 4</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5D6819C-CD00-4658-8028-BD44A7DF7B83}"/>
              </a:ext>
            </a:extLst>
          </p:cNvPr>
          <p:cNvSpPr>
            <a:spLocks xmlns:a="http://schemas.openxmlformats.org/drawingml/2006/main" noGrp="1"/>
          </p:cNvSpPr>
          <p:nvPr/>
        </p:nvSpPr>
        <p:spPr>
          <a:xfrm xmlns:a="http://schemas.openxmlformats.org/drawingml/2006/main">
            <a:off x="628650" y="54578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If query weight = 100: cutoff = 0.6 × 110 = 66, above observed mass 10. Radius = infinity.</a:t>
            </a:r>
          </a:p>
        </p:txBody>
      </p:sp>
    </p:spTree>
    <p:extLst>
      <p:ext uri="{BB962C8B-B14F-4D97-AF65-F5344CB8AC3E}">
        <p14:creationId xmlns:p14="http://schemas.microsoft.com/office/powerpoint/2010/main" val="1803730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2026-09-29T03:55:39.9450000Z</dcterms:created>
  <dcterms:modified xsi:type="dcterms:W3CDTF">2026-09-29T03:55:39.9450000Z</dcterms:modified>
</coreProperties>
</file>